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B9678D-0C51-4415-BD92-FB9043567DB6}" v="13" dt="2026-09-01T08:24:46.4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ha Reddy" userId="f0e2634a2ba4f605" providerId="LiveId" clId="{FB367E6B-CB56-4F67-9C25-09E464F4CB60}"/>
    <pc:docChg chg="undo custSel addSld modSld sldOrd">
      <pc:chgData name="Nikitha Reddy" userId="f0e2634a2ba4f605" providerId="LiveId" clId="{FB367E6B-CB56-4F67-9C25-09E464F4CB60}" dt="2026-09-01T08:42:58.315" v="108" actId="14734"/>
      <pc:docMkLst>
        <pc:docMk/>
      </pc:docMkLst>
      <pc:sldChg chg="modSp mod">
        <pc:chgData name="Nikitha Reddy" userId="f0e2634a2ba4f605" providerId="LiveId" clId="{FB367E6B-CB56-4F67-9C25-09E464F4CB60}" dt="2026-08-17T06:46:41.561" v="12" actId="20577"/>
        <pc:sldMkLst>
          <pc:docMk/>
          <pc:sldMk cId="345653417" sldId="256"/>
        </pc:sldMkLst>
        <pc:spChg chg="mod">
          <ac:chgData name="Nikitha Reddy" userId="f0e2634a2ba4f605" providerId="LiveId" clId="{FB367E6B-CB56-4F67-9C25-09E464F4CB60}" dt="2026-08-17T06:46:41.561" v="12" actId="20577"/>
          <ac:spMkLst>
            <pc:docMk/>
            <pc:sldMk cId="345653417" sldId="256"/>
            <ac:spMk id="3" creationId="{1D008E3C-DE53-E8AA-7050-759A8009B65E}"/>
          </ac:spMkLst>
        </pc:spChg>
      </pc:sldChg>
      <pc:sldChg chg="addSp modSp new mod ord">
        <pc:chgData name="Nikitha Reddy" userId="f0e2634a2ba4f605" providerId="LiveId" clId="{FB367E6B-CB56-4F67-9C25-09E464F4CB60}" dt="2026-08-23T13:38:21.653" v="37" actId="14100"/>
        <pc:sldMkLst>
          <pc:docMk/>
          <pc:sldMk cId="3921095409" sldId="259"/>
        </pc:sldMkLst>
        <pc:spChg chg="mod">
          <ac:chgData name="Nikitha Reddy" userId="f0e2634a2ba4f605" providerId="LiveId" clId="{FB367E6B-CB56-4F67-9C25-09E464F4CB60}" dt="2026-08-23T13:38:21.653" v="37" actId="14100"/>
          <ac:spMkLst>
            <pc:docMk/>
            <pc:sldMk cId="3921095409" sldId="259"/>
            <ac:spMk id="2" creationId="{11E98444-B7E9-180C-CD17-E28CCA2A735C}"/>
          </ac:spMkLst>
        </pc:spChg>
        <pc:spChg chg="mod">
          <ac:chgData name="Nikitha Reddy" userId="f0e2634a2ba4f605" providerId="LiveId" clId="{FB367E6B-CB56-4F67-9C25-09E464F4CB60}" dt="2026-08-23T13:38:08.213" v="36" actId="14100"/>
          <ac:spMkLst>
            <pc:docMk/>
            <pc:sldMk cId="3921095409" sldId="259"/>
            <ac:spMk id="3" creationId="{C62C1E8E-09F7-DC34-849A-49F552F2AB2D}"/>
          </ac:spMkLst>
        </pc:spChg>
        <pc:picChg chg="add mod">
          <ac:chgData name="Nikitha Reddy" userId="f0e2634a2ba4f605" providerId="LiveId" clId="{FB367E6B-CB56-4F67-9C25-09E464F4CB60}" dt="2026-08-23T13:35:06.285" v="15" actId="1076"/>
          <ac:picMkLst>
            <pc:docMk/>
            <pc:sldMk cId="3921095409" sldId="259"/>
            <ac:picMk id="5" creationId="{01F2230B-D8FC-CCF8-74B0-3444BCA6CF85}"/>
          </ac:picMkLst>
        </pc:picChg>
      </pc:sldChg>
      <pc:sldChg chg="addSp delSp modSp new mod">
        <pc:chgData name="Nikitha Reddy" userId="f0e2634a2ba4f605" providerId="LiveId" clId="{FB367E6B-CB56-4F67-9C25-09E464F4CB60}" dt="2026-09-01T08:42:58.315" v="108" actId="14734"/>
        <pc:sldMkLst>
          <pc:docMk/>
          <pc:sldMk cId="773819670" sldId="260"/>
        </pc:sldMkLst>
        <pc:spChg chg="mod">
          <ac:chgData name="Nikitha Reddy" userId="f0e2634a2ba4f605" providerId="LiveId" clId="{FB367E6B-CB56-4F67-9C25-09E464F4CB60}" dt="2026-08-23T13:43:22.996" v="43" actId="1076"/>
          <ac:spMkLst>
            <pc:docMk/>
            <pc:sldMk cId="773819670" sldId="260"/>
            <ac:spMk id="2" creationId="{AAEDAE2C-DF02-AFCE-021F-29EA5382C50D}"/>
          </ac:spMkLst>
        </pc:spChg>
        <pc:spChg chg="add del mod">
          <ac:chgData name="Nikitha Reddy" userId="f0e2634a2ba4f605" providerId="LiveId" clId="{FB367E6B-CB56-4F67-9C25-09E464F4CB60}" dt="2026-09-01T08:23:34.375" v="77"/>
          <ac:spMkLst>
            <pc:docMk/>
            <pc:sldMk cId="773819670" sldId="260"/>
            <ac:spMk id="4" creationId="{E1265CF4-2A2B-A687-993A-AA45AEEA3B7B}"/>
          </ac:spMkLst>
        </pc:spChg>
        <pc:spChg chg="add del mod">
          <ac:chgData name="Nikitha Reddy" userId="f0e2634a2ba4f605" providerId="LiveId" clId="{FB367E6B-CB56-4F67-9C25-09E464F4CB60}" dt="2026-09-01T08:24:46.437" v="91"/>
          <ac:spMkLst>
            <pc:docMk/>
            <pc:sldMk cId="773819670" sldId="260"/>
            <ac:spMk id="9" creationId="{7E66A866-BF14-FE9E-7340-E1D90C2A8D4E}"/>
          </ac:spMkLst>
        </pc:spChg>
        <pc:graphicFrameChg chg="add del mod ord modGraphic">
          <ac:chgData name="Nikitha Reddy" userId="f0e2634a2ba4f605" providerId="LiveId" clId="{FB367E6B-CB56-4F67-9C25-09E464F4CB60}" dt="2026-09-01T08:23:32.995" v="76" actId="478"/>
          <ac:graphicFrameMkLst>
            <pc:docMk/>
            <pc:sldMk cId="773819670" sldId="260"/>
            <ac:graphicFrameMk id="6" creationId="{CF44C8E6-A453-BA98-CDF2-FCA08B47FA3C}"/>
          </ac:graphicFrameMkLst>
        </pc:graphicFrameChg>
        <pc:graphicFrameChg chg="add del mod modGraphic">
          <ac:chgData name="Nikitha Reddy" userId="f0e2634a2ba4f605" providerId="LiveId" clId="{FB367E6B-CB56-4F67-9C25-09E464F4CB60}" dt="2026-09-01T08:24:42.047" v="90" actId="478"/>
          <ac:graphicFrameMkLst>
            <pc:docMk/>
            <pc:sldMk cId="773819670" sldId="260"/>
            <ac:graphicFrameMk id="7" creationId="{A50EF954-DFDC-97D0-D898-AA4E5CF6D2A4}"/>
          </ac:graphicFrameMkLst>
        </pc:graphicFrameChg>
        <pc:graphicFrameChg chg="add mod modGraphic">
          <ac:chgData name="Nikitha Reddy" userId="f0e2634a2ba4f605" providerId="LiveId" clId="{FB367E6B-CB56-4F67-9C25-09E464F4CB60}" dt="2026-09-01T08:42:58.315" v="108" actId="14734"/>
          <ac:graphicFrameMkLst>
            <pc:docMk/>
            <pc:sldMk cId="773819670" sldId="260"/>
            <ac:graphicFrameMk id="10" creationId="{827CD8E7-4CE1-59C2-4E39-AA25880F3051}"/>
          </ac:graphicFrameMkLst>
        </pc:graphicFrameChg>
        <pc:picChg chg="add">
          <ac:chgData name="Nikitha Reddy" userId="f0e2634a2ba4f605" providerId="LiveId" clId="{FB367E6B-CB56-4F67-9C25-09E464F4CB60}" dt="2026-08-23T13:43:34.773" v="44" actId="22"/>
          <ac:picMkLst>
            <pc:docMk/>
            <pc:sldMk cId="773819670" sldId="260"/>
            <ac:picMk id="5" creationId="{B5BC41C9-04E2-901B-999F-192182CCF980}"/>
          </ac:picMkLst>
        </pc:picChg>
      </pc:sldChg>
      <pc:sldChg chg="addSp delSp modSp new mod">
        <pc:chgData name="Nikitha Reddy" userId="f0e2634a2ba4f605" providerId="LiveId" clId="{FB367E6B-CB56-4F67-9C25-09E464F4CB60}" dt="2026-08-23T13:46:17.949" v="61"/>
        <pc:sldMkLst>
          <pc:docMk/>
          <pc:sldMk cId="833109996" sldId="261"/>
        </pc:sldMkLst>
        <pc:spChg chg="mod">
          <ac:chgData name="Nikitha Reddy" userId="f0e2634a2ba4f605" providerId="LiveId" clId="{FB367E6B-CB56-4F67-9C25-09E464F4CB60}" dt="2026-08-23T13:45:27.768" v="58" actId="14100"/>
          <ac:spMkLst>
            <pc:docMk/>
            <pc:sldMk cId="833109996" sldId="261"/>
            <ac:spMk id="2" creationId="{9CCE5FFD-7ECD-57A7-121C-30EB349E1855}"/>
          </ac:spMkLst>
        </pc:spChg>
        <pc:picChg chg="add">
          <ac:chgData name="Nikitha Reddy" userId="f0e2634a2ba4f605" providerId="LiveId" clId="{FB367E6B-CB56-4F67-9C25-09E464F4CB60}" dt="2026-08-23T13:44:52.094" v="53" actId="22"/>
          <ac:picMkLst>
            <pc:docMk/>
            <pc:sldMk cId="833109996" sldId="261"/>
            <ac:picMk id="5" creationId="{68EBE0CB-F2C8-00C6-B6FF-1123BF547D9C}"/>
          </ac:picMkLst>
        </pc:picChg>
        <pc:picChg chg="add mod">
          <ac:chgData name="Nikitha Reddy" userId="f0e2634a2ba4f605" providerId="LiveId" clId="{FB367E6B-CB56-4F67-9C25-09E464F4CB60}" dt="2026-08-23T13:46:17.949" v="61"/>
          <ac:picMkLst>
            <pc:docMk/>
            <pc:sldMk cId="833109996" sldId="261"/>
            <ac:picMk id="6" creationId="{3E5A60DC-DE49-ED9E-68E3-869D1656C5D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CB0A-5B04-6EC0-5780-E035FE0E90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EB0011-B189-CB22-C5B1-E3D9E9309B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D7BF82-AD18-29EC-A563-A3A81FD80B27}"/>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5" name="Footer Placeholder 4">
            <a:extLst>
              <a:ext uri="{FF2B5EF4-FFF2-40B4-BE49-F238E27FC236}">
                <a16:creationId xmlns:a16="http://schemas.microsoft.com/office/drawing/2014/main" id="{449CA7F4-B312-DD43-AFFC-BA2B581A8F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9E8DE6-76A8-AC03-97B7-5267B95072E7}"/>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794353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4C6F-FE2D-0BDF-7361-ECAFBFDCD2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7DBE58-0A2E-0BD2-0595-B7037025BE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941674-8554-F26C-EE73-D9F7F94F773D}"/>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5" name="Footer Placeholder 4">
            <a:extLst>
              <a:ext uri="{FF2B5EF4-FFF2-40B4-BE49-F238E27FC236}">
                <a16:creationId xmlns:a16="http://schemas.microsoft.com/office/drawing/2014/main" id="{A23C9C8E-A6A2-DC9D-72CA-E2BCC994C3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12F55-1836-EB97-79AB-112DFAAC048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66400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EDD83-C6FD-71AA-9905-6AA6E64F4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A79D3D-887D-9E0D-9460-BFFFEC0581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854569-B34E-7526-5FDA-6180BF86DDD5}"/>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5" name="Footer Placeholder 4">
            <a:extLst>
              <a:ext uri="{FF2B5EF4-FFF2-40B4-BE49-F238E27FC236}">
                <a16:creationId xmlns:a16="http://schemas.microsoft.com/office/drawing/2014/main" id="{61CB7932-92C4-AEE3-6CF6-9EC7A927F2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C5E591-C0EF-314B-E887-13EC67D492AB}"/>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0418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77A5F-34CE-6EDB-4A57-EF1DBA97C9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D3DE87-9941-AC31-DAB0-586AA80893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45F646-1831-7A3E-4757-61F9D7E2E4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ADA7F6-5C78-95A6-566A-9E5E5E55EAC3}"/>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6" name="Footer Placeholder 5">
            <a:extLst>
              <a:ext uri="{FF2B5EF4-FFF2-40B4-BE49-F238E27FC236}">
                <a16:creationId xmlns:a16="http://schemas.microsoft.com/office/drawing/2014/main" id="{547CCE35-B092-8E00-0C13-94DF4999C2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A356E6-EBA3-7DD0-971A-CD65F7DE110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906716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A7CD5-B538-8B22-6B24-E0DA4EC638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DA1DFF-6AFF-F8CA-BC17-4C0D3FEC7F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E817DF-6B6F-1BB3-69AB-1ECA043BDC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83A54A-76FE-9BA3-49A4-5A3DC876DE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67C27A-DFE6-C264-2D3C-8D3AFA8D2C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C726F2-4086-E4D9-0C58-511E41FBD091}"/>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8" name="Footer Placeholder 7">
            <a:extLst>
              <a:ext uri="{FF2B5EF4-FFF2-40B4-BE49-F238E27FC236}">
                <a16:creationId xmlns:a16="http://schemas.microsoft.com/office/drawing/2014/main" id="{FB7AE24E-89D7-9283-DF59-91EF10C586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E7D5A5-5770-2004-B707-C13F16506C1F}"/>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1237807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4FC79-6B75-8EB8-5C36-C4548DE78C6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EE14D7-0D69-64FF-B6E3-B28D8F00DFAC}"/>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4" name="Footer Placeholder 3">
            <a:extLst>
              <a:ext uri="{FF2B5EF4-FFF2-40B4-BE49-F238E27FC236}">
                <a16:creationId xmlns:a16="http://schemas.microsoft.com/office/drawing/2014/main" id="{757C68E8-9399-EE08-8B78-6B25A0E3B1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A4F05D-AA9E-5713-73B1-58C7F3E5FBDE}"/>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4038435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13AC8C-63E2-97A1-F359-58AFFEAE602B}"/>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3" name="Footer Placeholder 2">
            <a:extLst>
              <a:ext uri="{FF2B5EF4-FFF2-40B4-BE49-F238E27FC236}">
                <a16:creationId xmlns:a16="http://schemas.microsoft.com/office/drawing/2014/main" id="{5D792556-7C4E-D87B-AF24-FA61EE7F7A8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84555D4-1FDD-D25A-1ABE-EDEF3FBE45A3}"/>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441117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1B07-2BD0-14BB-A026-9778FD1DB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9161E3-4573-BF25-777B-7D1A1676B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DDC3A5-3389-35F9-107B-9DF5D67C0A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D704B6-5E49-D0C4-6253-660E8948F551}"/>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6" name="Footer Placeholder 5">
            <a:extLst>
              <a:ext uri="{FF2B5EF4-FFF2-40B4-BE49-F238E27FC236}">
                <a16:creationId xmlns:a16="http://schemas.microsoft.com/office/drawing/2014/main" id="{9E008D6A-4702-A8B3-B553-44519BB9A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8EBCCD-A3A8-75EA-E7A9-DE8EFD5FA5FA}"/>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80135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0E2E1-B99D-2E3F-11B4-C6C0421C9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2EAFE1-8CA5-DB90-2AD3-C9D8DD998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E8EBA9-1827-8179-9382-947784F1B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7E05C-BEA4-C3AC-6BB0-C5780885C0F1}"/>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6" name="Footer Placeholder 5">
            <a:extLst>
              <a:ext uri="{FF2B5EF4-FFF2-40B4-BE49-F238E27FC236}">
                <a16:creationId xmlns:a16="http://schemas.microsoft.com/office/drawing/2014/main" id="{170C22A2-42AE-1D0A-E215-F0B1B13957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8714AA-1D7A-CCCC-A586-2C35796AA484}"/>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240093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E671-8431-48C0-74F6-67B27EE8E1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6A9C17-D73A-7A02-2FBA-55C7A7604F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0C41B-1501-F2D1-60D9-7FAFB4720C7C}"/>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5" name="Footer Placeholder 4">
            <a:extLst>
              <a:ext uri="{FF2B5EF4-FFF2-40B4-BE49-F238E27FC236}">
                <a16:creationId xmlns:a16="http://schemas.microsoft.com/office/drawing/2014/main" id="{D0ABD677-6949-3986-FD0E-38423ADF4F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1C1F5-E83C-0DB8-6810-9164D5D38324}"/>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19064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8A2643-5646-3407-0C5D-52273635C1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AC5F68-F475-5ADF-4846-32F86CF74D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4BBE31-7A33-2BE3-48BC-FBF14BFB59FD}"/>
              </a:ext>
            </a:extLst>
          </p:cNvPr>
          <p:cNvSpPr>
            <a:spLocks noGrp="1"/>
          </p:cNvSpPr>
          <p:nvPr>
            <p:ph type="dt" sz="half" idx="10"/>
          </p:nvPr>
        </p:nvSpPr>
        <p:spPr/>
        <p:txBody>
          <a:bodyPr/>
          <a:lstStyle/>
          <a:p>
            <a:fld id="{3314DD1A-302B-431F-AE32-39DF818F9A89}" type="datetimeFigureOut">
              <a:rPr lang="en-IN" smtClean="0"/>
              <a:t>01-09-2026</a:t>
            </a:fld>
            <a:endParaRPr lang="en-IN"/>
          </a:p>
        </p:txBody>
      </p:sp>
      <p:sp>
        <p:nvSpPr>
          <p:cNvPr id="5" name="Footer Placeholder 4">
            <a:extLst>
              <a:ext uri="{FF2B5EF4-FFF2-40B4-BE49-F238E27FC236}">
                <a16:creationId xmlns:a16="http://schemas.microsoft.com/office/drawing/2014/main" id="{367BE66A-AF42-DFA4-BCF0-1ADCE4FB67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348D84-8D63-DEAB-70F7-671BE99F9586}"/>
              </a:ext>
            </a:extLst>
          </p:cNvPr>
          <p:cNvSpPr>
            <a:spLocks noGrp="1"/>
          </p:cNvSpPr>
          <p:nvPr>
            <p:ph type="sldNum" sz="quarter" idx="12"/>
          </p:nvPr>
        </p:nvSpPr>
        <p:spPr/>
        <p:txBody>
          <a:bodyPr/>
          <a:lstStyle/>
          <a:p>
            <a:fld id="{B8360181-234C-44BC-97CE-279C01F17BCF}" type="slidenum">
              <a:rPr lang="en-IN" smtClean="0"/>
              <a:t>‹#›</a:t>
            </a:fld>
            <a:endParaRPr lang="en-IN"/>
          </a:p>
        </p:txBody>
      </p:sp>
    </p:spTree>
    <p:extLst>
      <p:ext uri="{BB962C8B-B14F-4D97-AF65-F5344CB8AC3E}">
        <p14:creationId xmlns:p14="http://schemas.microsoft.com/office/powerpoint/2010/main" val="38545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CD7D9-E6D7-4D42-7C47-EC479B534C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28CB00-FA64-10C0-4262-5223D5195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18FA2-AFBC-3F2E-6BD7-28621A31BA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4DD1A-302B-431F-AE32-39DF818F9A89}" type="datetimeFigureOut">
              <a:rPr lang="en-IN" smtClean="0"/>
              <a:t>01-09-2026</a:t>
            </a:fld>
            <a:endParaRPr lang="en-IN"/>
          </a:p>
        </p:txBody>
      </p:sp>
      <p:sp>
        <p:nvSpPr>
          <p:cNvPr id="5" name="Footer Placeholder 4">
            <a:extLst>
              <a:ext uri="{FF2B5EF4-FFF2-40B4-BE49-F238E27FC236}">
                <a16:creationId xmlns:a16="http://schemas.microsoft.com/office/drawing/2014/main" id="{1D3112DA-1FE8-D419-D22C-E863514414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C13075A-A794-03ED-66F3-FCBCDDB0CF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60181-234C-44BC-97CE-279C01F17BCF}" type="slidenum">
              <a:rPr lang="en-IN" smtClean="0"/>
              <a:t>‹#›</a:t>
            </a:fld>
            <a:endParaRPr lang="en-IN"/>
          </a:p>
        </p:txBody>
      </p:sp>
    </p:spTree>
    <p:extLst>
      <p:ext uri="{BB962C8B-B14F-4D97-AF65-F5344CB8AC3E}">
        <p14:creationId xmlns:p14="http://schemas.microsoft.com/office/powerpoint/2010/main" val="1155028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escholarship.org/uc/item/0t36p3hn?utm_source=chatgpt.com" TargetMode="External"/><Relationship Id="rId3" Type="http://schemas.openxmlformats.org/officeDocument/2006/relationships/hyperlink" Target="https://doi.org/10.1145/2843948?utm_source=chatgpt.com" TargetMode="External"/><Relationship Id="rId7" Type="http://schemas.openxmlformats.org/officeDocument/2006/relationships/hyperlink" Target="https://research.google/pubs/millwheel-fault-tolerant-stream-processing-at-internet-scale/?utm_source=chatgpt.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spark.apache.org/research.html?utm_source=chatgpt.com" TargetMode="External"/><Relationship Id="rId5" Type="http://schemas.openxmlformats.org/officeDocument/2006/relationships/hyperlink" Target="https://arxiv.org/abs/2308.08500?utm_source=chatgpt.com" TargetMode="External"/><Relationship Id="rId4" Type="http://schemas.openxmlformats.org/officeDocument/2006/relationships/hyperlink" Target="https://onlinelibrary.wiley.com/doi/10.1609/aimag.v42i3.18140?utm_source=chatgpt.com" TargetMode="External"/><Relationship Id="rId9" Type="http://schemas.openxmlformats.org/officeDocument/2006/relationships/hyperlink" Target="https://www.sciencedirect.com/science/article/abs/pii/S0957417416305309?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5C21-8DE0-F363-6449-80D0FB36E39C}"/>
              </a:ext>
            </a:extLst>
          </p:cNvPr>
          <p:cNvSpPr>
            <a:spLocks noGrp="1"/>
          </p:cNvSpPr>
          <p:nvPr>
            <p:ph type="ctrTitle"/>
          </p:nvPr>
        </p:nvSpPr>
        <p:spPr>
          <a:xfrm>
            <a:off x="1851722" y="54079"/>
            <a:ext cx="8658962" cy="1297857"/>
          </a:xfrm>
        </p:spPr>
        <p:txBody>
          <a:bodyPr>
            <a:noAutofit/>
          </a:bodyPr>
          <a:lstStyle/>
          <a:p>
            <a:r>
              <a:rPr lang="en-US" sz="3200" b="1" dirty="0">
                <a:solidFill>
                  <a:schemeClr val="accent1"/>
                </a:solidFill>
              </a:rPr>
              <a:t>Netflix Data Engineering Pipeline: ETL and Analytics System</a:t>
            </a:r>
            <a:endParaRPr lang="en-IN" sz="3200" b="1" dirty="0">
              <a:solidFill>
                <a:schemeClr val="accent1"/>
              </a:solidFill>
            </a:endParaRPr>
          </a:p>
        </p:txBody>
      </p:sp>
      <p:sp>
        <p:nvSpPr>
          <p:cNvPr id="3" name="Subtitle 2">
            <a:extLst>
              <a:ext uri="{FF2B5EF4-FFF2-40B4-BE49-F238E27FC236}">
                <a16:creationId xmlns:a16="http://schemas.microsoft.com/office/drawing/2014/main" id="{1D008E3C-DE53-E8AA-7050-759A8009B65E}"/>
              </a:ext>
            </a:extLst>
          </p:cNvPr>
          <p:cNvSpPr>
            <a:spLocks noGrp="1"/>
          </p:cNvSpPr>
          <p:nvPr>
            <p:ph type="subTitle" idx="1"/>
          </p:nvPr>
        </p:nvSpPr>
        <p:spPr>
          <a:xfrm>
            <a:off x="1366684" y="1297857"/>
            <a:ext cx="9144000" cy="4208207"/>
          </a:xfrm>
        </p:spPr>
        <p:txBody>
          <a:bodyPr>
            <a:normAutofit fontScale="85000" lnSpcReduction="20000"/>
          </a:bodyPr>
          <a:lstStyle/>
          <a:p>
            <a:endParaRPr lang="en-US" dirty="0">
              <a:solidFill>
                <a:srgbClr val="FF0000"/>
              </a:solidFill>
            </a:endParaRPr>
          </a:p>
          <a:p>
            <a:r>
              <a:rPr lang="en-US" dirty="0">
                <a:solidFill>
                  <a:srgbClr val="FF0000"/>
                </a:solidFill>
              </a:rPr>
              <a:t>Department of CSE</a:t>
            </a:r>
          </a:p>
          <a:p>
            <a:r>
              <a:rPr lang="en-US" dirty="0">
                <a:solidFill>
                  <a:srgbClr val="FF0000"/>
                </a:solidFill>
              </a:rPr>
              <a:t>COURSE: FUNDAMENTALS OF DATA ENGINEERING – (24DEA3101)</a:t>
            </a:r>
          </a:p>
          <a:p>
            <a:r>
              <a:rPr lang="en-US" dirty="0">
                <a:solidFill>
                  <a:srgbClr val="FF0000"/>
                </a:solidFill>
              </a:rPr>
              <a:t>SECTION-4</a:t>
            </a:r>
            <a:br>
              <a:rPr lang="en-US" dirty="0">
                <a:solidFill>
                  <a:srgbClr val="FF0000"/>
                </a:solidFill>
              </a:rPr>
            </a:br>
            <a:endParaRPr lang="en-US" dirty="0">
              <a:solidFill>
                <a:srgbClr val="FF0000"/>
              </a:solidFill>
            </a:endParaRPr>
          </a:p>
          <a:p>
            <a:r>
              <a:rPr lang="en-US" dirty="0"/>
              <a:t>Review-1</a:t>
            </a:r>
          </a:p>
          <a:p>
            <a:r>
              <a:rPr lang="en-US" dirty="0">
                <a:solidFill>
                  <a:schemeClr val="accent1"/>
                </a:solidFill>
              </a:rPr>
              <a:t>Team-10</a:t>
            </a:r>
          </a:p>
          <a:p>
            <a:r>
              <a:rPr lang="en-IN" dirty="0">
                <a:solidFill>
                  <a:srgbClr val="FF0000"/>
                </a:solidFill>
              </a:rPr>
              <a:t>Under the Guidance of</a:t>
            </a:r>
            <a:r>
              <a:rPr lang="en-US" dirty="0">
                <a:solidFill>
                  <a:srgbClr val="FF0000"/>
                </a:solidFill>
              </a:rPr>
              <a:t>: </a:t>
            </a:r>
            <a:r>
              <a:rPr lang="en-US" dirty="0"/>
              <a:t>DR.N Shirisha</a:t>
            </a:r>
            <a:br>
              <a:rPr lang="en-US" dirty="0"/>
            </a:br>
            <a:endParaRPr lang="en-US" dirty="0"/>
          </a:p>
          <a:p>
            <a:r>
              <a:rPr lang="en-US" dirty="0">
                <a:solidFill>
                  <a:srgbClr val="FF0000"/>
                </a:solidFill>
              </a:rPr>
              <a:t>Team Members</a:t>
            </a:r>
            <a:br>
              <a:rPr lang="en-US" dirty="0"/>
            </a:br>
            <a:r>
              <a:rPr lang="en-US" dirty="0"/>
              <a:t>2420030332-K.Bhavana</a:t>
            </a:r>
            <a:br>
              <a:rPr lang="en-US" dirty="0"/>
            </a:br>
            <a:r>
              <a:rPr lang="en-US" dirty="0"/>
              <a:t>2420030471-N.Nikitha Reddy</a:t>
            </a:r>
            <a:br>
              <a:rPr lang="en-US" dirty="0"/>
            </a:br>
            <a:r>
              <a:rPr lang="en-US" dirty="0"/>
              <a:t>2420030119-C.Akshara</a:t>
            </a:r>
            <a:br>
              <a:rPr lang="en-US" dirty="0"/>
            </a:br>
            <a:endParaRPr lang="en-IN" dirty="0"/>
          </a:p>
        </p:txBody>
      </p:sp>
      <p:pic>
        <p:nvPicPr>
          <p:cNvPr id="8" name="Picture 7" descr="MAPS &amp; DIRECTIONS - Best Private University in Telangana ...">
            <a:extLst>
              <a:ext uri="{FF2B5EF4-FFF2-40B4-BE49-F238E27FC236}">
                <a16:creationId xmlns:a16="http://schemas.microsoft.com/office/drawing/2014/main" id="{36CF3F77-0C8C-9554-0322-D315875C8549}"/>
              </a:ext>
            </a:extLst>
          </p:cNvPr>
          <p:cNvPicPr>
            <a:picLocks noChangeAspect="1"/>
          </p:cNvPicPr>
          <p:nvPr/>
        </p:nvPicPr>
        <p:blipFill>
          <a:blip r:embed="rId2"/>
          <a:stretch>
            <a:fillRect/>
          </a:stretch>
        </p:blipFill>
        <p:spPr>
          <a:xfrm>
            <a:off x="4244278" y="4182071"/>
            <a:ext cx="3192165" cy="2372684"/>
          </a:xfrm>
          <a:prstGeom prst="rect">
            <a:avLst/>
          </a:prstGeom>
        </p:spPr>
      </p:pic>
    </p:spTree>
    <p:extLst>
      <p:ext uri="{BB962C8B-B14F-4D97-AF65-F5344CB8AC3E}">
        <p14:creationId xmlns:p14="http://schemas.microsoft.com/office/powerpoint/2010/main" val="345653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APS &amp; DIRECTIONS - Best Private University in Telangana ...">
            <a:extLst>
              <a:ext uri="{FF2B5EF4-FFF2-40B4-BE49-F238E27FC236}">
                <a16:creationId xmlns:a16="http://schemas.microsoft.com/office/drawing/2014/main" id="{D5F410F7-2068-5B72-0371-2A26FF7D7FAC}"/>
              </a:ext>
            </a:extLst>
          </p:cNvPr>
          <p:cNvPicPr>
            <a:picLocks noChangeAspect="1"/>
          </p:cNvPicPr>
          <p:nvPr/>
        </p:nvPicPr>
        <p:blipFill>
          <a:blip r:embed="rId2"/>
          <a:stretch>
            <a:fillRect/>
          </a:stretch>
        </p:blipFill>
        <p:spPr>
          <a:xfrm>
            <a:off x="9051843" y="-888685"/>
            <a:ext cx="3140157" cy="2334027"/>
          </a:xfrm>
          <a:prstGeom prst="rect">
            <a:avLst/>
          </a:prstGeom>
        </p:spPr>
      </p:pic>
      <p:sp>
        <p:nvSpPr>
          <p:cNvPr id="2" name="Title 1">
            <a:extLst>
              <a:ext uri="{FF2B5EF4-FFF2-40B4-BE49-F238E27FC236}">
                <a16:creationId xmlns:a16="http://schemas.microsoft.com/office/drawing/2014/main" id="{FFA1AA4E-2323-79D3-4BFE-480C4F8FA66D}"/>
              </a:ext>
            </a:extLst>
          </p:cNvPr>
          <p:cNvSpPr>
            <a:spLocks noGrp="1"/>
          </p:cNvSpPr>
          <p:nvPr>
            <p:ph type="title"/>
          </p:nvPr>
        </p:nvSpPr>
        <p:spPr>
          <a:xfrm>
            <a:off x="838200" y="365125"/>
            <a:ext cx="7234084" cy="1080217"/>
          </a:xfrm>
        </p:spPr>
        <p:txBody>
          <a:bodyPr/>
          <a:lstStyle/>
          <a:p>
            <a:r>
              <a:rPr lang="en-IN" b="1" dirty="0">
                <a:solidFill>
                  <a:schemeClr val="accent1"/>
                </a:solidFill>
              </a:rPr>
              <a:t>ABSTRACT</a:t>
            </a:r>
          </a:p>
        </p:txBody>
      </p:sp>
      <p:sp>
        <p:nvSpPr>
          <p:cNvPr id="3" name="Content Placeholder 2">
            <a:extLst>
              <a:ext uri="{FF2B5EF4-FFF2-40B4-BE49-F238E27FC236}">
                <a16:creationId xmlns:a16="http://schemas.microsoft.com/office/drawing/2014/main" id="{161FC5A9-6C9F-B715-F42E-DC11952DCD46}"/>
              </a:ext>
            </a:extLst>
          </p:cNvPr>
          <p:cNvSpPr>
            <a:spLocks noGrp="1"/>
          </p:cNvSpPr>
          <p:nvPr>
            <p:ph idx="1"/>
          </p:nvPr>
        </p:nvSpPr>
        <p:spPr>
          <a:xfrm>
            <a:off x="838200" y="1445342"/>
            <a:ext cx="10515600" cy="4751285"/>
          </a:xfrm>
        </p:spPr>
        <p:txBody>
          <a:bodyPr>
            <a:normAutofit fontScale="85000" lnSpcReduction="20000"/>
          </a:bodyPr>
          <a:lstStyle/>
          <a:p>
            <a:pPr marL="0" indent="0">
              <a:buNone/>
            </a:pPr>
            <a:r>
              <a:rPr lang="en-US" dirty="0"/>
              <a:t>The Netflix Data Engineering Pipeline: ETL and Analytics System is a proposed end-to-end data engineering project that aims to process and analyze Netflix movies and TV shows data using an ETL (Extract, Transform, Load) pipeline. The project will focus on converting raw Netflix data into structured and meaningful information through data extraction, cleaning, transformation, storage, analysis, and visualization.</a:t>
            </a:r>
          </a:p>
          <a:p>
            <a:pPr marL="0" indent="0">
              <a:buNone/>
            </a:pPr>
            <a:r>
              <a:rPr lang="en-US" dirty="0"/>
              <a:t>The Netflix dataset containing approximately 8,807 records will be processed using Python and Pandas. The raw data will be cleaned to handle missing values, remove inconsistencies, and prepare it for further analysis. The transformed data will then be stored in a MySQL database, where SQL queries will be used to analyze content type, country, release year, ratings, and genres.</a:t>
            </a:r>
          </a:p>
          <a:p>
            <a:pPr marL="0" indent="0">
              <a:buNone/>
            </a:pPr>
            <a:r>
              <a:rPr lang="en-US" dirty="0"/>
              <a:t>Finally, the processed data will be connected to Microsoft Power BI to develop an interactive dashboard that will present insights such as the distribution of movies and TV shows, top content-producing countries, release-year trends, and rating distribution. This project is expected to demonstrate a complete ETL workflow and provide practical experience in modern data engineering and analytics.</a:t>
            </a:r>
            <a:endParaRPr lang="en-IN" dirty="0"/>
          </a:p>
        </p:txBody>
      </p:sp>
    </p:spTree>
    <p:extLst>
      <p:ext uri="{BB962C8B-B14F-4D97-AF65-F5344CB8AC3E}">
        <p14:creationId xmlns:p14="http://schemas.microsoft.com/office/powerpoint/2010/main" val="98499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645D0-F8C1-4767-1192-35DE61B46E00}"/>
              </a:ext>
            </a:extLst>
          </p:cNvPr>
          <p:cNvSpPr>
            <a:spLocks noGrp="1"/>
          </p:cNvSpPr>
          <p:nvPr>
            <p:ph type="title"/>
          </p:nvPr>
        </p:nvSpPr>
        <p:spPr>
          <a:xfrm>
            <a:off x="838200" y="119319"/>
            <a:ext cx="10515600" cy="989176"/>
          </a:xfrm>
        </p:spPr>
        <p:txBody>
          <a:bodyPr/>
          <a:lstStyle/>
          <a:p>
            <a:r>
              <a:rPr lang="en-US" b="1" dirty="0">
                <a:solidFill>
                  <a:schemeClr val="accent1"/>
                </a:solidFill>
              </a:rPr>
              <a:t>INTRODUCTION</a:t>
            </a:r>
            <a:endParaRPr lang="en-IN" b="1" dirty="0">
              <a:solidFill>
                <a:schemeClr val="accent1"/>
              </a:solidFill>
            </a:endParaRPr>
          </a:p>
        </p:txBody>
      </p:sp>
      <p:sp>
        <p:nvSpPr>
          <p:cNvPr id="3" name="Content Placeholder 2">
            <a:extLst>
              <a:ext uri="{FF2B5EF4-FFF2-40B4-BE49-F238E27FC236}">
                <a16:creationId xmlns:a16="http://schemas.microsoft.com/office/drawing/2014/main" id="{4211470B-FBCE-56CC-2319-24304728F5F0}"/>
              </a:ext>
            </a:extLst>
          </p:cNvPr>
          <p:cNvSpPr>
            <a:spLocks noGrp="1"/>
          </p:cNvSpPr>
          <p:nvPr>
            <p:ph idx="1"/>
          </p:nvPr>
        </p:nvSpPr>
        <p:spPr>
          <a:xfrm>
            <a:off x="838200" y="1108495"/>
            <a:ext cx="10515600" cy="5503700"/>
          </a:xfrm>
        </p:spPr>
        <p:txBody>
          <a:bodyPr>
            <a:normAutofit fontScale="77500" lnSpcReduction="20000"/>
          </a:bodyPr>
          <a:lstStyle/>
          <a:p>
            <a:pPr marL="0" indent="0">
              <a:buNone/>
            </a:pPr>
            <a:r>
              <a:rPr lang="en-US" dirty="0"/>
              <a:t>In today's digital world, organizations generate and collect large amounts of data from various sources. However, raw data often contains missing values, inconsistent information, and unstructured records, making it difficult to analyze. Data engineering plays an important role in collecting, cleaning, transforming, storing, and preparing data for analysis and decision-making.</a:t>
            </a:r>
          </a:p>
          <a:p>
            <a:pPr marL="0" indent="0">
              <a:buNone/>
            </a:pPr>
            <a:r>
              <a:rPr lang="en-US" dirty="0"/>
              <a:t>Netflix, one of the world's leading streaming platforms, provides a rich dataset containing information about movies and TV shows, including title, content type, country, release year, rating, duration, and genre. Analyzing this information can help identify trends and patterns in Netflix's content library.</a:t>
            </a:r>
          </a:p>
          <a:p>
            <a:pPr marL="0" indent="0">
              <a:buNone/>
            </a:pPr>
            <a:r>
              <a:rPr lang="en-US" dirty="0"/>
              <a:t>This project aims to develop an end-to-end Netflix Data Engineering Pipeline using Python, Pandas, MySQL, and Power BI. The project will begin by extracting the Netflix dataset, followed by cleaning and transforming the data using Python. The processed data will then be stored in a MySQL database to enable efficient querying through SQL.</a:t>
            </a:r>
          </a:p>
          <a:p>
            <a:pPr marL="0" indent="0">
              <a:buNone/>
            </a:pPr>
            <a:r>
              <a:rPr lang="en-US" dirty="0"/>
              <a:t>Finally, the database will be connected to Power BI to create an interactive dashboard that will visualize key insights such as the total number of titles, the distribution of movies and TV shows, country-wise content distribution, release-year trends, and rating analysis. Through this project, we aim to gain practical knowledge of the complete data engineering workflow, from raw data ingestion to meaningful business insights.</a:t>
            </a:r>
            <a:endParaRPr lang="en-IN" dirty="0"/>
          </a:p>
        </p:txBody>
      </p:sp>
      <p:pic>
        <p:nvPicPr>
          <p:cNvPr id="5" name="Picture 4" descr="MAPS &amp; DIRECTIONS - Best Private University in Telangana ...">
            <a:extLst>
              <a:ext uri="{FF2B5EF4-FFF2-40B4-BE49-F238E27FC236}">
                <a16:creationId xmlns:a16="http://schemas.microsoft.com/office/drawing/2014/main" id="{25F2F128-7599-6E6A-FE9C-334249BF5240}"/>
              </a:ext>
            </a:extLst>
          </p:cNvPr>
          <p:cNvPicPr>
            <a:picLocks noChangeAspect="1"/>
          </p:cNvPicPr>
          <p:nvPr/>
        </p:nvPicPr>
        <p:blipFill>
          <a:blip r:embed="rId2"/>
          <a:stretch>
            <a:fillRect/>
          </a:stretch>
        </p:blipFill>
        <p:spPr>
          <a:xfrm>
            <a:off x="9167278" y="-893925"/>
            <a:ext cx="3024722" cy="2248226"/>
          </a:xfrm>
          <a:prstGeom prst="rect">
            <a:avLst/>
          </a:prstGeom>
        </p:spPr>
      </p:pic>
    </p:spTree>
    <p:extLst>
      <p:ext uri="{BB962C8B-B14F-4D97-AF65-F5344CB8AC3E}">
        <p14:creationId xmlns:p14="http://schemas.microsoft.com/office/powerpoint/2010/main" val="553194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8444-B7E9-180C-CD17-E28CCA2A735C}"/>
              </a:ext>
            </a:extLst>
          </p:cNvPr>
          <p:cNvSpPr>
            <a:spLocks noGrp="1"/>
          </p:cNvSpPr>
          <p:nvPr>
            <p:ph type="title"/>
          </p:nvPr>
        </p:nvSpPr>
        <p:spPr>
          <a:xfrm>
            <a:off x="934064" y="0"/>
            <a:ext cx="7855975" cy="1759973"/>
          </a:xfrm>
        </p:spPr>
        <p:txBody>
          <a:bodyPr/>
          <a:lstStyle/>
          <a:p>
            <a:r>
              <a:rPr lang="en-IN" b="1" dirty="0">
                <a:solidFill>
                  <a:schemeClr val="accent1"/>
                </a:solidFill>
              </a:rPr>
              <a:t>OBJECTIVES</a:t>
            </a:r>
          </a:p>
        </p:txBody>
      </p:sp>
      <p:sp>
        <p:nvSpPr>
          <p:cNvPr id="3" name="Content Placeholder 2">
            <a:extLst>
              <a:ext uri="{FF2B5EF4-FFF2-40B4-BE49-F238E27FC236}">
                <a16:creationId xmlns:a16="http://schemas.microsoft.com/office/drawing/2014/main" id="{C62C1E8E-09F7-DC34-849A-49F552F2AB2D}"/>
              </a:ext>
            </a:extLst>
          </p:cNvPr>
          <p:cNvSpPr>
            <a:spLocks noGrp="1"/>
          </p:cNvSpPr>
          <p:nvPr>
            <p:ph idx="1"/>
          </p:nvPr>
        </p:nvSpPr>
        <p:spPr>
          <a:xfrm>
            <a:off x="934065" y="1397201"/>
            <a:ext cx="10419735" cy="5111754"/>
          </a:xfrm>
        </p:spPr>
        <p:txBody>
          <a:bodyPr/>
          <a:lstStyle/>
          <a:p>
            <a:pPr lvl="0"/>
            <a:r>
              <a:rPr lang="en-IN" dirty="0"/>
              <a:t>To develop an end-to-end ETL pipeline for Netflix data. </a:t>
            </a:r>
          </a:p>
          <a:p>
            <a:pPr lvl="0"/>
            <a:r>
              <a:rPr lang="en-IN" dirty="0"/>
              <a:t>To extract Netflix data from the raw dataset using Python and Pandas. </a:t>
            </a:r>
          </a:p>
          <a:p>
            <a:pPr lvl="0"/>
            <a:r>
              <a:rPr lang="en-IN" dirty="0"/>
              <a:t>To clean and transform the data by handling missing values and inconsistencies. </a:t>
            </a:r>
          </a:p>
          <a:p>
            <a:pPr lvl="0"/>
            <a:r>
              <a:rPr lang="en-IN" dirty="0"/>
              <a:t>To store the processed data in a MySQL database. </a:t>
            </a:r>
          </a:p>
          <a:p>
            <a:pPr lvl="0"/>
            <a:r>
              <a:rPr lang="en-IN" dirty="0"/>
              <a:t>To perform data analysis using SQL queries. </a:t>
            </a:r>
          </a:p>
          <a:p>
            <a:pPr lvl="0"/>
            <a:r>
              <a:rPr lang="en-IN" dirty="0"/>
              <a:t>To visualize Netflix data using an interactive Power BI dashboard. </a:t>
            </a:r>
          </a:p>
          <a:p>
            <a:pPr lvl="0"/>
            <a:r>
              <a:rPr lang="en-IN" dirty="0"/>
              <a:t>To identify trends in content type, country, release year, ratings, and genres. </a:t>
            </a:r>
          </a:p>
          <a:p>
            <a:pPr marL="0" indent="0">
              <a:buNone/>
            </a:pPr>
            <a:endParaRPr lang="en-IN" dirty="0"/>
          </a:p>
        </p:txBody>
      </p:sp>
      <p:pic>
        <p:nvPicPr>
          <p:cNvPr id="5" name="Picture 4" descr="MAPS &amp; DIRECTIONS - Best Private University in Telangana ...">
            <a:extLst>
              <a:ext uri="{FF2B5EF4-FFF2-40B4-BE49-F238E27FC236}">
                <a16:creationId xmlns:a16="http://schemas.microsoft.com/office/drawing/2014/main" id="{01F2230B-D8FC-CCF8-74B0-3444BCA6CF85}"/>
              </a:ext>
            </a:extLst>
          </p:cNvPr>
          <p:cNvPicPr>
            <a:picLocks noChangeAspect="1"/>
          </p:cNvPicPr>
          <p:nvPr/>
        </p:nvPicPr>
        <p:blipFill>
          <a:blip r:embed="rId2"/>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392109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AE2C-DF02-AFCE-021F-29EA5382C50D}"/>
              </a:ext>
            </a:extLst>
          </p:cNvPr>
          <p:cNvSpPr>
            <a:spLocks noGrp="1"/>
          </p:cNvSpPr>
          <p:nvPr>
            <p:ph type="title"/>
          </p:nvPr>
        </p:nvSpPr>
        <p:spPr>
          <a:xfrm>
            <a:off x="523568" y="50493"/>
            <a:ext cx="10515600" cy="785249"/>
          </a:xfrm>
        </p:spPr>
        <p:txBody>
          <a:bodyPr/>
          <a:lstStyle/>
          <a:p>
            <a:r>
              <a:rPr lang="en-IN" b="1" dirty="0">
                <a:solidFill>
                  <a:schemeClr val="accent1"/>
                </a:solidFill>
              </a:rPr>
              <a:t>LITERATURE SURVEY</a:t>
            </a:r>
          </a:p>
        </p:txBody>
      </p:sp>
      <p:pic>
        <p:nvPicPr>
          <p:cNvPr id="5" name="Picture 4" descr="MAPS &amp; DIRECTIONS - Best Private University in Telangana ...">
            <a:extLst>
              <a:ext uri="{FF2B5EF4-FFF2-40B4-BE49-F238E27FC236}">
                <a16:creationId xmlns:a16="http://schemas.microsoft.com/office/drawing/2014/main" id="{B5BC41C9-04E2-901B-999F-192182CCF980}"/>
              </a:ext>
            </a:extLst>
          </p:cNvPr>
          <p:cNvPicPr>
            <a:picLocks noChangeAspect="1"/>
          </p:cNvPicPr>
          <p:nvPr/>
        </p:nvPicPr>
        <p:blipFill>
          <a:blip r:embed="rId2"/>
          <a:stretch>
            <a:fillRect/>
          </a:stretch>
        </p:blipFill>
        <p:spPr>
          <a:xfrm>
            <a:off x="9159998" y="-936826"/>
            <a:ext cx="3140157" cy="2334027"/>
          </a:xfrm>
          <a:prstGeom prst="rect">
            <a:avLst/>
          </a:prstGeom>
        </p:spPr>
      </p:pic>
      <p:graphicFrame>
        <p:nvGraphicFramePr>
          <p:cNvPr id="10" name="Content Placeholder 9">
            <a:extLst>
              <a:ext uri="{FF2B5EF4-FFF2-40B4-BE49-F238E27FC236}">
                <a16:creationId xmlns:a16="http://schemas.microsoft.com/office/drawing/2014/main" id="{827CD8E7-4CE1-59C2-4E39-AA25880F3051}"/>
              </a:ext>
            </a:extLst>
          </p:cNvPr>
          <p:cNvGraphicFramePr>
            <a:graphicFrameLocks noGrp="1"/>
          </p:cNvGraphicFramePr>
          <p:nvPr>
            <p:ph idx="1"/>
            <p:extLst>
              <p:ext uri="{D42A27DB-BD31-4B8C-83A1-F6EECF244321}">
                <p14:modId xmlns:p14="http://schemas.microsoft.com/office/powerpoint/2010/main" val="2423194288"/>
              </p:ext>
            </p:extLst>
          </p:nvPr>
        </p:nvGraphicFramePr>
        <p:xfrm>
          <a:off x="523567" y="835742"/>
          <a:ext cx="11029338" cy="5738679"/>
        </p:xfrm>
        <a:graphic>
          <a:graphicData uri="http://schemas.openxmlformats.org/drawingml/2006/table">
            <a:tbl>
              <a:tblPr firstRow="1">
                <a:tableStyleId>{5C22544A-7EE6-4342-B048-85BDC9FD1C3A}</a:tableStyleId>
              </a:tblPr>
              <a:tblGrid>
                <a:gridCol w="726499">
                  <a:extLst>
                    <a:ext uri="{9D8B030D-6E8A-4147-A177-3AD203B41FA5}">
                      <a16:colId xmlns:a16="http://schemas.microsoft.com/office/drawing/2014/main" val="2947582888"/>
                    </a:ext>
                  </a:extLst>
                </a:gridCol>
                <a:gridCol w="2314937">
                  <a:extLst>
                    <a:ext uri="{9D8B030D-6E8A-4147-A177-3AD203B41FA5}">
                      <a16:colId xmlns:a16="http://schemas.microsoft.com/office/drawing/2014/main" val="1333609194"/>
                    </a:ext>
                  </a:extLst>
                </a:gridCol>
                <a:gridCol w="2013994">
                  <a:extLst>
                    <a:ext uri="{9D8B030D-6E8A-4147-A177-3AD203B41FA5}">
                      <a16:colId xmlns:a16="http://schemas.microsoft.com/office/drawing/2014/main" val="514404200"/>
                    </a:ext>
                  </a:extLst>
                </a:gridCol>
                <a:gridCol w="1990846">
                  <a:extLst>
                    <a:ext uri="{9D8B030D-6E8A-4147-A177-3AD203B41FA5}">
                      <a16:colId xmlns:a16="http://schemas.microsoft.com/office/drawing/2014/main" val="1841811207"/>
                    </a:ext>
                  </a:extLst>
                </a:gridCol>
                <a:gridCol w="2060294">
                  <a:extLst>
                    <a:ext uri="{9D8B030D-6E8A-4147-A177-3AD203B41FA5}">
                      <a16:colId xmlns:a16="http://schemas.microsoft.com/office/drawing/2014/main" val="1716764916"/>
                    </a:ext>
                  </a:extLst>
                </a:gridCol>
                <a:gridCol w="1922768">
                  <a:extLst>
                    <a:ext uri="{9D8B030D-6E8A-4147-A177-3AD203B41FA5}">
                      <a16:colId xmlns:a16="http://schemas.microsoft.com/office/drawing/2014/main" val="4012039212"/>
                    </a:ext>
                  </a:extLst>
                </a:gridCol>
              </a:tblGrid>
              <a:tr h="411071">
                <a:tc>
                  <a:txBody>
                    <a:bodyPr/>
                    <a:lstStyle/>
                    <a:p>
                      <a:pPr>
                        <a:buNone/>
                      </a:pPr>
                      <a:r>
                        <a:rPr lang="en-IN" sz="1050" dirty="0"/>
                        <a:t>No.</a:t>
                      </a:r>
                    </a:p>
                  </a:txBody>
                  <a:tcPr marL="19601" marR="19601" marT="9800" marB="9800" anchor="ctr"/>
                </a:tc>
                <a:tc>
                  <a:txBody>
                    <a:bodyPr/>
                    <a:lstStyle/>
                    <a:p>
                      <a:pPr>
                        <a:buNone/>
                      </a:pPr>
                      <a:r>
                        <a:rPr lang="en-IN" sz="1050" dirty="0"/>
                        <a:t>Authors / Year</a:t>
                      </a:r>
                    </a:p>
                  </a:txBody>
                  <a:tcPr marL="19601" marR="19601" marT="9800" marB="9800" anchor="ctr"/>
                </a:tc>
                <a:tc>
                  <a:txBody>
                    <a:bodyPr/>
                    <a:lstStyle/>
                    <a:p>
                      <a:pPr>
                        <a:buNone/>
                      </a:pPr>
                      <a:r>
                        <a:rPr lang="en-IN" sz="1050" dirty="0"/>
                        <a:t>Paper Title</a:t>
                      </a:r>
                    </a:p>
                  </a:txBody>
                  <a:tcPr marL="19601" marR="19601" marT="9800" marB="9800" anchor="ctr"/>
                </a:tc>
                <a:tc>
                  <a:txBody>
                    <a:bodyPr/>
                    <a:lstStyle/>
                    <a:p>
                      <a:pPr>
                        <a:buNone/>
                      </a:pPr>
                      <a:r>
                        <a:rPr lang="en-IN" sz="1050" dirty="0"/>
                        <a:t>Methodology</a:t>
                      </a:r>
                    </a:p>
                  </a:txBody>
                  <a:tcPr marL="19601" marR="19601" marT="9800" marB="9800" anchor="ctr"/>
                </a:tc>
                <a:tc>
                  <a:txBody>
                    <a:bodyPr/>
                    <a:lstStyle/>
                    <a:p>
                      <a:pPr>
                        <a:buNone/>
                      </a:pPr>
                      <a:r>
                        <a:rPr lang="en-IN" sz="1050"/>
                        <a:t>Key Inference</a:t>
                      </a:r>
                    </a:p>
                  </a:txBody>
                  <a:tcPr marL="19601" marR="19601" marT="9800" marB="9800" anchor="ctr"/>
                </a:tc>
                <a:tc>
                  <a:txBody>
                    <a:bodyPr/>
                    <a:lstStyle/>
                    <a:p>
                      <a:pPr>
                        <a:buNone/>
                      </a:pPr>
                      <a:r>
                        <a:rPr lang="en-IN" sz="1050"/>
                        <a:t>Limitation / Future Work</a:t>
                      </a:r>
                    </a:p>
                  </a:txBody>
                  <a:tcPr marL="19601" marR="19601" marT="9800" marB="9800" anchor="ctr"/>
                </a:tc>
                <a:extLst>
                  <a:ext uri="{0D108BD9-81ED-4DB2-BD59-A6C34878D82A}">
                    <a16:rowId xmlns:a16="http://schemas.microsoft.com/office/drawing/2014/main" val="3451533416"/>
                  </a:ext>
                </a:extLst>
              </a:tr>
              <a:tr h="665951">
                <a:tc>
                  <a:txBody>
                    <a:bodyPr/>
                    <a:lstStyle/>
                    <a:p>
                      <a:pPr>
                        <a:buNone/>
                      </a:pPr>
                      <a:r>
                        <a:rPr lang="en-IN" sz="1050"/>
                        <a:t>1</a:t>
                      </a:r>
                    </a:p>
                  </a:txBody>
                  <a:tcPr marL="19601" marR="19601" marT="9800" marB="9800" anchor="ctr"/>
                </a:tc>
                <a:tc>
                  <a:txBody>
                    <a:bodyPr/>
                    <a:lstStyle/>
                    <a:p>
                      <a:pPr>
                        <a:buNone/>
                      </a:pPr>
                      <a:r>
                        <a:rPr lang="en-IN" sz="1050"/>
                        <a:t>Gómez-Uribe &amp; Hunt (2015)</a:t>
                      </a:r>
                    </a:p>
                  </a:txBody>
                  <a:tcPr marL="19601" marR="19601" marT="9800" marB="9800" anchor="ctr"/>
                </a:tc>
                <a:tc>
                  <a:txBody>
                    <a:bodyPr/>
                    <a:lstStyle/>
                    <a:p>
                      <a:pPr>
                        <a:buNone/>
                      </a:pPr>
                      <a:r>
                        <a:rPr lang="en-IN" sz="1050"/>
                        <a:t>The Netflix Recommender System: Algorithms, Business Value, and Innovation</a:t>
                      </a:r>
                    </a:p>
                  </a:txBody>
                  <a:tcPr marL="19601" marR="19601" marT="9800" marB="9800" anchor="ctr"/>
                </a:tc>
                <a:tc>
                  <a:txBody>
                    <a:bodyPr/>
                    <a:lstStyle/>
                    <a:p>
                      <a:pPr>
                        <a:buNone/>
                      </a:pPr>
                      <a:r>
                        <a:rPr lang="en-IN" sz="1050" dirty="0"/>
                        <a:t>Uses large-scale user interaction data, recommendation algorithms, offline experiments and A/B testing.</a:t>
                      </a:r>
                    </a:p>
                  </a:txBody>
                  <a:tcPr marL="19601" marR="19601" marT="9800" marB="9800" anchor="ctr"/>
                </a:tc>
                <a:tc>
                  <a:txBody>
                    <a:bodyPr/>
                    <a:lstStyle/>
                    <a:p>
                      <a:pPr>
                        <a:buNone/>
                      </a:pPr>
                      <a:r>
                        <a:rPr lang="en-IN" sz="1050"/>
                        <a:t>Data-driven recommendation systems can improve user engagement and retention.</a:t>
                      </a:r>
                    </a:p>
                  </a:txBody>
                  <a:tcPr marL="19601" marR="19601" marT="9800" marB="9800" anchor="ctr"/>
                </a:tc>
                <a:tc>
                  <a:txBody>
                    <a:bodyPr/>
                    <a:lstStyle/>
                    <a:p>
                      <a:pPr>
                        <a:buNone/>
                      </a:pPr>
                      <a:r>
                        <a:rPr lang="en-IN" sz="1050"/>
                        <a:t>Requires continuous experimentation and large-scale data processing. (</a:t>
                      </a:r>
                      <a:r>
                        <a:rPr lang="en-IN" sz="1050">
                          <a:hlinkClick r:id="rId3" tooltip="The Netflix Recommender System: Algorithms, Business Value, and Innovation: ACM Transactions on Management Information Systems: Vol 6, No 4"/>
                        </a:rPr>
                        <a:t>DOI</a:t>
                      </a:r>
                      <a:r>
                        <a:rPr lang="en-IN" sz="1050"/>
                        <a:t>)</a:t>
                      </a:r>
                    </a:p>
                  </a:txBody>
                  <a:tcPr marL="19601" marR="19601" marT="9800" marB="9800" anchor="ctr"/>
                </a:tc>
                <a:extLst>
                  <a:ext uri="{0D108BD9-81ED-4DB2-BD59-A6C34878D82A}">
                    <a16:rowId xmlns:a16="http://schemas.microsoft.com/office/drawing/2014/main" val="4111604147"/>
                  </a:ext>
                </a:extLst>
              </a:tr>
              <a:tr h="665951">
                <a:tc>
                  <a:txBody>
                    <a:bodyPr/>
                    <a:lstStyle/>
                    <a:p>
                      <a:pPr>
                        <a:buNone/>
                      </a:pPr>
                      <a:r>
                        <a:rPr lang="en-IN" sz="1050" dirty="0"/>
                        <a:t>2</a:t>
                      </a:r>
                    </a:p>
                  </a:txBody>
                  <a:tcPr marL="19601" marR="19601" marT="9800" marB="9800" anchor="ctr"/>
                </a:tc>
                <a:tc>
                  <a:txBody>
                    <a:bodyPr/>
                    <a:lstStyle/>
                    <a:p>
                      <a:pPr>
                        <a:buNone/>
                      </a:pPr>
                      <a:r>
                        <a:rPr lang="en-IN" sz="1050" dirty="0"/>
                        <a:t>Steck et al. (2021)</a:t>
                      </a:r>
                    </a:p>
                  </a:txBody>
                  <a:tcPr marL="19601" marR="19601" marT="9800" marB="9800" anchor="ctr"/>
                </a:tc>
                <a:tc>
                  <a:txBody>
                    <a:bodyPr/>
                    <a:lstStyle/>
                    <a:p>
                      <a:pPr>
                        <a:buNone/>
                      </a:pPr>
                      <a:r>
                        <a:rPr lang="en-IN" sz="1050"/>
                        <a:t>Deep Learning for Recommender Systems: A Netflix Case Study</a:t>
                      </a:r>
                    </a:p>
                  </a:txBody>
                  <a:tcPr marL="19601" marR="19601" marT="9800" marB="9800" anchor="ctr"/>
                </a:tc>
                <a:tc>
                  <a:txBody>
                    <a:bodyPr/>
                    <a:lstStyle/>
                    <a:p>
                      <a:pPr>
                        <a:buNone/>
                      </a:pPr>
                      <a:r>
                        <a:rPr lang="en-IN" sz="1050"/>
                        <a:t>Applies deep-learning models to heterogeneous Netflix user and content data for personalized ranking.</a:t>
                      </a:r>
                    </a:p>
                  </a:txBody>
                  <a:tcPr marL="19601" marR="19601" marT="9800" marB="9800" anchor="ctr"/>
                </a:tc>
                <a:tc>
                  <a:txBody>
                    <a:bodyPr/>
                    <a:lstStyle/>
                    <a:p>
                      <a:pPr>
                        <a:buNone/>
                      </a:pPr>
                      <a:r>
                        <a:rPr lang="en-IN" sz="1050"/>
                        <a:t>Deep learning becomes more effective when diverse features are incorporated into the data pipeline.</a:t>
                      </a:r>
                    </a:p>
                  </a:txBody>
                  <a:tcPr marL="19601" marR="19601" marT="9800" marB="9800" anchor="ctr"/>
                </a:tc>
                <a:tc>
                  <a:txBody>
                    <a:bodyPr/>
                    <a:lstStyle/>
                    <a:p>
                      <a:pPr>
                        <a:buNone/>
                      </a:pPr>
                      <a:r>
                        <a:rPr lang="en-IN" sz="1050"/>
                        <a:t>Offline and online performance can differ; maintaining large-scale ML pipelines is challenging. (</a:t>
                      </a:r>
                      <a:r>
                        <a:rPr lang="en-IN" sz="1050">
                          <a:hlinkClick r:id="rId4" tooltip="Deep learning for recommender systems: A Netflix case study"/>
                        </a:rPr>
                        <a:t>Wiley Online Library</a:t>
                      </a:r>
                      <a:r>
                        <a:rPr lang="en-IN" sz="1050"/>
                        <a:t>)</a:t>
                      </a:r>
                    </a:p>
                  </a:txBody>
                  <a:tcPr marL="19601" marR="19601" marT="9800" marB="9800" anchor="ctr"/>
                </a:tc>
                <a:extLst>
                  <a:ext uri="{0D108BD9-81ED-4DB2-BD59-A6C34878D82A}">
                    <a16:rowId xmlns:a16="http://schemas.microsoft.com/office/drawing/2014/main" val="3873930057"/>
                  </a:ext>
                </a:extLst>
              </a:tr>
              <a:tr h="665951">
                <a:tc>
                  <a:txBody>
                    <a:bodyPr/>
                    <a:lstStyle/>
                    <a:p>
                      <a:pPr>
                        <a:buNone/>
                      </a:pPr>
                      <a:r>
                        <a:rPr lang="en-IN" sz="1050"/>
                        <a:t>3</a:t>
                      </a:r>
                    </a:p>
                  </a:txBody>
                  <a:tcPr marL="19601" marR="19601" marT="9800" marB="9800" anchor="ctr"/>
                </a:tc>
                <a:tc>
                  <a:txBody>
                    <a:bodyPr/>
                    <a:lstStyle/>
                    <a:p>
                      <a:pPr>
                        <a:buNone/>
                      </a:pPr>
                      <a:r>
                        <a:rPr lang="en-IN" sz="1050" dirty="0" err="1"/>
                        <a:t>Nagrecha</a:t>
                      </a:r>
                      <a:r>
                        <a:rPr lang="en-IN" sz="1050" dirty="0"/>
                        <a:t> et al. (2023)</a:t>
                      </a:r>
                    </a:p>
                  </a:txBody>
                  <a:tcPr marL="19601" marR="19601" marT="9800" marB="9800" anchor="ctr"/>
                </a:tc>
                <a:tc>
                  <a:txBody>
                    <a:bodyPr/>
                    <a:lstStyle/>
                    <a:p>
                      <a:pPr>
                        <a:buNone/>
                      </a:pPr>
                      <a:r>
                        <a:rPr lang="en-IN" sz="1050" dirty="0" err="1"/>
                        <a:t>InTune</a:t>
                      </a:r>
                      <a:r>
                        <a:rPr lang="en-IN" sz="1050" dirty="0"/>
                        <a:t>: Reinforcement Learning-based Data Pipeline Optimization for Deep Recommendation Models</a:t>
                      </a:r>
                    </a:p>
                  </a:txBody>
                  <a:tcPr marL="19601" marR="19601" marT="9800" marB="9800" anchor="ctr"/>
                </a:tc>
                <a:tc>
                  <a:txBody>
                    <a:bodyPr/>
                    <a:lstStyle/>
                    <a:p>
                      <a:pPr>
                        <a:buNone/>
                      </a:pPr>
                      <a:r>
                        <a:rPr lang="en-IN" sz="1050" dirty="0"/>
                        <a:t>Studies real-world Netflix data-ingestion pipelines and applies reinforcement learning to optimize pipeline performance.</a:t>
                      </a:r>
                    </a:p>
                  </a:txBody>
                  <a:tcPr marL="19601" marR="19601" marT="9800" marB="9800" anchor="ctr"/>
                </a:tc>
                <a:tc>
                  <a:txBody>
                    <a:bodyPr/>
                    <a:lstStyle/>
                    <a:p>
                      <a:pPr>
                        <a:buNone/>
                      </a:pPr>
                      <a:r>
                        <a:rPr lang="en-IN" sz="1050"/>
                        <a:t>Data ingestion can become a major bottleneck in large-scale recommendation-model training.</a:t>
                      </a:r>
                    </a:p>
                  </a:txBody>
                  <a:tcPr marL="19601" marR="19601" marT="9800" marB="9800" anchor="ctr"/>
                </a:tc>
                <a:tc>
                  <a:txBody>
                    <a:bodyPr/>
                    <a:lstStyle/>
                    <a:p>
                      <a:pPr>
                        <a:buNone/>
                      </a:pPr>
                      <a:r>
                        <a:rPr lang="en-IN" sz="1050"/>
                        <a:t>Pipeline optimization becomes difficult as data volume and processing requirements increase. (</a:t>
                      </a:r>
                      <a:r>
                        <a:rPr lang="en-IN" sz="1050">
                          <a:hlinkClick r:id="rId5" tooltip="InTune: Reinforcement Learning-based Data Pipeline Optimization for Deep Recommendation Models"/>
                        </a:rPr>
                        <a:t>arXiv</a:t>
                      </a:r>
                      <a:r>
                        <a:rPr lang="en-IN" sz="1050"/>
                        <a:t>)</a:t>
                      </a:r>
                    </a:p>
                  </a:txBody>
                  <a:tcPr marL="19601" marR="19601" marT="9800" marB="9800" anchor="ctr"/>
                </a:tc>
                <a:extLst>
                  <a:ext uri="{0D108BD9-81ED-4DB2-BD59-A6C34878D82A}">
                    <a16:rowId xmlns:a16="http://schemas.microsoft.com/office/drawing/2014/main" val="76062257"/>
                  </a:ext>
                </a:extLst>
              </a:tr>
              <a:tr h="665951">
                <a:tc>
                  <a:txBody>
                    <a:bodyPr/>
                    <a:lstStyle/>
                    <a:p>
                      <a:pPr>
                        <a:buNone/>
                      </a:pPr>
                      <a:r>
                        <a:rPr lang="en-IN" sz="1050"/>
                        <a:t>4</a:t>
                      </a:r>
                    </a:p>
                  </a:txBody>
                  <a:tcPr marL="19601" marR="19601" marT="9800" marB="9800" anchor="ctr"/>
                </a:tc>
                <a:tc>
                  <a:txBody>
                    <a:bodyPr/>
                    <a:lstStyle/>
                    <a:p>
                      <a:pPr>
                        <a:buNone/>
                      </a:pPr>
                      <a:r>
                        <a:rPr lang="en-IN" sz="1050"/>
                        <a:t>Zaharia et al. (2012)</a:t>
                      </a:r>
                    </a:p>
                  </a:txBody>
                  <a:tcPr marL="19601" marR="19601" marT="9800" marB="9800" anchor="ctr"/>
                </a:tc>
                <a:tc>
                  <a:txBody>
                    <a:bodyPr/>
                    <a:lstStyle/>
                    <a:p>
                      <a:pPr>
                        <a:buNone/>
                      </a:pPr>
                      <a:r>
                        <a:rPr lang="en-IN" sz="1050"/>
                        <a:t>Resilient Distributed Datasets: A Fault-Tolerant Abstraction for In-Memory Cluster Computing</a:t>
                      </a:r>
                    </a:p>
                  </a:txBody>
                  <a:tcPr marL="19601" marR="19601" marT="9800" marB="9800" anchor="ctr"/>
                </a:tc>
                <a:tc>
                  <a:txBody>
                    <a:bodyPr/>
                    <a:lstStyle/>
                    <a:p>
                      <a:pPr>
                        <a:buNone/>
                      </a:pPr>
                      <a:r>
                        <a:rPr lang="en-IN" sz="1050"/>
                        <a:t>Introduces RDDs for distributed, fault-tolerant in-memory processing using Spark.</a:t>
                      </a:r>
                    </a:p>
                  </a:txBody>
                  <a:tcPr marL="19601" marR="19601" marT="9800" marB="9800" anchor="ctr"/>
                </a:tc>
                <a:tc>
                  <a:txBody>
                    <a:bodyPr/>
                    <a:lstStyle/>
                    <a:p>
                      <a:pPr>
                        <a:buNone/>
                      </a:pPr>
                      <a:r>
                        <a:rPr lang="en-IN" sz="1050"/>
                        <a:t>Distributed in-memory processing can significantly improve iterative data-processing workloads.</a:t>
                      </a:r>
                    </a:p>
                  </a:txBody>
                  <a:tcPr marL="19601" marR="19601" marT="9800" marB="9800" anchor="ctr"/>
                </a:tc>
                <a:tc>
                  <a:txBody>
                    <a:bodyPr/>
                    <a:lstStyle/>
                    <a:p>
                      <a:pPr>
                        <a:buNone/>
                      </a:pPr>
                      <a:r>
                        <a:rPr lang="en-IN" sz="1050"/>
                        <a:t>Requires cluster resources and careful memory management. (</a:t>
                      </a:r>
                      <a:r>
                        <a:rPr lang="en-IN" sz="1050">
                          <a:hlinkClick r:id="rId6" tooltip="Research | Apache Spark"/>
                        </a:rPr>
                        <a:t>Apache Spark</a:t>
                      </a:r>
                      <a:r>
                        <a:rPr lang="en-IN" sz="1050"/>
                        <a:t>)</a:t>
                      </a:r>
                    </a:p>
                  </a:txBody>
                  <a:tcPr marL="19601" marR="19601" marT="9800" marB="9800" anchor="ctr"/>
                </a:tc>
                <a:extLst>
                  <a:ext uri="{0D108BD9-81ED-4DB2-BD59-A6C34878D82A}">
                    <a16:rowId xmlns:a16="http://schemas.microsoft.com/office/drawing/2014/main" val="1139016030"/>
                  </a:ext>
                </a:extLst>
              </a:tr>
              <a:tr h="665951">
                <a:tc>
                  <a:txBody>
                    <a:bodyPr/>
                    <a:lstStyle/>
                    <a:p>
                      <a:pPr>
                        <a:buNone/>
                      </a:pPr>
                      <a:r>
                        <a:rPr lang="en-IN" sz="1050"/>
                        <a:t>5</a:t>
                      </a:r>
                    </a:p>
                  </a:txBody>
                  <a:tcPr marL="19601" marR="19601" marT="9800" marB="9800" anchor="ctr"/>
                </a:tc>
                <a:tc>
                  <a:txBody>
                    <a:bodyPr/>
                    <a:lstStyle/>
                    <a:p>
                      <a:pPr>
                        <a:buNone/>
                      </a:pPr>
                      <a:r>
                        <a:rPr lang="en-IN" sz="1050"/>
                        <a:t>Zaharia et al. (2013)</a:t>
                      </a:r>
                    </a:p>
                  </a:txBody>
                  <a:tcPr marL="19601" marR="19601" marT="9800" marB="9800" anchor="ctr"/>
                </a:tc>
                <a:tc>
                  <a:txBody>
                    <a:bodyPr/>
                    <a:lstStyle/>
                    <a:p>
                      <a:pPr>
                        <a:buNone/>
                      </a:pPr>
                      <a:r>
                        <a:rPr lang="en-IN" sz="1050"/>
                        <a:t>Discretized Streams: An Efficient and Fault-Tolerant Model for Stream Processing on Large Clusters</a:t>
                      </a:r>
                    </a:p>
                  </a:txBody>
                  <a:tcPr marL="19601" marR="19601" marT="9800" marB="9800" anchor="ctr"/>
                </a:tc>
                <a:tc>
                  <a:txBody>
                    <a:bodyPr/>
                    <a:lstStyle/>
                    <a:p>
                      <a:pPr>
                        <a:buNone/>
                      </a:pPr>
                      <a:r>
                        <a:rPr lang="en-IN" sz="1050"/>
                        <a:t>Processes streaming data as small batches with fault-tolerant distributed computation.</a:t>
                      </a:r>
                    </a:p>
                  </a:txBody>
                  <a:tcPr marL="19601" marR="19601" marT="9800" marB="9800" anchor="ctr"/>
                </a:tc>
                <a:tc>
                  <a:txBody>
                    <a:bodyPr/>
                    <a:lstStyle/>
                    <a:p>
                      <a:pPr>
                        <a:buNone/>
                      </a:pPr>
                      <a:r>
                        <a:rPr lang="en-IN" sz="1050" dirty="0"/>
                        <a:t>Provides scalable and fault-tolerant real-time stream processing.</a:t>
                      </a:r>
                    </a:p>
                  </a:txBody>
                  <a:tcPr marL="19601" marR="19601" marT="9800" marB="9800" anchor="ctr"/>
                </a:tc>
                <a:tc>
                  <a:txBody>
                    <a:bodyPr/>
                    <a:lstStyle/>
                    <a:p>
                      <a:pPr>
                        <a:buNone/>
                      </a:pPr>
                      <a:r>
                        <a:rPr lang="en-IN" sz="1050"/>
                        <a:t>Micro-batch processing may introduce latency compared with true record-at-a-time processing. (</a:t>
                      </a:r>
                      <a:r>
                        <a:rPr lang="en-IN" sz="1050">
                          <a:hlinkClick r:id="rId6" tooltip="Research | Apache Spark"/>
                        </a:rPr>
                        <a:t>Apache Spark</a:t>
                      </a:r>
                      <a:r>
                        <a:rPr lang="en-IN" sz="1050"/>
                        <a:t>)</a:t>
                      </a:r>
                    </a:p>
                  </a:txBody>
                  <a:tcPr marL="19601" marR="19601" marT="9800" marB="9800" anchor="ctr"/>
                </a:tc>
                <a:extLst>
                  <a:ext uri="{0D108BD9-81ED-4DB2-BD59-A6C34878D82A}">
                    <a16:rowId xmlns:a16="http://schemas.microsoft.com/office/drawing/2014/main" val="1071435799"/>
                  </a:ext>
                </a:extLst>
              </a:tr>
              <a:tr h="665951">
                <a:tc>
                  <a:txBody>
                    <a:bodyPr/>
                    <a:lstStyle/>
                    <a:p>
                      <a:pPr>
                        <a:buNone/>
                      </a:pPr>
                      <a:r>
                        <a:rPr lang="en-IN" sz="1050"/>
                        <a:t>6</a:t>
                      </a:r>
                    </a:p>
                  </a:txBody>
                  <a:tcPr marL="19601" marR="19601" marT="9800" marB="9800" anchor="ctr"/>
                </a:tc>
                <a:tc>
                  <a:txBody>
                    <a:bodyPr/>
                    <a:lstStyle/>
                    <a:p>
                      <a:pPr>
                        <a:buNone/>
                      </a:pPr>
                      <a:r>
                        <a:rPr lang="en-IN" sz="1050"/>
                        <a:t>Akidau et al. (2013)</a:t>
                      </a:r>
                    </a:p>
                  </a:txBody>
                  <a:tcPr marL="19601" marR="19601" marT="9800" marB="9800" anchor="ctr"/>
                </a:tc>
                <a:tc>
                  <a:txBody>
                    <a:bodyPr/>
                    <a:lstStyle/>
                    <a:p>
                      <a:pPr>
                        <a:buNone/>
                      </a:pPr>
                      <a:r>
                        <a:rPr lang="en-IN" sz="1050"/>
                        <a:t>MillWheel: Fault-Tolerant Stream Processing at Internet Scale</a:t>
                      </a:r>
                    </a:p>
                  </a:txBody>
                  <a:tcPr marL="19601" marR="19601" marT="9800" marB="9800" anchor="ctr"/>
                </a:tc>
                <a:tc>
                  <a:txBody>
                    <a:bodyPr/>
                    <a:lstStyle/>
                    <a:p>
                      <a:pPr>
                        <a:buNone/>
                      </a:pPr>
                      <a:r>
                        <a:rPr lang="en-IN" sz="1050"/>
                        <a:t>Uses a distributed computation graph with persistent state and continuous event processing.</a:t>
                      </a:r>
                    </a:p>
                  </a:txBody>
                  <a:tcPr marL="19601" marR="19601" marT="9800" marB="9800" anchor="ctr"/>
                </a:tc>
                <a:tc>
                  <a:txBody>
                    <a:bodyPr/>
                    <a:lstStyle/>
                    <a:p>
                      <a:pPr>
                        <a:buNone/>
                      </a:pPr>
                      <a:r>
                        <a:rPr lang="en-IN" sz="1050"/>
                        <a:t>Demonstrates how low-latency, fault-tolerant stream processing can operate at Internet scale.</a:t>
                      </a:r>
                    </a:p>
                  </a:txBody>
                  <a:tcPr marL="19601" marR="19601" marT="9800" marB="9800" anchor="ctr"/>
                </a:tc>
                <a:tc>
                  <a:txBody>
                    <a:bodyPr/>
                    <a:lstStyle/>
                    <a:p>
                      <a:pPr>
                        <a:buNone/>
                      </a:pPr>
                      <a:r>
                        <a:rPr lang="en-IN" sz="1050"/>
                        <a:t>Distributed state management and fault tolerance increase system complexity. (</a:t>
                      </a:r>
                      <a:r>
                        <a:rPr lang="en-IN" sz="1050">
                          <a:hlinkClick r:id="rId7" tooltip="MillWheel: Fault-Tolerant Stream Processing at Internet Scale"/>
                        </a:rPr>
                        <a:t>Google Research</a:t>
                      </a:r>
                      <a:r>
                        <a:rPr lang="en-IN" sz="1050"/>
                        <a:t>)</a:t>
                      </a:r>
                    </a:p>
                  </a:txBody>
                  <a:tcPr marL="19601" marR="19601" marT="9800" marB="9800" anchor="ctr"/>
                </a:tc>
                <a:extLst>
                  <a:ext uri="{0D108BD9-81ED-4DB2-BD59-A6C34878D82A}">
                    <a16:rowId xmlns:a16="http://schemas.microsoft.com/office/drawing/2014/main" val="1603034977"/>
                  </a:ext>
                </a:extLst>
              </a:tr>
              <a:tr h="665951">
                <a:tc>
                  <a:txBody>
                    <a:bodyPr/>
                    <a:lstStyle/>
                    <a:p>
                      <a:pPr>
                        <a:buNone/>
                      </a:pPr>
                      <a:r>
                        <a:rPr lang="en-IN" sz="1050"/>
                        <a:t>7</a:t>
                      </a:r>
                    </a:p>
                  </a:txBody>
                  <a:tcPr marL="19601" marR="19601" marT="9800" marB="9800" anchor="ctr"/>
                </a:tc>
                <a:tc>
                  <a:txBody>
                    <a:bodyPr/>
                    <a:lstStyle/>
                    <a:p>
                      <a:pPr>
                        <a:buNone/>
                      </a:pPr>
                      <a:r>
                        <a:rPr lang="en-IN" sz="1050"/>
                        <a:t>Kiran et al. (2015)</a:t>
                      </a:r>
                    </a:p>
                  </a:txBody>
                  <a:tcPr marL="19601" marR="19601" marT="9800" marB="9800" anchor="ctr"/>
                </a:tc>
                <a:tc>
                  <a:txBody>
                    <a:bodyPr/>
                    <a:lstStyle/>
                    <a:p>
                      <a:pPr>
                        <a:buNone/>
                      </a:pPr>
                      <a:r>
                        <a:rPr lang="en-IN" sz="1050" dirty="0"/>
                        <a:t>Lambda Architecture for Cost-Effective Batch and Speed Big Data Processing</a:t>
                      </a:r>
                    </a:p>
                  </a:txBody>
                  <a:tcPr marL="19601" marR="19601" marT="9800" marB="9800" anchor="ctr"/>
                </a:tc>
                <a:tc>
                  <a:txBody>
                    <a:bodyPr/>
                    <a:lstStyle/>
                    <a:p>
                      <a:pPr>
                        <a:buNone/>
                      </a:pPr>
                      <a:r>
                        <a:rPr lang="en-IN" sz="1050"/>
                        <a:t>Combines batch and real-time processing using a Lambda Architecture deployed on cloud infrastructure.</a:t>
                      </a:r>
                    </a:p>
                  </a:txBody>
                  <a:tcPr marL="19601" marR="19601" marT="9800" marB="9800" anchor="ctr"/>
                </a:tc>
                <a:tc>
                  <a:txBody>
                    <a:bodyPr/>
                    <a:lstStyle/>
                    <a:p>
                      <a:pPr>
                        <a:buNone/>
                      </a:pPr>
                      <a:r>
                        <a:rPr lang="en-IN" sz="1050"/>
                        <a:t>Combining batch and streaming layers can provide both high throughput and low-latency analytics.</a:t>
                      </a:r>
                    </a:p>
                  </a:txBody>
                  <a:tcPr marL="19601" marR="19601" marT="9800" marB="9800" anchor="ctr"/>
                </a:tc>
                <a:tc>
                  <a:txBody>
                    <a:bodyPr/>
                    <a:lstStyle/>
                    <a:p>
                      <a:pPr>
                        <a:buNone/>
                      </a:pPr>
                      <a:r>
                        <a:rPr lang="en-IN" sz="1050"/>
                        <a:t>Maintaining separate batch and streaming paths increases architectural complexity. (</a:t>
                      </a:r>
                      <a:r>
                        <a:rPr lang="en-IN" sz="1050">
                          <a:hlinkClick r:id="rId8" tooltip="Lambda Architecture for Cost-Effective Batch and Speed Big Data Processing"/>
                        </a:rPr>
                        <a:t>eScholarship</a:t>
                      </a:r>
                      <a:r>
                        <a:rPr lang="en-IN" sz="1050"/>
                        <a:t>)</a:t>
                      </a:r>
                    </a:p>
                  </a:txBody>
                  <a:tcPr marL="19601" marR="19601" marT="9800" marB="9800" anchor="ctr"/>
                </a:tc>
                <a:extLst>
                  <a:ext uri="{0D108BD9-81ED-4DB2-BD59-A6C34878D82A}">
                    <a16:rowId xmlns:a16="http://schemas.microsoft.com/office/drawing/2014/main" val="2758040922"/>
                  </a:ext>
                </a:extLst>
              </a:tr>
              <a:tr h="665951">
                <a:tc>
                  <a:txBody>
                    <a:bodyPr/>
                    <a:lstStyle/>
                    <a:p>
                      <a:pPr>
                        <a:buNone/>
                      </a:pPr>
                      <a:r>
                        <a:rPr lang="en-IN" sz="1050"/>
                        <a:t>8</a:t>
                      </a:r>
                    </a:p>
                  </a:txBody>
                  <a:tcPr marL="19601" marR="19601" marT="9800" marB="9800" anchor="ctr"/>
                </a:tc>
                <a:tc>
                  <a:txBody>
                    <a:bodyPr/>
                    <a:lstStyle/>
                    <a:p>
                      <a:pPr>
                        <a:buNone/>
                      </a:pPr>
                      <a:r>
                        <a:rPr lang="en-IN" sz="1050"/>
                        <a:t>Wei et al. (2017)</a:t>
                      </a:r>
                    </a:p>
                  </a:txBody>
                  <a:tcPr marL="19601" marR="19601" marT="9800" marB="9800" anchor="ctr"/>
                </a:tc>
                <a:tc>
                  <a:txBody>
                    <a:bodyPr/>
                    <a:lstStyle/>
                    <a:p>
                      <a:pPr>
                        <a:buNone/>
                      </a:pPr>
                      <a:r>
                        <a:rPr lang="en-IN" sz="1050"/>
                        <a:t>Collaborative Filtering and Deep Learning Based Recommendation System for Cold Start Items</a:t>
                      </a:r>
                    </a:p>
                  </a:txBody>
                  <a:tcPr marL="19601" marR="19601" marT="9800" marB="9800" anchor="ctr"/>
                </a:tc>
                <a:tc>
                  <a:txBody>
                    <a:bodyPr/>
                    <a:lstStyle/>
                    <a:p>
                      <a:pPr>
                        <a:buNone/>
                      </a:pPr>
                      <a:r>
                        <a:rPr lang="en-IN" sz="1050"/>
                        <a:t>Combines collaborative filtering with deep learning and evaluates the approach using a large Netflix movie-rating dataset.</a:t>
                      </a:r>
                    </a:p>
                  </a:txBody>
                  <a:tcPr marL="19601" marR="19601" marT="9800" marB="9800" anchor="ctr"/>
                </a:tc>
                <a:tc>
                  <a:txBody>
                    <a:bodyPr/>
                    <a:lstStyle/>
                    <a:p>
                      <a:pPr>
                        <a:buNone/>
                      </a:pPr>
                      <a:r>
                        <a:rPr lang="en-IN" sz="1050"/>
                        <a:t>Combining historical ratings with content features improves recommendations for new items.</a:t>
                      </a:r>
                    </a:p>
                  </a:txBody>
                  <a:tcPr marL="19601" marR="19601" marT="9800" marB="9800" anchor="ctr"/>
                </a:tc>
                <a:tc>
                  <a:txBody>
                    <a:bodyPr/>
                    <a:lstStyle/>
                    <a:p>
                      <a:pPr>
                        <a:buNone/>
                      </a:pPr>
                      <a:r>
                        <a:rPr lang="en-IN" sz="1050" dirty="0"/>
                        <a:t>Cold-start and model retraining remain challenging as datasets continuously change. (</a:t>
                      </a:r>
                      <a:r>
                        <a:rPr lang="en-IN" sz="1050" dirty="0">
                          <a:hlinkClick r:id="rId9" tooltip="Collaborative filtering and deep learning based recommendation system for cold start items - ScienceDirect"/>
                        </a:rPr>
                        <a:t>ScienceDirect</a:t>
                      </a:r>
                      <a:r>
                        <a:rPr lang="en-IN" sz="1050" dirty="0"/>
                        <a:t>)</a:t>
                      </a:r>
                    </a:p>
                  </a:txBody>
                  <a:tcPr marL="19601" marR="19601" marT="9800" marB="9800" anchor="ctr"/>
                </a:tc>
                <a:extLst>
                  <a:ext uri="{0D108BD9-81ED-4DB2-BD59-A6C34878D82A}">
                    <a16:rowId xmlns:a16="http://schemas.microsoft.com/office/drawing/2014/main" val="2463027342"/>
                  </a:ext>
                </a:extLst>
              </a:tr>
            </a:tbl>
          </a:graphicData>
        </a:graphic>
      </p:graphicFrame>
    </p:spTree>
    <p:extLst>
      <p:ext uri="{BB962C8B-B14F-4D97-AF65-F5344CB8AC3E}">
        <p14:creationId xmlns:p14="http://schemas.microsoft.com/office/powerpoint/2010/main" val="773819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E5FFD-7ECD-57A7-121C-30EB349E1855}"/>
              </a:ext>
            </a:extLst>
          </p:cNvPr>
          <p:cNvSpPr>
            <a:spLocks noGrp="1"/>
          </p:cNvSpPr>
          <p:nvPr>
            <p:ph type="title"/>
          </p:nvPr>
        </p:nvSpPr>
        <p:spPr>
          <a:xfrm>
            <a:off x="838200" y="-88489"/>
            <a:ext cx="10515600" cy="1130708"/>
          </a:xfrm>
        </p:spPr>
        <p:txBody>
          <a:bodyPr/>
          <a:lstStyle/>
          <a:p>
            <a:r>
              <a:rPr lang="en-IN" b="1" dirty="0">
                <a:solidFill>
                  <a:schemeClr val="accent1"/>
                </a:solidFill>
              </a:rPr>
              <a:t>SYSTEM ARCHITECTURE</a:t>
            </a:r>
          </a:p>
        </p:txBody>
      </p:sp>
      <p:pic>
        <p:nvPicPr>
          <p:cNvPr id="6" name="Content Placeholder 5">
            <a:extLst>
              <a:ext uri="{FF2B5EF4-FFF2-40B4-BE49-F238E27FC236}">
                <a16:creationId xmlns:a16="http://schemas.microsoft.com/office/drawing/2014/main" id="{3E5A60DC-DE49-ED9E-68E3-869D1656C5DC}"/>
              </a:ext>
            </a:extLst>
          </p:cNvPr>
          <p:cNvPicPr>
            <a:picLocks noGrp="1" noChangeAspect="1"/>
          </p:cNvPicPr>
          <p:nvPr>
            <p:ph idx="1"/>
          </p:nvPr>
        </p:nvPicPr>
        <p:blipFill>
          <a:blip r:embed="rId2"/>
          <a:stretch>
            <a:fillRect/>
          </a:stretch>
        </p:blipFill>
        <p:spPr>
          <a:xfrm>
            <a:off x="1035059" y="1130300"/>
            <a:ext cx="10121882" cy="5727700"/>
          </a:xfrm>
          <a:prstGeom prst="rect">
            <a:avLst/>
          </a:prstGeom>
        </p:spPr>
      </p:pic>
      <p:pic>
        <p:nvPicPr>
          <p:cNvPr id="5" name="Picture 4" descr="MAPS &amp; DIRECTIONS - Best Private University in Telangana ...">
            <a:extLst>
              <a:ext uri="{FF2B5EF4-FFF2-40B4-BE49-F238E27FC236}">
                <a16:creationId xmlns:a16="http://schemas.microsoft.com/office/drawing/2014/main" id="{68EBE0CB-F2C8-00C6-B6FF-1123BF547D9C}"/>
              </a:ext>
            </a:extLst>
          </p:cNvPr>
          <p:cNvPicPr>
            <a:picLocks noChangeAspect="1"/>
          </p:cNvPicPr>
          <p:nvPr/>
        </p:nvPicPr>
        <p:blipFill>
          <a:blip r:embed="rId3"/>
          <a:stretch>
            <a:fillRect/>
          </a:stretch>
        </p:blipFill>
        <p:spPr>
          <a:xfrm>
            <a:off x="9159998" y="-936826"/>
            <a:ext cx="3140157" cy="2334027"/>
          </a:xfrm>
          <a:prstGeom prst="rect">
            <a:avLst/>
          </a:prstGeom>
        </p:spPr>
      </p:pic>
    </p:spTree>
    <p:extLst>
      <p:ext uri="{BB962C8B-B14F-4D97-AF65-F5344CB8AC3E}">
        <p14:creationId xmlns:p14="http://schemas.microsoft.com/office/powerpoint/2010/main" val="833109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231</TotalTime>
  <Words>1075</Words>
  <Application>Microsoft Office PowerPoint</Application>
  <PresentationFormat>Widescreen</PresentationFormat>
  <Paragraphs>82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Netflix Data Engineering Pipeline: ETL and Analytics System</vt:lpstr>
      <vt:lpstr>ABSTRACT</vt:lpstr>
      <vt:lpstr>INTRODUCTION</vt:lpstr>
      <vt:lpstr>OBJECTIVES</vt:lpstr>
      <vt:lpstr>LITERATURE SURVEY</vt:lpstr>
      <vt:lpstr>SYSTEM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akshara reddy</dc:creator>
  <cp:lastModifiedBy>Nikitha Reddy</cp:lastModifiedBy>
  <cp:revision>3</cp:revision>
  <dcterms:created xsi:type="dcterms:W3CDTF">2026-08-14T04:49:03Z</dcterms:created>
  <dcterms:modified xsi:type="dcterms:W3CDTF">2026-09-01T08:43:00Z</dcterms:modified>
</cp:coreProperties>
</file>