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itha Reddy" userId="f0e2634a2ba4f605" providerId="LiveId" clId="{FB367E6B-CB56-4F67-9C25-09E464F4CB60}"/>
    <pc:docChg chg="custSel modSld">
      <pc:chgData name="Nikitha Reddy" userId="f0e2634a2ba4f605" providerId="LiveId" clId="{FB367E6B-CB56-4F67-9C25-09E464F4CB60}" dt="2026-08-17T06:46:41.561" v="12" actId="20577"/>
      <pc:docMkLst>
        <pc:docMk/>
      </pc:docMkLst>
      <pc:sldChg chg="modSp mod">
        <pc:chgData name="Nikitha Reddy" userId="f0e2634a2ba4f605" providerId="LiveId" clId="{FB367E6B-CB56-4F67-9C25-09E464F4CB60}" dt="2026-08-17T06:46:41.561" v="12" actId="20577"/>
        <pc:sldMkLst>
          <pc:docMk/>
          <pc:sldMk cId="345653417" sldId="256"/>
        </pc:sldMkLst>
        <pc:spChg chg="mod">
          <ac:chgData name="Nikitha Reddy" userId="f0e2634a2ba4f605" providerId="LiveId" clId="{FB367E6B-CB56-4F67-9C25-09E464F4CB60}" dt="2026-08-17T06:46:41.561" v="12" actId="20577"/>
          <ac:spMkLst>
            <pc:docMk/>
            <pc:sldMk cId="345653417" sldId="256"/>
            <ac:spMk id="3" creationId="{1D008E3C-DE53-E8AA-7050-759A8009B65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4CB0A-5B04-6EC0-5780-E035FE0E90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EB0011-B189-CB22-C5B1-E3D9E9309B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D7BF82-AD18-29EC-A563-A3A81FD80B27}"/>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5" name="Footer Placeholder 4">
            <a:extLst>
              <a:ext uri="{FF2B5EF4-FFF2-40B4-BE49-F238E27FC236}">
                <a16:creationId xmlns:a16="http://schemas.microsoft.com/office/drawing/2014/main" id="{449CA7F4-B312-DD43-AFFC-BA2B581A8F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9E8DE6-76A8-AC03-97B7-5267B95072E7}"/>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794353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4C6F-FE2D-0BDF-7361-ECAFBFDCD2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7DBE58-0A2E-0BD2-0595-B7037025BE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941674-8554-F26C-EE73-D9F7F94F773D}"/>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5" name="Footer Placeholder 4">
            <a:extLst>
              <a:ext uri="{FF2B5EF4-FFF2-40B4-BE49-F238E27FC236}">
                <a16:creationId xmlns:a16="http://schemas.microsoft.com/office/drawing/2014/main" id="{A23C9C8E-A6A2-DC9D-72CA-E2BCC994C3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912F55-1836-EB97-79AB-112DFAAC048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1266400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EDD83-C6FD-71AA-9905-6AA6E64F4F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A79D3D-887D-9E0D-9460-BFFFEC0581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854569-B34E-7526-5FDA-6180BF86DDD5}"/>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5" name="Footer Placeholder 4">
            <a:extLst>
              <a:ext uri="{FF2B5EF4-FFF2-40B4-BE49-F238E27FC236}">
                <a16:creationId xmlns:a16="http://schemas.microsoft.com/office/drawing/2014/main" id="{61CB7932-92C4-AEE3-6CF6-9EC7A927F2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C5E591-C0EF-314B-E887-13EC67D492AB}"/>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404182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77A5F-34CE-6EDB-4A57-EF1DBA97C9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D3DE87-9941-AC31-DAB0-586AA80893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45F646-1831-7A3E-4757-61F9D7E2E4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1ADA7F6-5C78-95A6-566A-9E5E5E55EAC3}"/>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6" name="Footer Placeholder 5">
            <a:extLst>
              <a:ext uri="{FF2B5EF4-FFF2-40B4-BE49-F238E27FC236}">
                <a16:creationId xmlns:a16="http://schemas.microsoft.com/office/drawing/2014/main" id="{547CCE35-B092-8E00-0C13-94DF4999C2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A356E6-EBA3-7DD0-971A-CD65F7DE110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906716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A7CD5-B538-8B22-6B24-E0DA4EC638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DA1DFF-6AFF-F8CA-BC17-4C0D3FEC7F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E817DF-6B6F-1BB3-69AB-1ECA043BDC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83A54A-76FE-9BA3-49A4-5A3DC876D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67C27A-DFE6-C264-2D3C-8D3AFA8D2C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C726F2-4086-E4D9-0C58-511E41FBD091}"/>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8" name="Footer Placeholder 7">
            <a:extLst>
              <a:ext uri="{FF2B5EF4-FFF2-40B4-BE49-F238E27FC236}">
                <a16:creationId xmlns:a16="http://schemas.microsoft.com/office/drawing/2014/main" id="{FB7AE24E-89D7-9283-DF59-91EF10C586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E7D5A5-5770-2004-B707-C13F16506C1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1237807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4FC79-6B75-8EB8-5C36-C4548DE78C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6EE14D7-0D69-64FF-B6E3-B28D8F00DFAC}"/>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4" name="Footer Placeholder 3">
            <a:extLst>
              <a:ext uri="{FF2B5EF4-FFF2-40B4-BE49-F238E27FC236}">
                <a16:creationId xmlns:a16="http://schemas.microsoft.com/office/drawing/2014/main" id="{757C68E8-9399-EE08-8B78-6B25A0E3B1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1A4F05D-AA9E-5713-73B1-58C7F3E5FBDE}"/>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4038435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3AC8C-63E2-97A1-F359-58AFFEAE602B}"/>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3" name="Footer Placeholder 2">
            <a:extLst>
              <a:ext uri="{FF2B5EF4-FFF2-40B4-BE49-F238E27FC236}">
                <a16:creationId xmlns:a16="http://schemas.microsoft.com/office/drawing/2014/main" id="{5D792556-7C4E-D87B-AF24-FA61EE7F7A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84555D4-1FDD-D25A-1ABE-EDEF3FBE45A3}"/>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441117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1B07-2BD0-14BB-A026-9778FD1DB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9161E3-4573-BF25-777B-7D1A1676B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DDC3A5-3389-35F9-107B-9DF5D67C0A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D704B6-5E49-D0C4-6253-660E8948F551}"/>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6" name="Footer Placeholder 5">
            <a:extLst>
              <a:ext uri="{FF2B5EF4-FFF2-40B4-BE49-F238E27FC236}">
                <a16:creationId xmlns:a16="http://schemas.microsoft.com/office/drawing/2014/main" id="{9E008D6A-4702-A8B3-B553-44519BB9A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8EBCCD-A3A8-75EA-E7A9-DE8EFD5FA5FA}"/>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801354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E2E1-B99D-2E3F-11B4-C6C0421C9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2EAFE1-8CA5-DB90-2AD3-C9D8DD9982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E8EBA9-1827-8179-9382-947784F1B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7E05C-BEA4-C3AC-6BB0-C5780885C0F1}"/>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6" name="Footer Placeholder 5">
            <a:extLst>
              <a:ext uri="{FF2B5EF4-FFF2-40B4-BE49-F238E27FC236}">
                <a16:creationId xmlns:a16="http://schemas.microsoft.com/office/drawing/2014/main" id="{170C22A2-42AE-1D0A-E215-F0B1B13957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8714AA-1D7A-CCCC-A586-2C35796AA484}"/>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40093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E671-8431-48C0-74F6-67B27EE8E1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6A9C17-D73A-7A02-2FBA-55C7A7604F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0C41B-1501-F2D1-60D9-7FAFB4720C7C}"/>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5" name="Footer Placeholder 4">
            <a:extLst>
              <a:ext uri="{FF2B5EF4-FFF2-40B4-BE49-F238E27FC236}">
                <a16:creationId xmlns:a16="http://schemas.microsoft.com/office/drawing/2014/main" id="{D0ABD677-6949-3986-FD0E-38423ADF4F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1C1F5-E83C-0DB8-6810-9164D5D38324}"/>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19064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8A2643-5646-3407-0C5D-52273635C1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AC5F68-F475-5ADF-4846-32F86CF74D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4BBE31-7A33-2BE3-48BC-FBF14BFB59FD}"/>
              </a:ext>
            </a:extLst>
          </p:cNvPr>
          <p:cNvSpPr>
            <a:spLocks noGrp="1"/>
          </p:cNvSpPr>
          <p:nvPr>
            <p:ph type="dt" sz="half" idx="10"/>
          </p:nvPr>
        </p:nvSpPr>
        <p:spPr/>
        <p:txBody>
          <a:bodyPr/>
          <a:lstStyle/>
          <a:p>
            <a:fld id="{3314DD1A-302B-431F-AE32-39DF818F9A89}" type="datetimeFigureOut">
              <a:rPr lang="en-IN" smtClean="0"/>
              <a:t>17-08-2026</a:t>
            </a:fld>
            <a:endParaRPr lang="en-IN"/>
          </a:p>
        </p:txBody>
      </p:sp>
      <p:sp>
        <p:nvSpPr>
          <p:cNvPr id="5" name="Footer Placeholder 4">
            <a:extLst>
              <a:ext uri="{FF2B5EF4-FFF2-40B4-BE49-F238E27FC236}">
                <a16:creationId xmlns:a16="http://schemas.microsoft.com/office/drawing/2014/main" id="{367BE66A-AF42-DFA4-BCF0-1ADCE4FB67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348D84-8D63-DEAB-70F7-671BE99F9586}"/>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85459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CD7D9-E6D7-4D42-7C47-EC479B534C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28CB00-FA64-10C0-4262-5223D5195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018FA2-AFBC-3F2E-6BD7-28621A31BA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14DD1A-302B-431F-AE32-39DF818F9A89}" type="datetimeFigureOut">
              <a:rPr lang="en-IN" smtClean="0"/>
              <a:t>17-08-2026</a:t>
            </a:fld>
            <a:endParaRPr lang="en-IN"/>
          </a:p>
        </p:txBody>
      </p:sp>
      <p:sp>
        <p:nvSpPr>
          <p:cNvPr id="5" name="Footer Placeholder 4">
            <a:extLst>
              <a:ext uri="{FF2B5EF4-FFF2-40B4-BE49-F238E27FC236}">
                <a16:creationId xmlns:a16="http://schemas.microsoft.com/office/drawing/2014/main" id="{1D3112DA-1FE8-D419-D22C-E863514414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C13075A-A794-03ED-66F3-FCBCDDB0CF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360181-234C-44BC-97CE-279C01F17BCF}" type="slidenum">
              <a:rPr lang="en-IN" smtClean="0"/>
              <a:t>‹#›</a:t>
            </a:fld>
            <a:endParaRPr lang="en-IN"/>
          </a:p>
        </p:txBody>
      </p:sp>
    </p:spTree>
    <p:extLst>
      <p:ext uri="{BB962C8B-B14F-4D97-AF65-F5344CB8AC3E}">
        <p14:creationId xmlns:p14="http://schemas.microsoft.com/office/powerpoint/2010/main" val="1155028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5C21-8DE0-F363-6449-80D0FB36E39C}"/>
              </a:ext>
            </a:extLst>
          </p:cNvPr>
          <p:cNvSpPr>
            <a:spLocks noGrp="1"/>
          </p:cNvSpPr>
          <p:nvPr>
            <p:ph type="ctrTitle"/>
          </p:nvPr>
        </p:nvSpPr>
        <p:spPr>
          <a:xfrm>
            <a:off x="1851722" y="54079"/>
            <a:ext cx="8658962" cy="1297857"/>
          </a:xfrm>
        </p:spPr>
        <p:txBody>
          <a:bodyPr>
            <a:noAutofit/>
          </a:bodyPr>
          <a:lstStyle/>
          <a:p>
            <a:r>
              <a:rPr lang="en-US" sz="3200" b="1" dirty="0">
                <a:solidFill>
                  <a:schemeClr val="accent1"/>
                </a:solidFill>
              </a:rPr>
              <a:t>Netflix Data Engineering Pipeline: ETL and Analytics System</a:t>
            </a:r>
            <a:endParaRPr lang="en-IN" sz="3200" b="1" dirty="0">
              <a:solidFill>
                <a:schemeClr val="accent1"/>
              </a:solidFill>
            </a:endParaRPr>
          </a:p>
        </p:txBody>
      </p:sp>
      <p:sp>
        <p:nvSpPr>
          <p:cNvPr id="3" name="Subtitle 2">
            <a:extLst>
              <a:ext uri="{FF2B5EF4-FFF2-40B4-BE49-F238E27FC236}">
                <a16:creationId xmlns:a16="http://schemas.microsoft.com/office/drawing/2014/main" id="{1D008E3C-DE53-E8AA-7050-759A8009B65E}"/>
              </a:ext>
            </a:extLst>
          </p:cNvPr>
          <p:cNvSpPr>
            <a:spLocks noGrp="1"/>
          </p:cNvSpPr>
          <p:nvPr>
            <p:ph type="subTitle" idx="1"/>
          </p:nvPr>
        </p:nvSpPr>
        <p:spPr>
          <a:xfrm>
            <a:off x="1366684" y="1297857"/>
            <a:ext cx="9144000" cy="4208207"/>
          </a:xfrm>
        </p:spPr>
        <p:txBody>
          <a:bodyPr>
            <a:normAutofit fontScale="85000" lnSpcReduction="20000"/>
          </a:bodyPr>
          <a:lstStyle/>
          <a:p>
            <a:endParaRPr lang="en-US" dirty="0">
              <a:solidFill>
                <a:srgbClr val="FF0000"/>
              </a:solidFill>
            </a:endParaRPr>
          </a:p>
          <a:p>
            <a:r>
              <a:rPr lang="en-US" dirty="0">
                <a:solidFill>
                  <a:srgbClr val="FF0000"/>
                </a:solidFill>
              </a:rPr>
              <a:t>Department of CSE</a:t>
            </a:r>
          </a:p>
          <a:p>
            <a:r>
              <a:rPr lang="en-US" dirty="0">
                <a:solidFill>
                  <a:srgbClr val="FF0000"/>
                </a:solidFill>
              </a:rPr>
              <a:t>COURSE: FUNDAMENTALS OF DATA ENGINEERING – (24DEA3101)</a:t>
            </a:r>
          </a:p>
          <a:p>
            <a:r>
              <a:rPr lang="en-US" dirty="0">
                <a:solidFill>
                  <a:srgbClr val="FF0000"/>
                </a:solidFill>
              </a:rPr>
              <a:t>SECTION-4</a:t>
            </a:r>
            <a:br>
              <a:rPr lang="en-US" dirty="0">
                <a:solidFill>
                  <a:srgbClr val="FF0000"/>
                </a:solidFill>
              </a:rPr>
            </a:br>
            <a:endParaRPr lang="en-US" dirty="0">
              <a:solidFill>
                <a:srgbClr val="FF0000"/>
              </a:solidFill>
            </a:endParaRPr>
          </a:p>
          <a:p>
            <a:r>
              <a:rPr lang="en-US" dirty="0"/>
              <a:t>Review-1</a:t>
            </a:r>
          </a:p>
          <a:p>
            <a:r>
              <a:rPr lang="en-US" dirty="0">
                <a:solidFill>
                  <a:schemeClr val="accent1"/>
                </a:solidFill>
              </a:rPr>
              <a:t>Team-10</a:t>
            </a:r>
          </a:p>
          <a:p>
            <a:r>
              <a:rPr lang="en-IN" dirty="0">
                <a:solidFill>
                  <a:srgbClr val="FF0000"/>
                </a:solidFill>
              </a:rPr>
              <a:t>Under the Guidance of</a:t>
            </a:r>
            <a:r>
              <a:rPr lang="en-US" dirty="0">
                <a:solidFill>
                  <a:srgbClr val="FF0000"/>
                </a:solidFill>
              </a:rPr>
              <a:t>: </a:t>
            </a:r>
            <a:r>
              <a:rPr lang="en-US" dirty="0"/>
              <a:t>DR.N Shirisha</a:t>
            </a:r>
            <a:br>
              <a:rPr lang="en-US" dirty="0"/>
            </a:br>
            <a:endParaRPr lang="en-US" dirty="0"/>
          </a:p>
          <a:p>
            <a:r>
              <a:rPr lang="en-US" dirty="0">
                <a:solidFill>
                  <a:srgbClr val="FF0000"/>
                </a:solidFill>
              </a:rPr>
              <a:t>Team Members</a:t>
            </a:r>
            <a:br>
              <a:rPr lang="en-US" dirty="0"/>
            </a:br>
            <a:r>
              <a:rPr lang="en-US" dirty="0"/>
              <a:t>2420030332-K.Bhavana</a:t>
            </a:r>
            <a:br>
              <a:rPr lang="en-US" dirty="0"/>
            </a:br>
            <a:r>
              <a:rPr lang="en-US" dirty="0"/>
              <a:t>2420030471-N.Nikitha Reddy</a:t>
            </a:r>
            <a:br>
              <a:rPr lang="en-US" dirty="0"/>
            </a:br>
            <a:r>
              <a:rPr lang="en-US" dirty="0"/>
              <a:t>2420030119-C.Akshara</a:t>
            </a:r>
            <a:br>
              <a:rPr lang="en-US" dirty="0"/>
            </a:br>
            <a:endParaRPr lang="en-IN" dirty="0"/>
          </a:p>
        </p:txBody>
      </p:sp>
      <p:pic>
        <p:nvPicPr>
          <p:cNvPr id="8" name="Picture 7" descr="MAPS &amp; DIRECTIONS - Best Private University in Telangana ...">
            <a:extLst>
              <a:ext uri="{FF2B5EF4-FFF2-40B4-BE49-F238E27FC236}">
                <a16:creationId xmlns:a16="http://schemas.microsoft.com/office/drawing/2014/main" id="{36CF3F77-0C8C-9554-0322-D315875C8549}"/>
              </a:ext>
            </a:extLst>
          </p:cNvPr>
          <p:cNvPicPr>
            <a:picLocks noChangeAspect="1"/>
          </p:cNvPicPr>
          <p:nvPr/>
        </p:nvPicPr>
        <p:blipFill>
          <a:blip r:embed="rId2"/>
          <a:stretch>
            <a:fillRect/>
          </a:stretch>
        </p:blipFill>
        <p:spPr>
          <a:xfrm>
            <a:off x="4244278" y="4182071"/>
            <a:ext cx="3192165" cy="2372684"/>
          </a:xfrm>
          <a:prstGeom prst="rect">
            <a:avLst/>
          </a:prstGeom>
        </p:spPr>
      </p:pic>
    </p:spTree>
    <p:extLst>
      <p:ext uri="{BB962C8B-B14F-4D97-AF65-F5344CB8AC3E}">
        <p14:creationId xmlns:p14="http://schemas.microsoft.com/office/powerpoint/2010/main" val="345653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APS &amp; DIRECTIONS - Best Private University in Telangana ...">
            <a:extLst>
              <a:ext uri="{FF2B5EF4-FFF2-40B4-BE49-F238E27FC236}">
                <a16:creationId xmlns:a16="http://schemas.microsoft.com/office/drawing/2014/main" id="{D5F410F7-2068-5B72-0371-2A26FF7D7FAC}"/>
              </a:ext>
            </a:extLst>
          </p:cNvPr>
          <p:cNvPicPr>
            <a:picLocks noChangeAspect="1"/>
          </p:cNvPicPr>
          <p:nvPr/>
        </p:nvPicPr>
        <p:blipFill>
          <a:blip r:embed="rId2"/>
          <a:stretch>
            <a:fillRect/>
          </a:stretch>
        </p:blipFill>
        <p:spPr>
          <a:xfrm>
            <a:off x="9051843" y="-888685"/>
            <a:ext cx="3140157" cy="2334027"/>
          </a:xfrm>
          <a:prstGeom prst="rect">
            <a:avLst/>
          </a:prstGeom>
        </p:spPr>
      </p:pic>
      <p:sp>
        <p:nvSpPr>
          <p:cNvPr id="2" name="Title 1">
            <a:extLst>
              <a:ext uri="{FF2B5EF4-FFF2-40B4-BE49-F238E27FC236}">
                <a16:creationId xmlns:a16="http://schemas.microsoft.com/office/drawing/2014/main" id="{FFA1AA4E-2323-79D3-4BFE-480C4F8FA66D}"/>
              </a:ext>
            </a:extLst>
          </p:cNvPr>
          <p:cNvSpPr>
            <a:spLocks noGrp="1"/>
          </p:cNvSpPr>
          <p:nvPr>
            <p:ph type="title"/>
          </p:nvPr>
        </p:nvSpPr>
        <p:spPr>
          <a:xfrm>
            <a:off x="838200" y="365125"/>
            <a:ext cx="7234084" cy="1080217"/>
          </a:xfrm>
        </p:spPr>
        <p:txBody>
          <a:bodyPr/>
          <a:lstStyle/>
          <a:p>
            <a:r>
              <a:rPr lang="en-IN" b="1" dirty="0">
                <a:solidFill>
                  <a:schemeClr val="accent1"/>
                </a:solidFill>
              </a:rPr>
              <a:t>ABSTRACT</a:t>
            </a:r>
          </a:p>
        </p:txBody>
      </p:sp>
      <p:sp>
        <p:nvSpPr>
          <p:cNvPr id="3" name="Content Placeholder 2">
            <a:extLst>
              <a:ext uri="{FF2B5EF4-FFF2-40B4-BE49-F238E27FC236}">
                <a16:creationId xmlns:a16="http://schemas.microsoft.com/office/drawing/2014/main" id="{161FC5A9-6C9F-B715-F42E-DC11952DCD46}"/>
              </a:ext>
            </a:extLst>
          </p:cNvPr>
          <p:cNvSpPr>
            <a:spLocks noGrp="1"/>
          </p:cNvSpPr>
          <p:nvPr>
            <p:ph idx="1"/>
          </p:nvPr>
        </p:nvSpPr>
        <p:spPr>
          <a:xfrm>
            <a:off x="838200" y="1445342"/>
            <a:ext cx="10515600" cy="4751285"/>
          </a:xfrm>
        </p:spPr>
        <p:txBody>
          <a:bodyPr>
            <a:normAutofit fontScale="85000" lnSpcReduction="20000"/>
          </a:bodyPr>
          <a:lstStyle/>
          <a:p>
            <a:pPr marL="0" indent="0">
              <a:buNone/>
            </a:pPr>
            <a:r>
              <a:rPr lang="en-US" dirty="0"/>
              <a:t>The Netflix Data Engineering Pipeline: ETL and Analytics System is a proposed end-to-end data engineering project that aims to process and analyze Netflix movies and TV shows data using an ETL (Extract, Transform, Load) pipeline. The project will focus on converting raw Netflix data into structured and meaningful information through data extraction, cleaning, transformation, storage, analysis, and visualization.</a:t>
            </a:r>
          </a:p>
          <a:p>
            <a:pPr marL="0" indent="0">
              <a:buNone/>
            </a:pPr>
            <a:r>
              <a:rPr lang="en-US" dirty="0"/>
              <a:t>The Netflix dataset containing approximately 8,807 records will be processed using Python and Pandas. The raw data will be cleaned to handle missing values, remove inconsistencies, and prepare it for further analysis. The transformed data will then be stored in a MySQL database, where SQL queries will be used to analyze content type, country, release year, ratings, and genres.</a:t>
            </a:r>
          </a:p>
          <a:p>
            <a:pPr marL="0" indent="0">
              <a:buNone/>
            </a:pPr>
            <a:r>
              <a:rPr lang="en-US" dirty="0"/>
              <a:t>Finally, the processed data will be connected to Microsoft Power BI to develop an interactive dashboard that will present insights such as the distribution of movies and TV shows, top content-producing countries, release-year trends, and rating distribution. This project is expected to demonstrate a complete ETL workflow and provide practical experience in modern data engineering and analytics.</a:t>
            </a:r>
            <a:endParaRPr lang="en-IN" dirty="0"/>
          </a:p>
        </p:txBody>
      </p:sp>
    </p:spTree>
    <p:extLst>
      <p:ext uri="{BB962C8B-B14F-4D97-AF65-F5344CB8AC3E}">
        <p14:creationId xmlns:p14="http://schemas.microsoft.com/office/powerpoint/2010/main" val="98499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645D0-F8C1-4767-1192-35DE61B46E00}"/>
              </a:ext>
            </a:extLst>
          </p:cNvPr>
          <p:cNvSpPr>
            <a:spLocks noGrp="1"/>
          </p:cNvSpPr>
          <p:nvPr>
            <p:ph type="title"/>
          </p:nvPr>
        </p:nvSpPr>
        <p:spPr>
          <a:xfrm>
            <a:off x="838200" y="119319"/>
            <a:ext cx="10515600" cy="989176"/>
          </a:xfrm>
        </p:spPr>
        <p:txBody>
          <a:bodyPr/>
          <a:lstStyle/>
          <a:p>
            <a:r>
              <a:rPr lang="en-US" b="1" dirty="0">
                <a:solidFill>
                  <a:schemeClr val="accent1"/>
                </a:solidFill>
              </a:rPr>
              <a:t>INTRODUCTION</a:t>
            </a:r>
            <a:endParaRPr lang="en-IN" b="1" dirty="0">
              <a:solidFill>
                <a:schemeClr val="accent1"/>
              </a:solidFill>
            </a:endParaRPr>
          </a:p>
        </p:txBody>
      </p:sp>
      <p:sp>
        <p:nvSpPr>
          <p:cNvPr id="3" name="Content Placeholder 2">
            <a:extLst>
              <a:ext uri="{FF2B5EF4-FFF2-40B4-BE49-F238E27FC236}">
                <a16:creationId xmlns:a16="http://schemas.microsoft.com/office/drawing/2014/main" id="{4211470B-FBCE-56CC-2319-24304728F5F0}"/>
              </a:ext>
            </a:extLst>
          </p:cNvPr>
          <p:cNvSpPr>
            <a:spLocks noGrp="1"/>
          </p:cNvSpPr>
          <p:nvPr>
            <p:ph idx="1"/>
          </p:nvPr>
        </p:nvSpPr>
        <p:spPr>
          <a:xfrm>
            <a:off x="838200" y="1108495"/>
            <a:ext cx="10515600" cy="5503700"/>
          </a:xfrm>
        </p:spPr>
        <p:txBody>
          <a:bodyPr>
            <a:normAutofit fontScale="77500" lnSpcReduction="20000"/>
          </a:bodyPr>
          <a:lstStyle/>
          <a:p>
            <a:pPr marL="0" indent="0">
              <a:buNone/>
            </a:pPr>
            <a:r>
              <a:rPr lang="en-US" dirty="0"/>
              <a:t>In today's digital world, organizations generate and collect large amounts of data from various sources. However, raw data often contains missing values, inconsistent information, and unstructured records, making it difficult to analyze. Data engineering plays an important role in collecting, cleaning, transforming, storing, and preparing data for analysis and decision-making.</a:t>
            </a:r>
          </a:p>
          <a:p>
            <a:pPr marL="0" indent="0">
              <a:buNone/>
            </a:pPr>
            <a:r>
              <a:rPr lang="en-US" dirty="0"/>
              <a:t>Netflix, one of the world's leading streaming platforms, provides a rich dataset containing information about movies and TV shows, including title, content type, country, release year, rating, duration, and genre. Analyzing this information can help identify trends and patterns in Netflix's content library.</a:t>
            </a:r>
          </a:p>
          <a:p>
            <a:pPr marL="0" indent="0">
              <a:buNone/>
            </a:pPr>
            <a:r>
              <a:rPr lang="en-US" dirty="0"/>
              <a:t>This project aims to develop an end-to-end Netflix Data Engineering Pipeline using Python, Pandas, MySQL, and Power BI. The project will begin by extracting the Netflix dataset, followed by cleaning and transforming the data using Python. The processed data will then be stored in a MySQL database to enable efficient querying through SQL.</a:t>
            </a:r>
          </a:p>
          <a:p>
            <a:pPr marL="0" indent="0">
              <a:buNone/>
            </a:pPr>
            <a:r>
              <a:rPr lang="en-US" dirty="0"/>
              <a:t>Finally, the database will be connected to Power BI to create an interactive dashboard that will visualize key insights such as the total number of titles, the distribution of movies and TV shows, country-wise content distribution, release-year trends, and rating analysis. Through this project, we aim to gain practical knowledge of the complete data engineering workflow, from raw data ingestion to meaningful business insights.</a:t>
            </a:r>
            <a:endParaRPr lang="en-IN" dirty="0"/>
          </a:p>
        </p:txBody>
      </p:sp>
      <p:pic>
        <p:nvPicPr>
          <p:cNvPr id="5" name="Picture 4" descr="MAPS &amp; DIRECTIONS - Best Private University in Telangana ...">
            <a:extLst>
              <a:ext uri="{FF2B5EF4-FFF2-40B4-BE49-F238E27FC236}">
                <a16:creationId xmlns:a16="http://schemas.microsoft.com/office/drawing/2014/main" id="{25F2F128-7599-6E6A-FE9C-334249BF5240}"/>
              </a:ext>
            </a:extLst>
          </p:cNvPr>
          <p:cNvPicPr>
            <a:picLocks noChangeAspect="1"/>
          </p:cNvPicPr>
          <p:nvPr/>
        </p:nvPicPr>
        <p:blipFill>
          <a:blip r:embed="rId2"/>
          <a:stretch>
            <a:fillRect/>
          </a:stretch>
        </p:blipFill>
        <p:spPr>
          <a:xfrm>
            <a:off x="9167278" y="-893925"/>
            <a:ext cx="3024722" cy="2248226"/>
          </a:xfrm>
          <a:prstGeom prst="rect">
            <a:avLst/>
          </a:prstGeom>
        </p:spPr>
      </p:pic>
    </p:spTree>
    <p:extLst>
      <p:ext uri="{BB962C8B-B14F-4D97-AF65-F5344CB8AC3E}">
        <p14:creationId xmlns:p14="http://schemas.microsoft.com/office/powerpoint/2010/main" val="553194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505</Words>
  <Application>Microsoft Office PowerPoint</Application>
  <PresentationFormat>Widescreen</PresentationFormat>
  <Paragraphs>18</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Netflix Data Engineering Pipeline: ETL and Analytics System</vt:lpstr>
      <vt:lpstr>ABSTRACT</vt:lpstr>
      <vt:lpstr>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akshara reddy</dc:creator>
  <cp:lastModifiedBy>Nikitha Reddy</cp:lastModifiedBy>
  <cp:revision>3</cp:revision>
  <dcterms:created xsi:type="dcterms:W3CDTF">2026-08-14T04:49:03Z</dcterms:created>
  <dcterms:modified xsi:type="dcterms:W3CDTF">2026-08-17T06:46:51Z</dcterms:modified>
</cp:coreProperties>
</file>