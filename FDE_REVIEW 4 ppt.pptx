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3" r:id="rId7"/>
    <p:sldId id="282" r:id="rId8"/>
    <p:sldId id="283" r:id="rId9"/>
    <p:sldId id="275" r:id="rId10"/>
    <p:sldId id="261" r:id="rId11"/>
    <p:sldId id="262" r:id="rId12"/>
    <p:sldId id="265" r:id="rId13"/>
    <p:sldId id="281" r:id="rId14"/>
    <p:sldId id="267" r:id="rId15"/>
    <p:sldId id="268" r:id="rId16"/>
    <p:sldId id="269" r:id="rId17"/>
    <p:sldId id="270" r:id="rId18"/>
    <p:sldId id="280" r:id="rId19"/>
    <p:sldId id="271" r:id="rId20"/>
    <p:sldId id="272" r:id="rId21"/>
    <p:sldId id="273" r:id="rId22"/>
    <p:sldId id="284" r:id="rId23"/>
    <p:sldId id="285" r:id="rId24"/>
    <p:sldId id="286" r:id="rId25"/>
    <p:sldId id="287" r:id="rId26"/>
    <p:sldId id="288" r:id="rId27"/>
    <p:sldId id="28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CB7548-A04B-4160-B0F6-7E95707C220C}" v="1" dt="2026-09-22T10:14:50.1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118" autoAdjust="0"/>
  </p:normalViewPr>
  <p:slideViewPr>
    <p:cSldViewPr snapToGrid="0">
      <p:cViewPr varScale="1">
        <p:scale>
          <a:sx n="77" d="100"/>
          <a:sy n="77" d="100"/>
        </p:scale>
        <p:origin x="91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itha Reddy" userId="f0e2634a2ba4f605" providerId="LiveId" clId="{FB367E6B-CB56-4F67-9C25-09E464F4CB60}"/>
    <pc:docChg chg="custSel modSld">
      <pc:chgData name="Nikitha Reddy" userId="f0e2634a2ba4f605" providerId="LiveId" clId="{FB367E6B-CB56-4F67-9C25-09E464F4CB60}" dt="2026-09-22T10:14:58.088" v="2" actId="14100"/>
      <pc:docMkLst>
        <pc:docMk/>
      </pc:docMkLst>
      <pc:sldChg chg="addSp delSp modSp mod">
        <pc:chgData name="Nikitha Reddy" userId="f0e2634a2ba4f605" providerId="LiveId" clId="{FB367E6B-CB56-4F67-9C25-09E464F4CB60}" dt="2026-09-22T10:14:58.088" v="2" actId="14100"/>
        <pc:sldMkLst>
          <pc:docMk/>
          <pc:sldMk cId="997040504" sldId="275"/>
        </pc:sldMkLst>
        <pc:picChg chg="add mod">
          <ac:chgData name="Nikitha Reddy" userId="f0e2634a2ba4f605" providerId="LiveId" clId="{FB367E6B-CB56-4F67-9C25-09E464F4CB60}" dt="2026-09-22T10:14:58.088" v="2" actId="14100"/>
          <ac:picMkLst>
            <pc:docMk/>
            <pc:sldMk cId="997040504" sldId="275"/>
            <ac:picMk id="3" creationId="{D427AA4E-4717-61C3-81E7-814B376E949D}"/>
          </ac:picMkLst>
        </pc:picChg>
        <pc:picChg chg="del">
          <ac:chgData name="Nikitha Reddy" userId="f0e2634a2ba4f605" providerId="LiveId" clId="{FB367E6B-CB56-4F67-9C25-09E464F4CB60}" dt="2026-09-22T10:14:53.895" v="1" actId="21"/>
          <ac:picMkLst>
            <pc:docMk/>
            <pc:sldMk cId="997040504" sldId="275"/>
            <ac:picMk id="5" creationId="{AFC9F6E8-97C7-0AD5-AB27-208C9893835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314DD1A-302B-431F-AE32-39DF818F9A89}" type="datetimeFigureOut">
              <a:rPr lang="en-IN" smtClean="0"/>
              <a:t>06-10-2026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2555453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14DD1A-302B-431F-AE32-39DF818F9A89}" type="datetimeFigureOut">
              <a:rPr lang="en-IN" smtClean="0"/>
              <a:t>06-10-2026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741015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14DD1A-302B-431F-AE32-39DF818F9A89}" type="datetimeFigureOut">
              <a:rPr lang="en-IN" smtClean="0"/>
              <a:t>06-10-2026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779565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314DD1A-302B-431F-AE32-39DF818F9A89}" type="datetimeFigureOut">
              <a:rPr lang="en-IN" smtClean="0"/>
              <a:t>06-10-2026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1257011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314DD1A-302B-431F-AE32-39DF818F9A89}" type="datetimeFigureOut">
              <a:rPr lang="en-IN" smtClean="0"/>
              <a:t>06-10-2026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68586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314DD1A-302B-431F-AE32-39DF818F9A89}" type="datetimeFigureOut">
              <a:rPr lang="en-IN" smtClean="0"/>
              <a:t>06-10-2026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2354602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14DD1A-302B-431F-AE32-39DF818F9A89}" type="datetimeFigureOut">
              <a:rPr lang="en-IN" smtClean="0"/>
              <a:t>06-10-2026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467311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3314DD1A-302B-431F-AE32-39DF818F9A89}" type="datetimeFigureOut">
              <a:rPr lang="en-IN" smtClean="0"/>
              <a:t>06-10-2026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174656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r>
              <a:rPr lang="en-US"/>
              <a:t>Click icon to add picture</a:t>
            </a:r>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3314DD1A-302B-431F-AE32-39DF818F9A89}" type="datetimeFigureOut">
              <a:rPr lang="en-IN" smtClean="0"/>
              <a:t>06-10-2026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2466387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14DD1A-302B-431F-AE32-39DF818F9A89}" type="datetimeFigureOut">
              <a:rPr lang="en-IN" smtClean="0"/>
              <a:t>06-10-2026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753384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14DD1A-302B-431F-AE32-39DF818F9A89}" type="datetimeFigureOut">
              <a:rPr lang="en-IN" smtClean="0"/>
              <a:t>06-10-2026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621619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3314DD1A-302B-431F-AE32-39DF818F9A89}" type="datetimeFigureOut">
              <a:rPr lang="en-IN" smtClean="0"/>
              <a:t>06-10-2026</a:t>
            </a:fld>
            <a:endParaRPr lang="en-IN"/>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8360181-234C-44BC-97CE-279C01F17BCF}" type="slidenum">
              <a:rPr lang="en-IN" smtClean="0"/>
              <a:t>‹#›</a:t>
            </a:fld>
            <a:endParaRPr lang="en-IN"/>
          </a:p>
        </p:txBody>
      </p:sp>
    </p:spTree>
    <p:extLst>
      <p:ext uri="{BB962C8B-B14F-4D97-AF65-F5344CB8AC3E}">
        <p14:creationId xmlns:p14="http://schemas.microsoft.com/office/powerpoint/2010/main" val="39488493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www.sciencedirect.com/science/article/abs/pii/S0957417416305309?utm_source=chatgpt.com" TargetMode="External"/><Relationship Id="rId3" Type="http://schemas.openxmlformats.org/officeDocument/2006/relationships/hyperlink" Target="https://onlinelibrary.wiley.com/doi/10.1609/aimag.v42i3.18140?utm_source=chatgpt.com" TargetMode="External"/><Relationship Id="rId7" Type="http://schemas.openxmlformats.org/officeDocument/2006/relationships/hyperlink" Target="https://escholarship.org/uc/item/0t36p3hn?utm_source=chatgpt.com" TargetMode="External"/><Relationship Id="rId2" Type="http://schemas.openxmlformats.org/officeDocument/2006/relationships/hyperlink" Target="https://doi.org/10.1145/2843948?utm_source=chatgpt.com" TargetMode="External"/><Relationship Id="rId1" Type="http://schemas.openxmlformats.org/officeDocument/2006/relationships/slideLayout" Target="../slideLayouts/slideLayout2.xml"/><Relationship Id="rId6" Type="http://schemas.openxmlformats.org/officeDocument/2006/relationships/hyperlink" Target="https://research.google/pubs/millwheel-fault-tolerant-stream-processing-at-internet-scale/?utm_source=chatgpt.com" TargetMode="External"/><Relationship Id="rId5" Type="http://schemas.openxmlformats.org/officeDocument/2006/relationships/hyperlink" Target="https://spark.apache.org/research.html?utm_source=chatgpt.com" TargetMode="External"/><Relationship Id="rId4" Type="http://schemas.openxmlformats.org/officeDocument/2006/relationships/hyperlink" Target="https://arxiv.org/abs/2308.08500?utm_source=chatgpt.com" TargetMode="External"/><Relationship Id="rId9"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8" Type="http://schemas.openxmlformats.org/officeDocument/2006/relationships/hyperlink" Target="https://parquet.apache.org/docs/?utm_source=chatgpt.com" TargetMode="External"/><Relationship Id="rId3" Type="http://schemas.openxmlformats.org/officeDocument/2006/relationships/hyperlink" Target="https://www.kaggle.com/shivamb/netflix-shows?utm_source=chatgpt.com" TargetMode="External"/><Relationship Id="rId7" Type="http://schemas.openxmlformats.org/officeDocument/2006/relationships/hyperlink" Target="https://parquet.apache.org/docs/overview/?utm_source=chatgpt.com" TargetMode="External"/><Relationship Id="rId2" Type="http://schemas.openxmlformats.org/officeDocument/2006/relationships/hyperlink" Target="https://www.kaggle.com/shivamb/netflix-shows/notebooks?utm_source=chatgpt.com" TargetMode="External"/><Relationship Id="rId1" Type="http://schemas.openxmlformats.org/officeDocument/2006/relationships/slideLayout" Target="../slideLayouts/slideLayout6.xml"/><Relationship Id="rId6" Type="http://schemas.openxmlformats.org/officeDocument/2006/relationships/hyperlink" Target="https://spark.apache.org/docs/latest/?utm_source=chatgpt.com" TargetMode="External"/><Relationship Id="rId5" Type="http://schemas.openxmlformats.org/officeDocument/2006/relationships/hyperlink" Target="https://airflow.apache.org/docs/?utm_source=chatgpt.com" TargetMode="External"/><Relationship Id="rId10" Type="http://schemas.openxmlformats.org/officeDocument/2006/relationships/hyperlink" Target="https://github.com/rfordatascience/tidytuesday/blob/main/data/2021/2021-04-20/readme.md?utm_source=chatgpt.com" TargetMode="External"/><Relationship Id="rId4" Type="http://schemas.openxmlformats.org/officeDocument/2006/relationships/hyperlink" Target="https://airflow.apache.org/docs/apache-airflow/stable/core-concepts/?utm_source=chatgpt.com" TargetMode="External"/><Relationship Id="rId9" Type="http://schemas.openxmlformats.org/officeDocument/2006/relationships/hyperlink" Target="https://www.mongodb.com/docs/?utm_source=chatgpt.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55C21-8DE0-F363-6449-80D0FB36E39C}"/>
              </a:ext>
            </a:extLst>
          </p:cNvPr>
          <p:cNvSpPr>
            <a:spLocks noGrp="1"/>
          </p:cNvSpPr>
          <p:nvPr>
            <p:ph type="ctrTitle"/>
          </p:nvPr>
        </p:nvSpPr>
        <p:spPr>
          <a:xfrm>
            <a:off x="1851722" y="54079"/>
            <a:ext cx="8658962" cy="1297857"/>
          </a:xfrm>
        </p:spPr>
        <p:txBody>
          <a:bodyPr>
            <a:noAutofit/>
          </a:bodyPr>
          <a:lstStyle/>
          <a:p>
            <a:r>
              <a:rPr lang="en-US" sz="3200" b="1" dirty="0">
                <a:solidFill>
                  <a:schemeClr val="accent1"/>
                </a:solidFill>
              </a:rPr>
              <a:t>Netflix Data Engineering Pipeline: ETL and Analytics System</a:t>
            </a:r>
            <a:endParaRPr lang="en-IN" sz="3200" b="1" dirty="0">
              <a:solidFill>
                <a:schemeClr val="accent1"/>
              </a:solidFill>
            </a:endParaRPr>
          </a:p>
        </p:txBody>
      </p:sp>
      <p:sp>
        <p:nvSpPr>
          <p:cNvPr id="3" name="Subtitle 2">
            <a:extLst>
              <a:ext uri="{FF2B5EF4-FFF2-40B4-BE49-F238E27FC236}">
                <a16:creationId xmlns:a16="http://schemas.microsoft.com/office/drawing/2014/main" id="{1D008E3C-DE53-E8AA-7050-759A8009B65E}"/>
              </a:ext>
            </a:extLst>
          </p:cNvPr>
          <p:cNvSpPr>
            <a:spLocks noGrp="1"/>
          </p:cNvSpPr>
          <p:nvPr>
            <p:ph type="subTitle" idx="1"/>
          </p:nvPr>
        </p:nvSpPr>
        <p:spPr>
          <a:xfrm>
            <a:off x="1366684" y="1297857"/>
            <a:ext cx="9144000" cy="4208207"/>
          </a:xfrm>
        </p:spPr>
        <p:txBody>
          <a:bodyPr>
            <a:normAutofit fontScale="92500" lnSpcReduction="20000"/>
          </a:bodyPr>
          <a:lstStyle/>
          <a:p>
            <a:endParaRPr lang="en-US" dirty="0">
              <a:solidFill>
                <a:srgbClr val="FF0000"/>
              </a:solidFill>
            </a:endParaRPr>
          </a:p>
          <a:p>
            <a:r>
              <a:rPr lang="en-US" dirty="0">
                <a:solidFill>
                  <a:srgbClr val="FF0000"/>
                </a:solidFill>
              </a:rPr>
              <a:t>Department of CSE</a:t>
            </a:r>
          </a:p>
          <a:p>
            <a:r>
              <a:rPr lang="en-US" dirty="0">
                <a:solidFill>
                  <a:srgbClr val="FF0000"/>
                </a:solidFill>
              </a:rPr>
              <a:t>COURSE: FUNDAMENTALS OF DATA ENGINEERING – (24DEA3101)</a:t>
            </a:r>
          </a:p>
          <a:p>
            <a:r>
              <a:rPr lang="en-US" dirty="0">
                <a:solidFill>
                  <a:srgbClr val="FF0000"/>
                </a:solidFill>
              </a:rPr>
              <a:t>SECTION-4</a:t>
            </a:r>
            <a:br>
              <a:rPr lang="en-US" dirty="0">
                <a:solidFill>
                  <a:srgbClr val="FF0000"/>
                </a:solidFill>
              </a:rPr>
            </a:br>
            <a:endParaRPr lang="en-US" dirty="0">
              <a:solidFill>
                <a:srgbClr val="FF0000"/>
              </a:solidFill>
            </a:endParaRPr>
          </a:p>
          <a:p>
            <a:r>
              <a:rPr lang="en-US" dirty="0"/>
              <a:t>Review-1</a:t>
            </a:r>
          </a:p>
          <a:p>
            <a:r>
              <a:rPr lang="en-US" dirty="0">
                <a:solidFill>
                  <a:schemeClr val="accent1"/>
                </a:solidFill>
              </a:rPr>
              <a:t>Team-10</a:t>
            </a:r>
          </a:p>
          <a:p>
            <a:r>
              <a:rPr lang="en-IN" dirty="0">
                <a:solidFill>
                  <a:srgbClr val="FF0000"/>
                </a:solidFill>
              </a:rPr>
              <a:t>Under the Guidance of</a:t>
            </a:r>
            <a:r>
              <a:rPr lang="en-US" dirty="0">
                <a:solidFill>
                  <a:srgbClr val="FF0000"/>
                </a:solidFill>
              </a:rPr>
              <a:t>: </a:t>
            </a:r>
            <a:r>
              <a:rPr lang="en-US" dirty="0"/>
              <a:t>DR.N Shirisha</a:t>
            </a:r>
            <a:br>
              <a:rPr lang="en-US" dirty="0"/>
            </a:br>
            <a:endParaRPr lang="en-US" dirty="0"/>
          </a:p>
          <a:p>
            <a:r>
              <a:rPr lang="en-US" dirty="0">
                <a:solidFill>
                  <a:srgbClr val="FF0000"/>
                </a:solidFill>
              </a:rPr>
              <a:t>Team Members</a:t>
            </a:r>
            <a:br>
              <a:rPr lang="en-US" dirty="0"/>
            </a:br>
            <a:r>
              <a:rPr lang="en-US" dirty="0"/>
              <a:t>2420030332-K.Bhavana</a:t>
            </a:r>
            <a:br>
              <a:rPr lang="en-US" dirty="0"/>
            </a:br>
            <a:r>
              <a:rPr lang="en-US" dirty="0"/>
              <a:t>2420030471-N.Nikitha Reddy</a:t>
            </a:r>
            <a:br>
              <a:rPr lang="en-US" dirty="0"/>
            </a:br>
            <a:r>
              <a:rPr lang="en-US" dirty="0"/>
              <a:t>2420030119-C.Akshara</a:t>
            </a:r>
            <a:br>
              <a:rPr lang="en-US" dirty="0"/>
            </a:br>
            <a:endParaRPr lang="en-IN" dirty="0"/>
          </a:p>
        </p:txBody>
      </p:sp>
      <p:pic>
        <p:nvPicPr>
          <p:cNvPr id="8" name="Picture 7" descr="MAPS &amp; DIRECTIONS - Best Private University in Telangana ...">
            <a:extLst>
              <a:ext uri="{FF2B5EF4-FFF2-40B4-BE49-F238E27FC236}">
                <a16:creationId xmlns:a16="http://schemas.microsoft.com/office/drawing/2014/main" id="{36CF3F77-0C8C-9554-0322-D315875C8549}"/>
              </a:ext>
            </a:extLst>
          </p:cNvPr>
          <p:cNvPicPr>
            <a:picLocks noChangeAspect="1"/>
          </p:cNvPicPr>
          <p:nvPr/>
        </p:nvPicPr>
        <p:blipFill>
          <a:blip r:embed="rId2"/>
          <a:stretch>
            <a:fillRect/>
          </a:stretch>
        </p:blipFill>
        <p:spPr>
          <a:xfrm>
            <a:off x="4244278" y="4182071"/>
            <a:ext cx="3192165" cy="2372684"/>
          </a:xfrm>
          <a:prstGeom prst="rect">
            <a:avLst/>
          </a:prstGeom>
        </p:spPr>
      </p:pic>
    </p:spTree>
    <p:extLst>
      <p:ext uri="{BB962C8B-B14F-4D97-AF65-F5344CB8AC3E}">
        <p14:creationId xmlns:p14="http://schemas.microsoft.com/office/powerpoint/2010/main" val="345653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APS &amp; DIRECTIONS - Best Private University in Telangana ...">
            <a:extLst>
              <a:ext uri="{FF2B5EF4-FFF2-40B4-BE49-F238E27FC236}">
                <a16:creationId xmlns:a16="http://schemas.microsoft.com/office/drawing/2014/main" id="{D5F410F7-2068-5B72-0371-2A26FF7D7FAC}"/>
              </a:ext>
            </a:extLst>
          </p:cNvPr>
          <p:cNvPicPr>
            <a:picLocks noChangeAspect="1"/>
          </p:cNvPicPr>
          <p:nvPr/>
        </p:nvPicPr>
        <p:blipFill>
          <a:blip r:embed="rId2"/>
          <a:stretch>
            <a:fillRect/>
          </a:stretch>
        </p:blipFill>
        <p:spPr>
          <a:xfrm>
            <a:off x="9051843" y="-888685"/>
            <a:ext cx="3140157" cy="2334027"/>
          </a:xfrm>
          <a:prstGeom prst="rect">
            <a:avLst/>
          </a:prstGeom>
        </p:spPr>
      </p:pic>
      <p:sp>
        <p:nvSpPr>
          <p:cNvPr id="2" name="Title 1">
            <a:extLst>
              <a:ext uri="{FF2B5EF4-FFF2-40B4-BE49-F238E27FC236}">
                <a16:creationId xmlns:a16="http://schemas.microsoft.com/office/drawing/2014/main" id="{FFA1AA4E-2323-79D3-4BFE-480C4F8FA66D}"/>
              </a:ext>
            </a:extLst>
          </p:cNvPr>
          <p:cNvSpPr>
            <a:spLocks noGrp="1"/>
          </p:cNvSpPr>
          <p:nvPr>
            <p:ph type="title"/>
          </p:nvPr>
        </p:nvSpPr>
        <p:spPr>
          <a:xfrm>
            <a:off x="838200" y="365125"/>
            <a:ext cx="7234084" cy="1080217"/>
          </a:xfrm>
        </p:spPr>
        <p:txBody>
          <a:bodyPr/>
          <a:lstStyle/>
          <a:p>
            <a:r>
              <a:rPr lang="en-IN" b="1" dirty="0">
                <a:solidFill>
                  <a:schemeClr val="accent1"/>
                </a:solidFill>
              </a:rPr>
              <a:t>ABSTRACT</a:t>
            </a:r>
          </a:p>
        </p:txBody>
      </p:sp>
      <p:sp>
        <p:nvSpPr>
          <p:cNvPr id="3" name="Content Placeholder 2">
            <a:extLst>
              <a:ext uri="{FF2B5EF4-FFF2-40B4-BE49-F238E27FC236}">
                <a16:creationId xmlns:a16="http://schemas.microsoft.com/office/drawing/2014/main" id="{161FC5A9-6C9F-B715-F42E-DC11952DCD46}"/>
              </a:ext>
            </a:extLst>
          </p:cNvPr>
          <p:cNvSpPr>
            <a:spLocks noGrp="1"/>
          </p:cNvSpPr>
          <p:nvPr>
            <p:ph idx="1"/>
          </p:nvPr>
        </p:nvSpPr>
        <p:spPr>
          <a:xfrm>
            <a:off x="838200" y="1445342"/>
            <a:ext cx="10515600" cy="4751285"/>
          </a:xfrm>
        </p:spPr>
        <p:txBody>
          <a:bodyPr>
            <a:normAutofit/>
          </a:bodyPr>
          <a:lstStyle/>
          <a:p>
            <a:pPr marL="0" indent="0">
              <a:buNone/>
            </a:pPr>
            <a:r>
              <a:rPr lang="en-IN" dirty="0"/>
              <a:t>The Netflix Data Engineering Pipeline is an end-to-end data engineering and analytics system developed to process Netflix movies and TV shows data. The pipeline automates data ingestion, cleaning, validation, transformation, storage, analytics, and recommendation generation.</a:t>
            </a:r>
          </a:p>
          <a:p>
            <a:pPr marL="0" indent="0">
              <a:buNone/>
            </a:pPr>
            <a:r>
              <a:rPr lang="en-IN" dirty="0"/>
              <a:t>The raw Netflix dataset is processed using Python and Pandas, followed by </a:t>
            </a:r>
            <a:r>
              <a:rPr lang="en-IN" dirty="0" err="1"/>
              <a:t>PySpark</a:t>
            </a:r>
            <a:r>
              <a:rPr lang="en-IN" dirty="0"/>
              <a:t>-based transformation and feature engineering. The processed data is stored in MongoDB, while analytical processing generates insights related to content type, ratings, countries, genres, and release years.</a:t>
            </a:r>
          </a:p>
          <a:p>
            <a:pPr marL="0" indent="0">
              <a:buNone/>
            </a:pPr>
            <a:r>
              <a:rPr lang="en-IN" dirty="0"/>
              <a:t>A content-based recommendation system is implemented using Scikit-learn to identify similar Netflix titles. Apache Airflow is used to orchestrate the complete seven-stage pipeline, and Docker provides a containerized environment for workflow execution.</a:t>
            </a:r>
          </a:p>
          <a:p>
            <a:pPr marL="0" indent="0">
              <a:buNone/>
            </a:pPr>
            <a:r>
              <a:rPr lang="en-IN" dirty="0"/>
              <a:t>Finally, Power BI is used to create an interactive dashboard for visualizing the analytical results and presenting meaningful insights from the Netflix dataset.</a:t>
            </a:r>
          </a:p>
        </p:txBody>
      </p:sp>
    </p:spTree>
    <p:extLst>
      <p:ext uri="{BB962C8B-B14F-4D97-AF65-F5344CB8AC3E}">
        <p14:creationId xmlns:p14="http://schemas.microsoft.com/office/powerpoint/2010/main" val="984999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645D0-F8C1-4767-1192-35DE61B46E00}"/>
              </a:ext>
            </a:extLst>
          </p:cNvPr>
          <p:cNvSpPr>
            <a:spLocks noGrp="1"/>
          </p:cNvSpPr>
          <p:nvPr>
            <p:ph type="title"/>
          </p:nvPr>
        </p:nvSpPr>
        <p:spPr>
          <a:xfrm>
            <a:off x="838200" y="119319"/>
            <a:ext cx="10515600" cy="989176"/>
          </a:xfrm>
        </p:spPr>
        <p:txBody>
          <a:bodyPr/>
          <a:lstStyle/>
          <a:p>
            <a:r>
              <a:rPr lang="en-US" b="1" dirty="0">
                <a:solidFill>
                  <a:schemeClr val="accent1"/>
                </a:solidFill>
              </a:rPr>
              <a:t>INTRODUCTION</a:t>
            </a:r>
            <a:endParaRPr lang="en-IN" b="1" dirty="0">
              <a:solidFill>
                <a:schemeClr val="accent1"/>
              </a:solidFill>
            </a:endParaRPr>
          </a:p>
        </p:txBody>
      </p:sp>
      <p:sp>
        <p:nvSpPr>
          <p:cNvPr id="3" name="Content Placeholder 2">
            <a:extLst>
              <a:ext uri="{FF2B5EF4-FFF2-40B4-BE49-F238E27FC236}">
                <a16:creationId xmlns:a16="http://schemas.microsoft.com/office/drawing/2014/main" id="{4211470B-FBCE-56CC-2319-24304728F5F0}"/>
              </a:ext>
            </a:extLst>
          </p:cNvPr>
          <p:cNvSpPr>
            <a:spLocks noGrp="1"/>
          </p:cNvSpPr>
          <p:nvPr>
            <p:ph idx="1"/>
          </p:nvPr>
        </p:nvSpPr>
        <p:spPr>
          <a:xfrm>
            <a:off x="838200" y="1108495"/>
            <a:ext cx="10515600" cy="5503700"/>
          </a:xfrm>
        </p:spPr>
        <p:txBody>
          <a:bodyPr>
            <a:normAutofit/>
          </a:bodyPr>
          <a:lstStyle/>
          <a:p>
            <a:pPr marL="0" indent="0">
              <a:buNone/>
            </a:pPr>
            <a:r>
              <a:rPr lang="en-US" dirty="0"/>
              <a:t>In today's digital world, organizations generate and collect large amounts of data from various sources. However, raw data often contains missing values, inconsistent information, and unstructured records, making it difficult to analyze. Data engineering plays an important role in collecting, cleaning, transforming, storing, and preparing data for analysis and decision-making.</a:t>
            </a:r>
          </a:p>
          <a:p>
            <a:pPr marL="0" indent="0">
              <a:buNone/>
            </a:pPr>
            <a:r>
              <a:rPr lang="en-IN" dirty="0"/>
              <a:t> Netflix provides a large dataset containing information about movies and TV shows, including title, content type, country, release year, rating, duration, genre, and description.</a:t>
            </a:r>
          </a:p>
          <a:p>
            <a:pPr marL="0" indent="0">
              <a:buNone/>
            </a:pPr>
            <a:r>
              <a:rPr lang="en-IN" dirty="0"/>
              <a:t>This project develops an end-to-end data engineering pipeline that transforms raw Netflix data into structured, validated, and analytical information.</a:t>
            </a:r>
          </a:p>
          <a:p>
            <a:pPr marL="0" indent="0">
              <a:buNone/>
            </a:pPr>
            <a:r>
              <a:rPr lang="en-IN" dirty="0"/>
              <a:t>The system integrates Python, Pandas, </a:t>
            </a:r>
            <a:r>
              <a:rPr lang="en-IN" dirty="0" err="1"/>
              <a:t>PySpark</a:t>
            </a:r>
            <a:r>
              <a:rPr lang="en-IN" dirty="0"/>
              <a:t>, MongoDB, Scikit-learn, Apache Airflow, Docker, and Power BI to demonstrate the complete data engineering workflow from raw data ingestion to visualization and recommendation.</a:t>
            </a:r>
          </a:p>
          <a:p>
            <a:pPr marL="0" indent="0">
              <a:buNone/>
            </a:pPr>
            <a:endParaRPr lang="en-US" dirty="0"/>
          </a:p>
        </p:txBody>
      </p:sp>
      <p:pic>
        <p:nvPicPr>
          <p:cNvPr id="5" name="Picture 4" descr="MAPS &amp; DIRECTIONS - Best Private University in Telangana ...">
            <a:extLst>
              <a:ext uri="{FF2B5EF4-FFF2-40B4-BE49-F238E27FC236}">
                <a16:creationId xmlns:a16="http://schemas.microsoft.com/office/drawing/2014/main" id="{25F2F128-7599-6E6A-FE9C-334249BF5240}"/>
              </a:ext>
            </a:extLst>
          </p:cNvPr>
          <p:cNvPicPr>
            <a:picLocks noChangeAspect="1"/>
          </p:cNvPicPr>
          <p:nvPr/>
        </p:nvPicPr>
        <p:blipFill>
          <a:blip r:embed="rId2"/>
          <a:stretch>
            <a:fillRect/>
          </a:stretch>
        </p:blipFill>
        <p:spPr>
          <a:xfrm>
            <a:off x="9167278" y="-893925"/>
            <a:ext cx="3024722" cy="2248226"/>
          </a:xfrm>
          <a:prstGeom prst="rect">
            <a:avLst/>
          </a:prstGeom>
        </p:spPr>
      </p:pic>
    </p:spTree>
    <p:extLst>
      <p:ext uri="{BB962C8B-B14F-4D97-AF65-F5344CB8AC3E}">
        <p14:creationId xmlns:p14="http://schemas.microsoft.com/office/powerpoint/2010/main" val="553194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98444-B7E9-180C-CD17-E28CCA2A735C}"/>
              </a:ext>
            </a:extLst>
          </p:cNvPr>
          <p:cNvSpPr>
            <a:spLocks noGrp="1"/>
          </p:cNvSpPr>
          <p:nvPr>
            <p:ph type="title"/>
          </p:nvPr>
        </p:nvSpPr>
        <p:spPr>
          <a:xfrm>
            <a:off x="934064" y="0"/>
            <a:ext cx="7855975" cy="1759973"/>
          </a:xfrm>
        </p:spPr>
        <p:txBody>
          <a:bodyPr/>
          <a:lstStyle/>
          <a:p>
            <a:r>
              <a:rPr lang="en-IN" b="1" dirty="0">
                <a:solidFill>
                  <a:schemeClr val="accent1"/>
                </a:solidFill>
              </a:rPr>
              <a:t>OBJECTIVES</a:t>
            </a:r>
          </a:p>
        </p:txBody>
      </p:sp>
      <p:sp>
        <p:nvSpPr>
          <p:cNvPr id="3" name="Content Placeholder 2">
            <a:extLst>
              <a:ext uri="{FF2B5EF4-FFF2-40B4-BE49-F238E27FC236}">
                <a16:creationId xmlns:a16="http://schemas.microsoft.com/office/drawing/2014/main" id="{C62C1E8E-09F7-DC34-849A-49F552F2AB2D}"/>
              </a:ext>
            </a:extLst>
          </p:cNvPr>
          <p:cNvSpPr>
            <a:spLocks noGrp="1"/>
          </p:cNvSpPr>
          <p:nvPr>
            <p:ph idx="1"/>
          </p:nvPr>
        </p:nvSpPr>
        <p:spPr>
          <a:xfrm>
            <a:off x="934065" y="1397201"/>
            <a:ext cx="10419735" cy="5111754"/>
          </a:xfrm>
        </p:spPr>
        <p:txBody>
          <a:bodyPr/>
          <a:lstStyle/>
          <a:p>
            <a:pPr lvl="0"/>
            <a:r>
              <a:rPr lang="en-IN" dirty="0"/>
              <a:t>To develop an end-to-end Netflix data engineering pipeline. </a:t>
            </a:r>
          </a:p>
          <a:p>
            <a:pPr lvl="0"/>
            <a:r>
              <a:rPr lang="en-IN" dirty="0"/>
              <a:t>To ingest and clean raw Netflix dataset using Python and Pandas. </a:t>
            </a:r>
          </a:p>
          <a:p>
            <a:pPr lvl="0"/>
            <a:r>
              <a:rPr lang="en-IN" dirty="0"/>
              <a:t>To validate data quality and handle missing or inconsistent values. </a:t>
            </a:r>
          </a:p>
          <a:p>
            <a:pPr lvl="0"/>
            <a:r>
              <a:rPr lang="en-IN" dirty="0"/>
              <a:t>To transform and engineer features using </a:t>
            </a:r>
            <a:r>
              <a:rPr lang="en-IN" dirty="0" err="1"/>
              <a:t>PySpark</a:t>
            </a:r>
            <a:r>
              <a:rPr lang="en-IN" dirty="0"/>
              <a:t>. </a:t>
            </a:r>
          </a:p>
          <a:p>
            <a:pPr lvl="0"/>
            <a:r>
              <a:rPr lang="en-IN" dirty="0"/>
              <a:t>To store processed data in MongoDB. </a:t>
            </a:r>
          </a:p>
          <a:p>
            <a:pPr lvl="0"/>
            <a:r>
              <a:rPr lang="en-IN" dirty="0"/>
              <a:t>To perform analytical processing on Netflix content. </a:t>
            </a:r>
          </a:p>
          <a:p>
            <a:pPr lvl="0"/>
            <a:r>
              <a:rPr lang="en-IN" dirty="0"/>
              <a:t>To develop a content-based recommendation system using Scikit-learn. </a:t>
            </a:r>
          </a:p>
          <a:p>
            <a:pPr lvl="0"/>
            <a:r>
              <a:rPr lang="en-IN" dirty="0"/>
              <a:t>To orchestrate the complete pipeline using Apache Airflow. </a:t>
            </a:r>
          </a:p>
          <a:p>
            <a:pPr lvl="0"/>
            <a:r>
              <a:rPr lang="en-IN" dirty="0"/>
              <a:t>To visualize analytical results using Microsoft Power BI.</a:t>
            </a:r>
          </a:p>
          <a:p>
            <a:pPr marL="0" indent="0">
              <a:buNone/>
            </a:pPr>
            <a:endParaRPr lang="en-IN" dirty="0"/>
          </a:p>
        </p:txBody>
      </p:sp>
      <p:pic>
        <p:nvPicPr>
          <p:cNvPr id="5" name="Picture 4" descr="MAPS &amp; DIRECTIONS - Best Private University in Telangana ...">
            <a:extLst>
              <a:ext uri="{FF2B5EF4-FFF2-40B4-BE49-F238E27FC236}">
                <a16:creationId xmlns:a16="http://schemas.microsoft.com/office/drawing/2014/main" id="{01F2230B-D8FC-CCF8-74B0-3444BCA6CF85}"/>
              </a:ext>
            </a:extLst>
          </p:cNvPr>
          <p:cNvPicPr>
            <a:picLocks noChangeAspect="1"/>
          </p:cNvPicPr>
          <p:nvPr/>
        </p:nvPicPr>
        <p:blipFill>
          <a:blip r:embed="rId2"/>
          <a:stretch>
            <a:fillRect/>
          </a:stretch>
        </p:blipFill>
        <p:spPr>
          <a:xfrm>
            <a:off x="9159998" y="-936826"/>
            <a:ext cx="3140157" cy="2334027"/>
          </a:xfrm>
          <a:prstGeom prst="rect">
            <a:avLst/>
          </a:prstGeom>
        </p:spPr>
      </p:pic>
    </p:spTree>
    <p:extLst>
      <p:ext uri="{BB962C8B-B14F-4D97-AF65-F5344CB8AC3E}">
        <p14:creationId xmlns:p14="http://schemas.microsoft.com/office/powerpoint/2010/main" val="3921095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DAE2C-DF02-AFCE-021F-29EA5382C50D}"/>
              </a:ext>
            </a:extLst>
          </p:cNvPr>
          <p:cNvSpPr>
            <a:spLocks noGrp="1"/>
          </p:cNvSpPr>
          <p:nvPr>
            <p:ph type="title"/>
          </p:nvPr>
        </p:nvSpPr>
        <p:spPr>
          <a:xfrm>
            <a:off x="523568" y="50493"/>
            <a:ext cx="10515600" cy="785249"/>
          </a:xfrm>
        </p:spPr>
        <p:txBody>
          <a:bodyPr/>
          <a:lstStyle/>
          <a:p>
            <a:r>
              <a:rPr lang="en-IN" b="1" dirty="0">
                <a:solidFill>
                  <a:schemeClr val="accent1"/>
                </a:solidFill>
              </a:rPr>
              <a:t>LITERATURE SURVEY</a:t>
            </a:r>
          </a:p>
        </p:txBody>
      </p:sp>
      <p:graphicFrame>
        <p:nvGraphicFramePr>
          <p:cNvPr id="10" name="Content Placeholder 9">
            <a:extLst>
              <a:ext uri="{FF2B5EF4-FFF2-40B4-BE49-F238E27FC236}">
                <a16:creationId xmlns:a16="http://schemas.microsoft.com/office/drawing/2014/main" id="{827CD8E7-4CE1-59C2-4E39-AA25880F3051}"/>
              </a:ext>
            </a:extLst>
          </p:cNvPr>
          <p:cNvGraphicFramePr>
            <a:graphicFrameLocks noGrp="1"/>
          </p:cNvGraphicFramePr>
          <p:nvPr>
            <p:ph idx="1"/>
            <p:extLst>
              <p:ext uri="{D42A27DB-BD31-4B8C-83A1-F6EECF244321}">
                <p14:modId xmlns:p14="http://schemas.microsoft.com/office/powerpoint/2010/main" val="2423194288"/>
              </p:ext>
            </p:extLst>
          </p:nvPr>
        </p:nvGraphicFramePr>
        <p:xfrm>
          <a:off x="523567" y="835742"/>
          <a:ext cx="11029338" cy="5738679"/>
        </p:xfrm>
        <a:graphic>
          <a:graphicData uri="http://schemas.openxmlformats.org/drawingml/2006/table">
            <a:tbl>
              <a:tblPr firstRow="1">
                <a:tableStyleId>{5C22544A-7EE6-4342-B048-85BDC9FD1C3A}</a:tableStyleId>
              </a:tblPr>
              <a:tblGrid>
                <a:gridCol w="726499">
                  <a:extLst>
                    <a:ext uri="{9D8B030D-6E8A-4147-A177-3AD203B41FA5}">
                      <a16:colId xmlns:a16="http://schemas.microsoft.com/office/drawing/2014/main" val="2947582888"/>
                    </a:ext>
                  </a:extLst>
                </a:gridCol>
                <a:gridCol w="2314937">
                  <a:extLst>
                    <a:ext uri="{9D8B030D-6E8A-4147-A177-3AD203B41FA5}">
                      <a16:colId xmlns:a16="http://schemas.microsoft.com/office/drawing/2014/main" val="1333609194"/>
                    </a:ext>
                  </a:extLst>
                </a:gridCol>
                <a:gridCol w="2013994">
                  <a:extLst>
                    <a:ext uri="{9D8B030D-6E8A-4147-A177-3AD203B41FA5}">
                      <a16:colId xmlns:a16="http://schemas.microsoft.com/office/drawing/2014/main" val="514404200"/>
                    </a:ext>
                  </a:extLst>
                </a:gridCol>
                <a:gridCol w="1990846">
                  <a:extLst>
                    <a:ext uri="{9D8B030D-6E8A-4147-A177-3AD203B41FA5}">
                      <a16:colId xmlns:a16="http://schemas.microsoft.com/office/drawing/2014/main" val="1841811207"/>
                    </a:ext>
                  </a:extLst>
                </a:gridCol>
                <a:gridCol w="2060294">
                  <a:extLst>
                    <a:ext uri="{9D8B030D-6E8A-4147-A177-3AD203B41FA5}">
                      <a16:colId xmlns:a16="http://schemas.microsoft.com/office/drawing/2014/main" val="1716764916"/>
                    </a:ext>
                  </a:extLst>
                </a:gridCol>
                <a:gridCol w="1922768">
                  <a:extLst>
                    <a:ext uri="{9D8B030D-6E8A-4147-A177-3AD203B41FA5}">
                      <a16:colId xmlns:a16="http://schemas.microsoft.com/office/drawing/2014/main" val="4012039212"/>
                    </a:ext>
                  </a:extLst>
                </a:gridCol>
              </a:tblGrid>
              <a:tr h="411071">
                <a:tc>
                  <a:txBody>
                    <a:bodyPr/>
                    <a:lstStyle/>
                    <a:p>
                      <a:pPr>
                        <a:buNone/>
                      </a:pPr>
                      <a:r>
                        <a:rPr lang="en-IN" sz="1050" dirty="0"/>
                        <a:t>No.</a:t>
                      </a:r>
                    </a:p>
                  </a:txBody>
                  <a:tcPr marL="19601" marR="19601" marT="9800" marB="9800" anchor="ctr"/>
                </a:tc>
                <a:tc>
                  <a:txBody>
                    <a:bodyPr/>
                    <a:lstStyle/>
                    <a:p>
                      <a:pPr>
                        <a:buNone/>
                      </a:pPr>
                      <a:r>
                        <a:rPr lang="en-IN" sz="1050" dirty="0"/>
                        <a:t>Authors / Year</a:t>
                      </a:r>
                    </a:p>
                  </a:txBody>
                  <a:tcPr marL="19601" marR="19601" marT="9800" marB="9800" anchor="ctr"/>
                </a:tc>
                <a:tc>
                  <a:txBody>
                    <a:bodyPr/>
                    <a:lstStyle/>
                    <a:p>
                      <a:pPr>
                        <a:buNone/>
                      </a:pPr>
                      <a:r>
                        <a:rPr lang="en-IN" sz="1050" dirty="0"/>
                        <a:t>Paper Title</a:t>
                      </a:r>
                    </a:p>
                  </a:txBody>
                  <a:tcPr marL="19601" marR="19601" marT="9800" marB="9800" anchor="ctr"/>
                </a:tc>
                <a:tc>
                  <a:txBody>
                    <a:bodyPr/>
                    <a:lstStyle/>
                    <a:p>
                      <a:pPr>
                        <a:buNone/>
                      </a:pPr>
                      <a:r>
                        <a:rPr lang="en-IN" sz="1050" dirty="0"/>
                        <a:t>Methodology</a:t>
                      </a:r>
                    </a:p>
                  </a:txBody>
                  <a:tcPr marL="19601" marR="19601" marT="9800" marB="9800" anchor="ctr"/>
                </a:tc>
                <a:tc>
                  <a:txBody>
                    <a:bodyPr/>
                    <a:lstStyle/>
                    <a:p>
                      <a:pPr>
                        <a:buNone/>
                      </a:pPr>
                      <a:r>
                        <a:rPr lang="en-IN" sz="1050"/>
                        <a:t>Key Inference</a:t>
                      </a:r>
                    </a:p>
                  </a:txBody>
                  <a:tcPr marL="19601" marR="19601" marT="9800" marB="9800" anchor="ctr"/>
                </a:tc>
                <a:tc>
                  <a:txBody>
                    <a:bodyPr/>
                    <a:lstStyle/>
                    <a:p>
                      <a:pPr>
                        <a:buNone/>
                      </a:pPr>
                      <a:r>
                        <a:rPr lang="en-IN" sz="1050"/>
                        <a:t>Limitation / Future Work</a:t>
                      </a:r>
                    </a:p>
                  </a:txBody>
                  <a:tcPr marL="19601" marR="19601" marT="9800" marB="9800" anchor="ctr"/>
                </a:tc>
                <a:extLst>
                  <a:ext uri="{0D108BD9-81ED-4DB2-BD59-A6C34878D82A}">
                    <a16:rowId xmlns:a16="http://schemas.microsoft.com/office/drawing/2014/main" val="3451533416"/>
                  </a:ext>
                </a:extLst>
              </a:tr>
              <a:tr h="665951">
                <a:tc>
                  <a:txBody>
                    <a:bodyPr/>
                    <a:lstStyle/>
                    <a:p>
                      <a:pPr>
                        <a:buNone/>
                      </a:pPr>
                      <a:r>
                        <a:rPr lang="en-IN" sz="1050"/>
                        <a:t>1</a:t>
                      </a:r>
                    </a:p>
                  </a:txBody>
                  <a:tcPr marL="19601" marR="19601" marT="9800" marB="9800" anchor="ctr"/>
                </a:tc>
                <a:tc>
                  <a:txBody>
                    <a:bodyPr/>
                    <a:lstStyle/>
                    <a:p>
                      <a:pPr>
                        <a:buNone/>
                      </a:pPr>
                      <a:r>
                        <a:rPr lang="en-IN" sz="1050"/>
                        <a:t>Gómez-Uribe &amp; Hunt (2015)</a:t>
                      </a:r>
                    </a:p>
                  </a:txBody>
                  <a:tcPr marL="19601" marR="19601" marT="9800" marB="9800" anchor="ctr"/>
                </a:tc>
                <a:tc>
                  <a:txBody>
                    <a:bodyPr/>
                    <a:lstStyle/>
                    <a:p>
                      <a:pPr>
                        <a:buNone/>
                      </a:pPr>
                      <a:r>
                        <a:rPr lang="en-IN" sz="1050"/>
                        <a:t>The Netflix Recommender System: Algorithms, Business Value, and Innovation</a:t>
                      </a:r>
                    </a:p>
                  </a:txBody>
                  <a:tcPr marL="19601" marR="19601" marT="9800" marB="9800" anchor="ctr"/>
                </a:tc>
                <a:tc>
                  <a:txBody>
                    <a:bodyPr/>
                    <a:lstStyle/>
                    <a:p>
                      <a:pPr>
                        <a:buNone/>
                      </a:pPr>
                      <a:r>
                        <a:rPr lang="en-IN" sz="1050" dirty="0"/>
                        <a:t>Uses large-scale user interaction data, recommendation algorithms, offline experiments and A/B testing.</a:t>
                      </a:r>
                    </a:p>
                  </a:txBody>
                  <a:tcPr marL="19601" marR="19601" marT="9800" marB="9800" anchor="ctr"/>
                </a:tc>
                <a:tc>
                  <a:txBody>
                    <a:bodyPr/>
                    <a:lstStyle/>
                    <a:p>
                      <a:pPr>
                        <a:buNone/>
                      </a:pPr>
                      <a:r>
                        <a:rPr lang="en-IN" sz="1050"/>
                        <a:t>Data-driven recommendation systems can improve user engagement and retention.</a:t>
                      </a:r>
                    </a:p>
                  </a:txBody>
                  <a:tcPr marL="19601" marR="19601" marT="9800" marB="9800" anchor="ctr"/>
                </a:tc>
                <a:tc>
                  <a:txBody>
                    <a:bodyPr/>
                    <a:lstStyle/>
                    <a:p>
                      <a:pPr>
                        <a:buNone/>
                      </a:pPr>
                      <a:r>
                        <a:rPr lang="en-IN" sz="1050"/>
                        <a:t>Requires continuous experimentation and large-scale data processing. (</a:t>
                      </a:r>
                      <a:r>
                        <a:rPr lang="en-IN" sz="1050">
                          <a:hlinkClick r:id="rId2" tooltip="The Netflix Recommender System: Algorithms, Business Value, and Innovation: ACM Transactions on Management Information Systems: Vol 6, No 4"/>
                        </a:rPr>
                        <a:t>DOI</a:t>
                      </a:r>
                      <a:r>
                        <a:rPr lang="en-IN" sz="1050"/>
                        <a:t>)</a:t>
                      </a:r>
                    </a:p>
                  </a:txBody>
                  <a:tcPr marL="19601" marR="19601" marT="9800" marB="9800" anchor="ctr"/>
                </a:tc>
                <a:extLst>
                  <a:ext uri="{0D108BD9-81ED-4DB2-BD59-A6C34878D82A}">
                    <a16:rowId xmlns:a16="http://schemas.microsoft.com/office/drawing/2014/main" val="4111604147"/>
                  </a:ext>
                </a:extLst>
              </a:tr>
              <a:tr h="665951">
                <a:tc>
                  <a:txBody>
                    <a:bodyPr/>
                    <a:lstStyle/>
                    <a:p>
                      <a:pPr>
                        <a:buNone/>
                      </a:pPr>
                      <a:r>
                        <a:rPr lang="en-IN" sz="1050" dirty="0"/>
                        <a:t>2</a:t>
                      </a:r>
                    </a:p>
                  </a:txBody>
                  <a:tcPr marL="19601" marR="19601" marT="9800" marB="9800" anchor="ctr"/>
                </a:tc>
                <a:tc>
                  <a:txBody>
                    <a:bodyPr/>
                    <a:lstStyle/>
                    <a:p>
                      <a:pPr>
                        <a:buNone/>
                      </a:pPr>
                      <a:r>
                        <a:rPr lang="en-IN" sz="1050" dirty="0"/>
                        <a:t>Steck et al. (2021)</a:t>
                      </a:r>
                    </a:p>
                  </a:txBody>
                  <a:tcPr marL="19601" marR="19601" marT="9800" marB="9800" anchor="ctr"/>
                </a:tc>
                <a:tc>
                  <a:txBody>
                    <a:bodyPr/>
                    <a:lstStyle/>
                    <a:p>
                      <a:pPr>
                        <a:buNone/>
                      </a:pPr>
                      <a:r>
                        <a:rPr lang="en-IN" sz="1050"/>
                        <a:t>Deep Learning for Recommender Systems: A Netflix Case Study</a:t>
                      </a:r>
                    </a:p>
                  </a:txBody>
                  <a:tcPr marL="19601" marR="19601" marT="9800" marB="9800" anchor="ctr"/>
                </a:tc>
                <a:tc>
                  <a:txBody>
                    <a:bodyPr/>
                    <a:lstStyle/>
                    <a:p>
                      <a:pPr>
                        <a:buNone/>
                      </a:pPr>
                      <a:r>
                        <a:rPr lang="en-IN" sz="1050"/>
                        <a:t>Applies deep-learning models to heterogeneous Netflix user and content data for personalized ranking.</a:t>
                      </a:r>
                    </a:p>
                  </a:txBody>
                  <a:tcPr marL="19601" marR="19601" marT="9800" marB="9800" anchor="ctr"/>
                </a:tc>
                <a:tc>
                  <a:txBody>
                    <a:bodyPr/>
                    <a:lstStyle/>
                    <a:p>
                      <a:pPr>
                        <a:buNone/>
                      </a:pPr>
                      <a:r>
                        <a:rPr lang="en-IN" sz="1050"/>
                        <a:t>Deep learning becomes more effective when diverse features are incorporated into the data pipeline.</a:t>
                      </a:r>
                    </a:p>
                  </a:txBody>
                  <a:tcPr marL="19601" marR="19601" marT="9800" marB="9800" anchor="ctr"/>
                </a:tc>
                <a:tc>
                  <a:txBody>
                    <a:bodyPr/>
                    <a:lstStyle/>
                    <a:p>
                      <a:pPr>
                        <a:buNone/>
                      </a:pPr>
                      <a:r>
                        <a:rPr lang="en-IN" sz="1050"/>
                        <a:t>Offline and online performance can differ; maintaining large-scale ML pipelines is challenging. (</a:t>
                      </a:r>
                      <a:r>
                        <a:rPr lang="en-IN" sz="1050">
                          <a:hlinkClick r:id="rId3" tooltip="Deep learning for recommender systems: A Netflix case study"/>
                        </a:rPr>
                        <a:t>Wiley Online Library</a:t>
                      </a:r>
                      <a:r>
                        <a:rPr lang="en-IN" sz="1050"/>
                        <a:t>)</a:t>
                      </a:r>
                    </a:p>
                  </a:txBody>
                  <a:tcPr marL="19601" marR="19601" marT="9800" marB="9800" anchor="ctr"/>
                </a:tc>
                <a:extLst>
                  <a:ext uri="{0D108BD9-81ED-4DB2-BD59-A6C34878D82A}">
                    <a16:rowId xmlns:a16="http://schemas.microsoft.com/office/drawing/2014/main" val="3873930057"/>
                  </a:ext>
                </a:extLst>
              </a:tr>
              <a:tr h="665951">
                <a:tc>
                  <a:txBody>
                    <a:bodyPr/>
                    <a:lstStyle/>
                    <a:p>
                      <a:pPr>
                        <a:buNone/>
                      </a:pPr>
                      <a:r>
                        <a:rPr lang="en-IN" sz="1050"/>
                        <a:t>3</a:t>
                      </a:r>
                    </a:p>
                  </a:txBody>
                  <a:tcPr marL="19601" marR="19601" marT="9800" marB="9800" anchor="ctr"/>
                </a:tc>
                <a:tc>
                  <a:txBody>
                    <a:bodyPr/>
                    <a:lstStyle/>
                    <a:p>
                      <a:pPr>
                        <a:buNone/>
                      </a:pPr>
                      <a:r>
                        <a:rPr lang="en-IN" sz="1050" dirty="0" err="1"/>
                        <a:t>Nagrecha</a:t>
                      </a:r>
                      <a:r>
                        <a:rPr lang="en-IN" sz="1050" dirty="0"/>
                        <a:t> et al. (2023)</a:t>
                      </a:r>
                    </a:p>
                  </a:txBody>
                  <a:tcPr marL="19601" marR="19601" marT="9800" marB="9800" anchor="ctr"/>
                </a:tc>
                <a:tc>
                  <a:txBody>
                    <a:bodyPr/>
                    <a:lstStyle/>
                    <a:p>
                      <a:pPr>
                        <a:buNone/>
                      </a:pPr>
                      <a:r>
                        <a:rPr lang="en-IN" sz="1050" dirty="0" err="1"/>
                        <a:t>InTune</a:t>
                      </a:r>
                      <a:r>
                        <a:rPr lang="en-IN" sz="1050" dirty="0"/>
                        <a:t>: Reinforcement Learning-based Data Pipeline Optimization for Deep Recommendation Models</a:t>
                      </a:r>
                    </a:p>
                  </a:txBody>
                  <a:tcPr marL="19601" marR="19601" marT="9800" marB="9800" anchor="ctr"/>
                </a:tc>
                <a:tc>
                  <a:txBody>
                    <a:bodyPr/>
                    <a:lstStyle/>
                    <a:p>
                      <a:pPr>
                        <a:buNone/>
                      </a:pPr>
                      <a:r>
                        <a:rPr lang="en-IN" sz="1050" dirty="0"/>
                        <a:t>Studies real-world Netflix data-ingestion pipelines and applies reinforcement learning to optimize pipeline performance.</a:t>
                      </a:r>
                    </a:p>
                  </a:txBody>
                  <a:tcPr marL="19601" marR="19601" marT="9800" marB="9800" anchor="ctr"/>
                </a:tc>
                <a:tc>
                  <a:txBody>
                    <a:bodyPr/>
                    <a:lstStyle/>
                    <a:p>
                      <a:pPr>
                        <a:buNone/>
                      </a:pPr>
                      <a:r>
                        <a:rPr lang="en-IN" sz="1050"/>
                        <a:t>Data ingestion can become a major bottleneck in large-scale recommendation-model training.</a:t>
                      </a:r>
                    </a:p>
                  </a:txBody>
                  <a:tcPr marL="19601" marR="19601" marT="9800" marB="9800" anchor="ctr"/>
                </a:tc>
                <a:tc>
                  <a:txBody>
                    <a:bodyPr/>
                    <a:lstStyle/>
                    <a:p>
                      <a:pPr>
                        <a:buNone/>
                      </a:pPr>
                      <a:r>
                        <a:rPr lang="en-IN" sz="1050"/>
                        <a:t>Pipeline optimization becomes difficult as data volume and processing requirements increase. (</a:t>
                      </a:r>
                      <a:r>
                        <a:rPr lang="en-IN" sz="1050">
                          <a:hlinkClick r:id="rId4" tooltip="InTune: Reinforcement Learning-based Data Pipeline Optimization for Deep Recommendation Models"/>
                        </a:rPr>
                        <a:t>arXiv</a:t>
                      </a:r>
                      <a:r>
                        <a:rPr lang="en-IN" sz="1050"/>
                        <a:t>)</a:t>
                      </a:r>
                    </a:p>
                  </a:txBody>
                  <a:tcPr marL="19601" marR="19601" marT="9800" marB="9800" anchor="ctr"/>
                </a:tc>
                <a:extLst>
                  <a:ext uri="{0D108BD9-81ED-4DB2-BD59-A6C34878D82A}">
                    <a16:rowId xmlns:a16="http://schemas.microsoft.com/office/drawing/2014/main" val="76062257"/>
                  </a:ext>
                </a:extLst>
              </a:tr>
              <a:tr h="665951">
                <a:tc>
                  <a:txBody>
                    <a:bodyPr/>
                    <a:lstStyle/>
                    <a:p>
                      <a:pPr>
                        <a:buNone/>
                      </a:pPr>
                      <a:r>
                        <a:rPr lang="en-IN" sz="1050"/>
                        <a:t>4</a:t>
                      </a:r>
                    </a:p>
                  </a:txBody>
                  <a:tcPr marL="19601" marR="19601" marT="9800" marB="9800" anchor="ctr"/>
                </a:tc>
                <a:tc>
                  <a:txBody>
                    <a:bodyPr/>
                    <a:lstStyle/>
                    <a:p>
                      <a:pPr>
                        <a:buNone/>
                      </a:pPr>
                      <a:r>
                        <a:rPr lang="en-IN" sz="1050"/>
                        <a:t>Zaharia et al. (2012)</a:t>
                      </a:r>
                    </a:p>
                  </a:txBody>
                  <a:tcPr marL="19601" marR="19601" marT="9800" marB="9800" anchor="ctr"/>
                </a:tc>
                <a:tc>
                  <a:txBody>
                    <a:bodyPr/>
                    <a:lstStyle/>
                    <a:p>
                      <a:pPr>
                        <a:buNone/>
                      </a:pPr>
                      <a:r>
                        <a:rPr lang="en-IN" sz="1050"/>
                        <a:t>Resilient Distributed Datasets: A Fault-Tolerant Abstraction for In-Memory Cluster Computing</a:t>
                      </a:r>
                    </a:p>
                  </a:txBody>
                  <a:tcPr marL="19601" marR="19601" marT="9800" marB="9800" anchor="ctr"/>
                </a:tc>
                <a:tc>
                  <a:txBody>
                    <a:bodyPr/>
                    <a:lstStyle/>
                    <a:p>
                      <a:pPr>
                        <a:buNone/>
                      </a:pPr>
                      <a:r>
                        <a:rPr lang="en-IN" sz="1050"/>
                        <a:t>Introduces RDDs for distributed, fault-tolerant in-memory processing using Spark.</a:t>
                      </a:r>
                    </a:p>
                  </a:txBody>
                  <a:tcPr marL="19601" marR="19601" marT="9800" marB="9800" anchor="ctr"/>
                </a:tc>
                <a:tc>
                  <a:txBody>
                    <a:bodyPr/>
                    <a:lstStyle/>
                    <a:p>
                      <a:pPr>
                        <a:buNone/>
                      </a:pPr>
                      <a:r>
                        <a:rPr lang="en-IN" sz="1050"/>
                        <a:t>Distributed in-memory processing can significantly improve iterative data-processing workloads.</a:t>
                      </a:r>
                    </a:p>
                  </a:txBody>
                  <a:tcPr marL="19601" marR="19601" marT="9800" marB="9800" anchor="ctr"/>
                </a:tc>
                <a:tc>
                  <a:txBody>
                    <a:bodyPr/>
                    <a:lstStyle/>
                    <a:p>
                      <a:pPr>
                        <a:buNone/>
                      </a:pPr>
                      <a:r>
                        <a:rPr lang="en-IN" sz="1050"/>
                        <a:t>Requires cluster resources and careful memory management. (</a:t>
                      </a:r>
                      <a:r>
                        <a:rPr lang="en-IN" sz="1050">
                          <a:hlinkClick r:id="rId5" tooltip="Research | Apache Spark"/>
                        </a:rPr>
                        <a:t>Apache Spark</a:t>
                      </a:r>
                      <a:r>
                        <a:rPr lang="en-IN" sz="1050"/>
                        <a:t>)</a:t>
                      </a:r>
                    </a:p>
                  </a:txBody>
                  <a:tcPr marL="19601" marR="19601" marT="9800" marB="9800" anchor="ctr"/>
                </a:tc>
                <a:extLst>
                  <a:ext uri="{0D108BD9-81ED-4DB2-BD59-A6C34878D82A}">
                    <a16:rowId xmlns:a16="http://schemas.microsoft.com/office/drawing/2014/main" val="1139016030"/>
                  </a:ext>
                </a:extLst>
              </a:tr>
              <a:tr h="665951">
                <a:tc>
                  <a:txBody>
                    <a:bodyPr/>
                    <a:lstStyle/>
                    <a:p>
                      <a:pPr>
                        <a:buNone/>
                      </a:pPr>
                      <a:r>
                        <a:rPr lang="en-IN" sz="1050"/>
                        <a:t>5</a:t>
                      </a:r>
                    </a:p>
                  </a:txBody>
                  <a:tcPr marL="19601" marR="19601" marT="9800" marB="9800" anchor="ctr"/>
                </a:tc>
                <a:tc>
                  <a:txBody>
                    <a:bodyPr/>
                    <a:lstStyle/>
                    <a:p>
                      <a:pPr>
                        <a:buNone/>
                      </a:pPr>
                      <a:r>
                        <a:rPr lang="en-IN" sz="1050"/>
                        <a:t>Zaharia et al. (2013)</a:t>
                      </a:r>
                    </a:p>
                  </a:txBody>
                  <a:tcPr marL="19601" marR="19601" marT="9800" marB="9800" anchor="ctr"/>
                </a:tc>
                <a:tc>
                  <a:txBody>
                    <a:bodyPr/>
                    <a:lstStyle/>
                    <a:p>
                      <a:pPr>
                        <a:buNone/>
                      </a:pPr>
                      <a:r>
                        <a:rPr lang="en-IN" sz="1050"/>
                        <a:t>Discretized Streams: An Efficient and Fault-Tolerant Model for Stream Processing on Large Clusters</a:t>
                      </a:r>
                    </a:p>
                  </a:txBody>
                  <a:tcPr marL="19601" marR="19601" marT="9800" marB="9800" anchor="ctr"/>
                </a:tc>
                <a:tc>
                  <a:txBody>
                    <a:bodyPr/>
                    <a:lstStyle/>
                    <a:p>
                      <a:pPr>
                        <a:buNone/>
                      </a:pPr>
                      <a:r>
                        <a:rPr lang="en-IN" sz="1050"/>
                        <a:t>Processes streaming data as small batches with fault-tolerant distributed computation.</a:t>
                      </a:r>
                    </a:p>
                  </a:txBody>
                  <a:tcPr marL="19601" marR="19601" marT="9800" marB="9800" anchor="ctr"/>
                </a:tc>
                <a:tc>
                  <a:txBody>
                    <a:bodyPr/>
                    <a:lstStyle/>
                    <a:p>
                      <a:pPr>
                        <a:buNone/>
                      </a:pPr>
                      <a:r>
                        <a:rPr lang="en-IN" sz="1050" dirty="0"/>
                        <a:t>Provides scalable and fault-tolerant real-time stream processing.</a:t>
                      </a:r>
                    </a:p>
                  </a:txBody>
                  <a:tcPr marL="19601" marR="19601" marT="9800" marB="9800" anchor="ctr"/>
                </a:tc>
                <a:tc>
                  <a:txBody>
                    <a:bodyPr/>
                    <a:lstStyle/>
                    <a:p>
                      <a:pPr>
                        <a:buNone/>
                      </a:pPr>
                      <a:r>
                        <a:rPr lang="en-IN" sz="1050"/>
                        <a:t>Micro-batch processing may introduce latency compared with true record-at-a-time processing. (</a:t>
                      </a:r>
                      <a:r>
                        <a:rPr lang="en-IN" sz="1050">
                          <a:hlinkClick r:id="rId5" tooltip="Research | Apache Spark"/>
                        </a:rPr>
                        <a:t>Apache Spark</a:t>
                      </a:r>
                      <a:r>
                        <a:rPr lang="en-IN" sz="1050"/>
                        <a:t>)</a:t>
                      </a:r>
                    </a:p>
                  </a:txBody>
                  <a:tcPr marL="19601" marR="19601" marT="9800" marB="9800" anchor="ctr"/>
                </a:tc>
                <a:extLst>
                  <a:ext uri="{0D108BD9-81ED-4DB2-BD59-A6C34878D82A}">
                    <a16:rowId xmlns:a16="http://schemas.microsoft.com/office/drawing/2014/main" val="1071435799"/>
                  </a:ext>
                </a:extLst>
              </a:tr>
              <a:tr h="665951">
                <a:tc>
                  <a:txBody>
                    <a:bodyPr/>
                    <a:lstStyle/>
                    <a:p>
                      <a:pPr>
                        <a:buNone/>
                      </a:pPr>
                      <a:r>
                        <a:rPr lang="en-IN" sz="1050"/>
                        <a:t>6</a:t>
                      </a:r>
                    </a:p>
                  </a:txBody>
                  <a:tcPr marL="19601" marR="19601" marT="9800" marB="9800" anchor="ctr"/>
                </a:tc>
                <a:tc>
                  <a:txBody>
                    <a:bodyPr/>
                    <a:lstStyle/>
                    <a:p>
                      <a:pPr>
                        <a:buNone/>
                      </a:pPr>
                      <a:r>
                        <a:rPr lang="en-IN" sz="1050"/>
                        <a:t>Akidau et al. (2013)</a:t>
                      </a:r>
                    </a:p>
                  </a:txBody>
                  <a:tcPr marL="19601" marR="19601" marT="9800" marB="9800" anchor="ctr"/>
                </a:tc>
                <a:tc>
                  <a:txBody>
                    <a:bodyPr/>
                    <a:lstStyle/>
                    <a:p>
                      <a:pPr>
                        <a:buNone/>
                      </a:pPr>
                      <a:r>
                        <a:rPr lang="en-IN" sz="1050"/>
                        <a:t>MillWheel: Fault-Tolerant Stream Processing at Internet Scale</a:t>
                      </a:r>
                    </a:p>
                  </a:txBody>
                  <a:tcPr marL="19601" marR="19601" marT="9800" marB="9800" anchor="ctr"/>
                </a:tc>
                <a:tc>
                  <a:txBody>
                    <a:bodyPr/>
                    <a:lstStyle/>
                    <a:p>
                      <a:pPr>
                        <a:buNone/>
                      </a:pPr>
                      <a:r>
                        <a:rPr lang="en-IN" sz="1050"/>
                        <a:t>Uses a distributed computation graph with persistent state and continuous event processing.</a:t>
                      </a:r>
                    </a:p>
                  </a:txBody>
                  <a:tcPr marL="19601" marR="19601" marT="9800" marB="9800" anchor="ctr"/>
                </a:tc>
                <a:tc>
                  <a:txBody>
                    <a:bodyPr/>
                    <a:lstStyle/>
                    <a:p>
                      <a:pPr>
                        <a:buNone/>
                      </a:pPr>
                      <a:r>
                        <a:rPr lang="en-IN" sz="1050"/>
                        <a:t>Demonstrates how low-latency, fault-tolerant stream processing can operate at Internet scale.</a:t>
                      </a:r>
                    </a:p>
                  </a:txBody>
                  <a:tcPr marL="19601" marR="19601" marT="9800" marB="9800" anchor="ctr"/>
                </a:tc>
                <a:tc>
                  <a:txBody>
                    <a:bodyPr/>
                    <a:lstStyle/>
                    <a:p>
                      <a:pPr>
                        <a:buNone/>
                      </a:pPr>
                      <a:r>
                        <a:rPr lang="en-IN" sz="1050"/>
                        <a:t>Distributed state management and fault tolerance increase system complexity. (</a:t>
                      </a:r>
                      <a:r>
                        <a:rPr lang="en-IN" sz="1050">
                          <a:hlinkClick r:id="rId6" tooltip="MillWheel: Fault-Tolerant Stream Processing at Internet Scale"/>
                        </a:rPr>
                        <a:t>Google Research</a:t>
                      </a:r>
                      <a:r>
                        <a:rPr lang="en-IN" sz="1050"/>
                        <a:t>)</a:t>
                      </a:r>
                    </a:p>
                  </a:txBody>
                  <a:tcPr marL="19601" marR="19601" marT="9800" marB="9800" anchor="ctr"/>
                </a:tc>
                <a:extLst>
                  <a:ext uri="{0D108BD9-81ED-4DB2-BD59-A6C34878D82A}">
                    <a16:rowId xmlns:a16="http://schemas.microsoft.com/office/drawing/2014/main" val="1603034977"/>
                  </a:ext>
                </a:extLst>
              </a:tr>
              <a:tr h="665951">
                <a:tc>
                  <a:txBody>
                    <a:bodyPr/>
                    <a:lstStyle/>
                    <a:p>
                      <a:pPr>
                        <a:buNone/>
                      </a:pPr>
                      <a:r>
                        <a:rPr lang="en-IN" sz="1050"/>
                        <a:t>7</a:t>
                      </a:r>
                    </a:p>
                  </a:txBody>
                  <a:tcPr marL="19601" marR="19601" marT="9800" marB="9800" anchor="ctr"/>
                </a:tc>
                <a:tc>
                  <a:txBody>
                    <a:bodyPr/>
                    <a:lstStyle/>
                    <a:p>
                      <a:pPr>
                        <a:buNone/>
                      </a:pPr>
                      <a:r>
                        <a:rPr lang="en-IN" sz="1050"/>
                        <a:t>Kiran et al. (2015)</a:t>
                      </a:r>
                    </a:p>
                  </a:txBody>
                  <a:tcPr marL="19601" marR="19601" marT="9800" marB="9800" anchor="ctr"/>
                </a:tc>
                <a:tc>
                  <a:txBody>
                    <a:bodyPr/>
                    <a:lstStyle/>
                    <a:p>
                      <a:pPr>
                        <a:buNone/>
                      </a:pPr>
                      <a:r>
                        <a:rPr lang="en-IN" sz="1050" dirty="0"/>
                        <a:t>Lambda Architecture for Cost-Effective Batch and Speed Big Data Processing</a:t>
                      </a:r>
                    </a:p>
                  </a:txBody>
                  <a:tcPr marL="19601" marR="19601" marT="9800" marB="9800" anchor="ctr"/>
                </a:tc>
                <a:tc>
                  <a:txBody>
                    <a:bodyPr/>
                    <a:lstStyle/>
                    <a:p>
                      <a:pPr>
                        <a:buNone/>
                      </a:pPr>
                      <a:r>
                        <a:rPr lang="en-IN" sz="1050"/>
                        <a:t>Combines batch and real-time processing using a Lambda Architecture deployed on cloud infrastructure.</a:t>
                      </a:r>
                    </a:p>
                  </a:txBody>
                  <a:tcPr marL="19601" marR="19601" marT="9800" marB="9800" anchor="ctr"/>
                </a:tc>
                <a:tc>
                  <a:txBody>
                    <a:bodyPr/>
                    <a:lstStyle/>
                    <a:p>
                      <a:pPr>
                        <a:buNone/>
                      </a:pPr>
                      <a:r>
                        <a:rPr lang="en-IN" sz="1050"/>
                        <a:t>Combining batch and streaming layers can provide both high throughput and low-latency analytics.</a:t>
                      </a:r>
                    </a:p>
                  </a:txBody>
                  <a:tcPr marL="19601" marR="19601" marT="9800" marB="9800" anchor="ctr"/>
                </a:tc>
                <a:tc>
                  <a:txBody>
                    <a:bodyPr/>
                    <a:lstStyle/>
                    <a:p>
                      <a:pPr>
                        <a:buNone/>
                      </a:pPr>
                      <a:r>
                        <a:rPr lang="en-IN" sz="1050"/>
                        <a:t>Maintaining separate batch and streaming paths increases architectural complexity. (</a:t>
                      </a:r>
                      <a:r>
                        <a:rPr lang="en-IN" sz="1050">
                          <a:hlinkClick r:id="rId7" tooltip="Lambda Architecture for Cost-Effective Batch and Speed Big Data Processing"/>
                        </a:rPr>
                        <a:t>eScholarship</a:t>
                      </a:r>
                      <a:r>
                        <a:rPr lang="en-IN" sz="1050"/>
                        <a:t>)</a:t>
                      </a:r>
                    </a:p>
                  </a:txBody>
                  <a:tcPr marL="19601" marR="19601" marT="9800" marB="9800" anchor="ctr"/>
                </a:tc>
                <a:extLst>
                  <a:ext uri="{0D108BD9-81ED-4DB2-BD59-A6C34878D82A}">
                    <a16:rowId xmlns:a16="http://schemas.microsoft.com/office/drawing/2014/main" val="2758040922"/>
                  </a:ext>
                </a:extLst>
              </a:tr>
              <a:tr h="665951">
                <a:tc>
                  <a:txBody>
                    <a:bodyPr/>
                    <a:lstStyle/>
                    <a:p>
                      <a:pPr>
                        <a:buNone/>
                      </a:pPr>
                      <a:r>
                        <a:rPr lang="en-IN" sz="1050"/>
                        <a:t>8</a:t>
                      </a:r>
                    </a:p>
                  </a:txBody>
                  <a:tcPr marL="19601" marR="19601" marT="9800" marB="9800" anchor="ctr"/>
                </a:tc>
                <a:tc>
                  <a:txBody>
                    <a:bodyPr/>
                    <a:lstStyle/>
                    <a:p>
                      <a:pPr>
                        <a:buNone/>
                      </a:pPr>
                      <a:r>
                        <a:rPr lang="en-IN" sz="1050"/>
                        <a:t>Wei et al. (2017)</a:t>
                      </a:r>
                    </a:p>
                  </a:txBody>
                  <a:tcPr marL="19601" marR="19601" marT="9800" marB="9800" anchor="ctr"/>
                </a:tc>
                <a:tc>
                  <a:txBody>
                    <a:bodyPr/>
                    <a:lstStyle/>
                    <a:p>
                      <a:pPr>
                        <a:buNone/>
                      </a:pPr>
                      <a:r>
                        <a:rPr lang="en-IN" sz="1050"/>
                        <a:t>Collaborative Filtering and Deep Learning Based Recommendation System for Cold Start Items</a:t>
                      </a:r>
                    </a:p>
                  </a:txBody>
                  <a:tcPr marL="19601" marR="19601" marT="9800" marB="9800" anchor="ctr"/>
                </a:tc>
                <a:tc>
                  <a:txBody>
                    <a:bodyPr/>
                    <a:lstStyle/>
                    <a:p>
                      <a:pPr>
                        <a:buNone/>
                      </a:pPr>
                      <a:r>
                        <a:rPr lang="en-IN" sz="1050"/>
                        <a:t>Combines collaborative filtering with deep learning and evaluates the approach using a large Netflix movie-rating dataset.</a:t>
                      </a:r>
                    </a:p>
                  </a:txBody>
                  <a:tcPr marL="19601" marR="19601" marT="9800" marB="9800" anchor="ctr"/>
                </a:tc>
                <a:tc>
                  <a:txBody>
                    <a:bodyPr/>
                    <a:lstStyle/>
                    <a:p>
                      <a:pPr>
                        <a:buNone/>
                      </a:pPr>
                      <a:r>
                        <a:rPr lang="en-IN" sz="1050"/>
                        <a:t>Combining historical ratings with content features improves recommendations for new items.</a:t>
                      </a:r>
                    </a:p>
                  </a:txBody>
                  <a:tcPr marL="19601" marR="19601" marT="9800" marB="9800" anchor="ctr"/>
                </a:tc>
                <a:tc>
                  <a:txBody>
                    <a:bodyPr/>
                    <a:lstStyle/>
                    <a:p>
                      <a:pPr>
                        <a:buNone/>
                      </a:pPr>
                      <a:r>
                        <a:rPr lang="en-IN" sz="1050" dirty="0"/>
                        <a:t>Cold-start and model retraining remain challenging as datasets continuously change. (</a:t>
                      </a:r>
                      <a:r>
                        <a:rPr lang="en-IN" sz="1050" dirty="0">
                          <a:hlinkClick r:id="rId8" tooltip="Collaborative filtering and deep learning based recommendation system for cold start items - ScienceDirect"/>
                        </a:rPr>
                        <a:t>ScienceDirect</a:t>
                      </a:r>
                      <a:r>
                        <a:rPr lang="en-IN" sz="1050" dirty="0"/>
                        <a:t>)</a:t>
                      </a:r>
                    </a:p>
                  </a:txBody>
                  <a:tcPr marL="19601" marR="19601" marT="9800" marB="9800" anchor="ctr"/>
                </a:tc>
                <a:extLst>
                  <a:ext uri="{0D108BD9-81ED-4DB2-BD59-A6C34878D82A}">
                    <a16:rowId xmlns:a16="http://schemas.microsoft.com/office/drawing/2014/main" val="2463027342"/>
                  </a:ext>
                </a:extLst>
              </a:tr>
            </a:tbl>
          </a:graphicData>
        </a:graphic>
      </p:graphicFrame>
      <p:pic>
        <p:nvPicPr>
          <p:cNvPr id="5" name="Picture 4" descr="MAPS &amp; DIRECTIONS - Best Private University in Telangana ...">
            <a:extLst>
              <a:ext uri="{FF2B5EF4-FFF2-40B4-BE49-F238E27FC236}">
                <a16:creationId xmlns:a16="http://schemas.microsoft.com/office/drawing/2014/main" id="{B5BC41C9-04E2-901B-999F-192182CCF980}"/>
              </a:ext>
            </a:extLst>
          </p:cNvPr>
          <p:cNvPicPr>
            <a:picLocks noChangeAspect="1"/>
          </p:cNvPicPr>
          <p:nvPr/>
        </p:nvPicPr>
        <p:blipFill>
          <a:blip r:embed="rId9"/>
          <a:stretch>
            <a:fillRect/>
          </a:stretch>
        </p:blipFill>
        <p:spPr>
          <a:xfrm>
            <a:off x="9159998" y="-936826"/>
            <a:ext cx="3140157" cy="2334027"/>
          </a:xfrm>
          <a:prstGeom prst="rect">
            <a:avLst/>
          </a:prstGeom>
        </p:spPr>
      </p:pic>
    </p:spTree>
    <p:extLst>
      <p:ext uri="{BB962C8B-B14F-4D97-AF65-F5344CB8AC3E}">
        <p14:creationId xmlns:p14="http://schemas.microsoft.com/office/powerpoint/2010/main" val="773819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D6856-C883-8E3F-53FF-21D75A031ADD}"/>
              </a:ext>
            </a:extLst>
          </p:cNvPr>
          <p:cNvSpPr>
            <a:spLocks noGrp="1"/>
          </p:cNvSpPr>
          <p:nvPr>
            <p:ph type="title"/>
          </p:nvPr>
        </p:nvSpPr>
        <p:spPr>
          <a:xfrm>
            <a:off x="710381" y="355293"/>
            <a:ext cx="10515600" cy="1325563"/>
          </a:xfrm>
        </p:spPr>
        <p:txBody>
          <a:bodyPr/>
          <a:lstStyle/>
          <a:p>
            <a:r>
              <a:rPr lang="en-IN" dirty="0">
                <a:solidFill>
                  <a:schemeClr val="accent1"/>
                </a:solidFill>
              </a:rPr>
              <a:t>Methodology</a:t>
            </a:r>
          </a:p>
        </p:txBody>
      </p:sp>
      <p:sp>
        <p:nvSpPr>
          <p:cNvPr id="3" name="Content Placeholder 2">
            <a:extLst>
              <a:ext uri="{FF2B5EF4-FFF2-40B4-BE49-F238E27FC236}">
                <a16:creationId xmlns:a16="http://schemas.microsoft.com/office/drawing/2014/main" id="{CC471CB1-0F0C-21EF-93CB-06902FD62152}"/>
              </a:ext>
            </a:extLst>
          </p:cNvPr>
          <p:cNvSpPr>
            <a:spLocks noGrp="1"/>
          </p:cNvSpPr>
          <p:nvPr>
            <p:ph idx="1"/>
          </p:nvPr>
        </p:nvSpPr>
        <p:spPr>
          <a:xfrm>
            <a:off x="838200" y="1825624"/>
            <a:ext cx="10515600" cy="4958633"/>
          </a:xfrm>
        </p:spPr>
        <p:txBody>
          <a:bodyPr>
            <a:normAutofit/>
          </a:bodyPr>
          <a:lstStyle/>
          <a:p>
            <a:r>
              <a:rPr lang="en-IN" sz="1600" b="1" dirty="0"/>
              <a:t> 1. Data Ingestion</a:t>
            </a:r>
          </a:p>
          <a:p>
            <a:r>
              <a:rPr lang="en-IN" sz="1600" dirty="0"/>
              <a:t>The raw </a:t>
            </a:r>
            <a:r>
              <a:rPr lang="en-IN" sz="1600" b="1" dirty="0"/>
              <a:t>Netflix Movies and TV Shows CSV dataset</a:t>
            </a:r>
            <a:r>
              <a:rPr lang="en-IN" sz="1600" dirty="0"/>
              <a:t> is loaded using </a:t>
            </a:r>
            <a:r>
              <a:rPr lang="en-IN" sz="1600" b="1" dirty="0"/>
              <a:t>Pandas</a:t>
            </a:r>
            <a:r>
              <a:rPr lang="en-IN" sz="1600" dirty="0"/>
              <a:t>. </a:t>
            </a:r>
            <a:r>
              <a:rPr lang="en-IN" sz="1600" dirty="0" err="1"/>
              <a:t>read_csv</a:t>
            </a:r>
            <a:r>
              <a:rPr lang="en-IN" sz="1600" dirty="0"/>
              <a:t>() is used to read the dataset, and the required columns such as title, type, country, rating, genre, and release year are selected for further processing.</a:t>
            </a:r>
            <a:br>
              <a:rPr lang="en-IN" sz="1600" dirty="0"/>
            </a:br>
            <a:endParaRPr lang="en-IN" sz="1600" dirty="0"/>
          </a:p>
          <a:p>
            <a:r>
              <a:rPr lang="en-IN" sz="1600" b="1" dirty="0"/>
              <a:t>2. Data Cleaning</a:t>
            </a:r>
          </a:p>
          <a:p>
            <a:r>
              <a:rPr lang="en-IN" sz="1600" dirty="0"/>
              <a:t>The raw Netflix data is cleaned using </a:t>
            </a:r>
            <a:r>
              <a:rPr lang="en-IN" sz="1600" b="1" dirty="0"/>
              <a:t>Pandas</a:t>
            </a:r>
            <a:r>
              <a:rPr lang="en-IN" sz="1600" dirty="0"/>
              <a:t>. </a:t>
            </a:r>
            <a:r>
              <a:rPr lang="en-IN" sz="1600" dirty="0" err="1"/>
              <a:t>isnull</a:t>
            </a:r>
            <a:r>
              <a:rPr lang="en-IN" sz="1600" dirty="0"/>
              <a:t>() is used to identify missing values, while </a:t>
            </a:r>
            <a:r>
              <a:rPr lang="en-IN" sz="1600" dirty="0" err="1"/>
              <a:t>fillna</a:t>
            </a:r>
            <a:r>
              <a:rPr lang="en-IN" sz="1600" dirty="0"/>
              <a:t>() is used to handle missing values in required columns. </a:t>
            </a:r>
            <a:r>
              <a:rPr lang="en-IN" sz="1600" dirty="0" err="1"/>
              <a:t>drop_duplicates</a:t>
            </a:r>
            <a:r>
              <a:rPr lang="en-IN" sz="1600" dirty="0"/>
              <a:t>() is used to remove duplicate Netflix records. </a:t>
            </a:r>
            <a:r>
              <a:rPr lang="en-IN" sz="1600" dirty="0" err="1"/>
              <a:t>dropna</a:t>
            </a:r>
            <a:r>
              <a:rPr lang="en-IN" sz="1600" dirty="0"/>
              <a:t>() is used where records with essential missing fields need to be removed. String fields are also standardized to remove inconsistencies.</a:t>
            </a:r>
          </a:p>
          <a:p>
            <a:r>
              <a:rPr lang="en-IN" sz="1600" b="1" dirty="0"/>
              <a:t>Important functions:</a:t>
            </a:r>
            <a:r>
              <a:rPr lang="en-IN" sz="1600" dirty="0"/>
              <a:t> </a:t>
            </a:r>
            <a:r>
              <a:rPr lang="en-IN" sz="1600" dirty="0" err="1"/>
              <a:t>isnull</a:t>
            </a:r>
            <a:r>
              <a:rPr lang="en-IN" sz="1600" dirty="0"/>
              <a:t>(), </a:t>
            </a:r>
            <a:r>
              <a:rPr lang="en-IN" sz="1600" dirty="0" err="1"/>
              <a:t>fillna</a:t>
            </a:r>
            <a:r>
              <a:rPr lang="en-IN" sz="1600" dirty="0"/>
              <a:t>(), </a:t>
            </a:r>
            <a:r>
              <a:rPr lang="en-IN" sz="1600" dirty="0" err="1"/>
              <a:t>dropna</a:t>
            </a:r>
            <a:r>
              <a:rPr lang="en-IN" sz="1600" dirty="0"/>
              <a:t>(), </a:t>
            </a:r>
            <a:r>
              <a:rPr lang="en-IN" sz="1600" dirty="0" err="1"/>
              <a:t>drop_duplicates</a:t>
            </a:r>
            <a:r>
              <a:rPr lang="en-IN" sz="1600" dirty="0"/>
              <a:t>()</a:t>
            </a:r>
          </a:p>
          <a:p>
            <a:pPr marL="0" indent="0">
              <a:buNone/>
            </a:pPr>
            <a:endParaRPr lang="en-IN" sz="1600" dirty="0"/>
          </a:p>
          <a:p>
            <a:r>
              <a:rPr lang="en-IN" sz="1600" b="1" dirty="0"/>
              <a:t>3. Data Validation</a:t>
            </a:r>
          </a:p>
          <a:p>
            <a:r>
              <a:rPr lang="en-IN" sz="1600" dirty="0"/>
              <a:t>The cleaned dataset is validated before transformation. </a:t>
            </a:r>
            <a:r>
              <a:rPr lang="en-IN" sz="1600" dirty="0" err="1"/>
              <a:t>isnull</a:t>
            </a:r>
            <a:r>
              <a:rPr lang="en-IN" sz="1600" dirty="0"/>
              <a:t>().sum() is used to check whether missing values remain, and duplicated().sum() is used to verify that duplicate records have been removed. </a:t>
            </a:r>
            <a:r>
              <a:rPr lang="en-IN" sz="1600" dirty="0" err="1"/>
              <a:t>dtypes</a:t>
            </a:r>
            <a:r>
              <a:rPr lang="en-IN" sz="1600" dirty="0"/>
              <a:t> and info() are used to check the data types and structure of the dataset. Conditions are also used to verify valid release years and other required fields.</a:t>
            </a:r>
          </a:p>
          <a:p>
            <a:r>
              <a:rPr lang="en-IN" sz="1600" b="1" dirty="0"/>
              <a:t>Important functions:</a:t>
            </a:r>
            <a:r>
              <a:rPr lang="en-IN" sz="1600" dirty="0"/>
              <a:t> </a:t>
            </a:r>
            <a:r>
              <a:rPr lang="en-IN" sz="1600" dirty="0" err="1"/>
              <a:t>isnull</a:t>
            </a:r>
            <a:r>
              <a:rPr lang="en-IN" sz="1600" dirty="0"/>
              <a:t>(), duplicated(), </a:t>
            </a:r>
            <a:r>
              <a:rPr lang="en-IN" sz="1600" dirty="0" err="1"/>
              <a:t>dtypes</a:t>
            </a:r>
            <a:r>
              <a:rPr lang="en-IN" sz="1600" dirty="0"/>
              <a:t>, info()</a:t>
            </a:r>
          </a:p>
          <a:p>
            <a:pPr marL="0" indent="0">
              <a:buNone/>
            </a:pPr>
            <a:endParaRPr lang="en-IN" sz="1600" dirty="0"/>
          </a:p>
        </p:txBody>
      </p:sp>
      <p:pic>
        <p:nvPicPr>
          <p:cNvPr id="5" name="Picture 4" descr="MAPS &amp; DIRECTIONS - Best Private University in Telangana ...">
            <a:extLst>
              <a:ext uri="{FF2B5EF4-FFF2-40B4-BE49-F238E27FC236}">
                <a16:creationId xmlns:a16="http://schemas.microsoft.com/office/drawing/2014/main" id="{ABED5126-1432-188F-3B44-C9CFFA532AB7}"/>
              </a:ext>
            </a:extLst>
          </p:cNvPr>
          <p:cNvPicPr>
            <a:picLocks noChangeAspect="1"/>
          </p:cNvPicPr>
          <p:nvPr/>
        </p:nvPicPr>
        <p:blipFill>
          <a:blip r:embed="rId2"/>
          <a:stretch>
            <a:fillRect/>
          </a:stretch>
        </p:blipFill>
        <p:spPr>
          <a:xfrm>
            <a:off x="9051843" y="-884105"/>
            <a:ext cx="3140157" cy="2334027"/>
          </a:xfrm>
          <a:prstGeom prst="rect">
            <a:avLst/>
          </a:prstGeom>
        </p:spPr>
      </p:pic>
    </p:spTree>
    <p:extLst>
      <p:ext uri="{BB962C8B-B14F-4D97-AF65-F5344CB8AC3E}">
        <p14:creationId xmlns:p14="http://schemas.microsoft.com/office/powerpoint/2010/main" val="152832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9CA027-AB02-3EFF-8A88-F318455190D6}"/>
              </a:ext>
            </a:extLst>
          </p:cNvPr>
          <p:cNvSpPr txBox="1"/>
          <p:nvPr/>
        </p:nvSpPr>
        <p:spPr>
          <a:xfrm>
            <a:off x="609599" y="0"/>
            <a:ext cx="10461523" cy="5909310"/>
          </a:xfrm>
          <a:prstGeom prst="rect">
            <a:avLst/>
          </a:prstGeom>
          <a:noFill/>
        </p:spPr>
        <p:txBody>
          <a:bodyPr wrap="square">
            <a:spAutoFit/>
          </a:bodyPr>
          <a:lstStyle/>
          <a:p>
            <a:pPr>
              <a:buNone/>
            </a:pPr>
            <a:r>
              <a:rPr lang="en-IN" b="1" dirty="0"/>
              <a:t>4. </a:t>
            </a:r>
            <a:r>
              <a:rPr lang="en-IN" b="1" dirty="0" err="1"/>
              <a:t>PySpark</a:t>
            </a:r>
            <a:r>
              <a:rPr lang="en-IN" b="1" dirty="0"/>
              <a:t> Transformation</a:t>
            </a:r>
          </a:p>
          <a:p>
            <a:pPr>
              <a:buNone/>
            </a:pPr>
            <a:r>
              <a:rPr lang="en-IN" dirty="0"/>
              <a:t>The validated Netflix data is processed using </a:t>
            </a:r>
            <a:r>
              <a:rPr lang="en-IN" b="1" dirty="0" err="1"/>
              <a:t>PySpark</a:t>
            </a:r>
            <a:r>
              <a:rPr lang="en-IN" dirty="0"/>
              <a:t>. </a:t>
            </a:r>
            <a:r>
              <a:rPr lang="en-IN" dirty="0">
                <a:latin typeface="+mn-lt"/>
              </a:rPr>
              <a:t>spark.read.csv()</a:t>
            </a:r>
            <a:r>
              <a:rPr lang="en-IN" dirty="0"/>
              <a:t> is used to read the cleaned dataset into Spark. </a:t>
            </a:r>
            <a:r>
              <a:rPr lang="en-IN" dirty="0" err="1">
                <a:latin typeface="+mn-lt"/>
              </a:rPr>
              <a:t>withColumn</a:t>
            </a:r>
            <a:r>
              <a:rPr lang="en-IN" dirty="0">
                <a:latin typeface="+mn-lt"/>
              </a:rPr>
              <a:t>()</a:t>
            </a:r>
            <a:r>
              <a:rPr lang="en-IN" dirty="0"/>
              <a:t> is used to create derived features such as </a:t>
            </a:r>
            <a:r>
              <a:rPr lang="en-IN" b="1" dirty="0"/>
              <a:t>content age, genre count, and country count</a:t>
            </a:r>
            <a:r>
              <a:rPr lang="en-IN" dirty="0"/>
              <a:t>. </a:t>
            </a:r>
            <a:r>
              <a:rPr lang="en-IN" dirty="0">
                <a:latin typeface="+mn-lt"/>
              </a:rPr>
              <a:t>split()</a:t>
            </a:r>
            <a:r>
              <a:rPr lang="en-IN" dirty="0"/>
              <a:t> and </a:t>
            </a:r>
            <a:r>
              <a:rPr lang="en-IN" dirty="0">
                <a:latin typeface="+mn-lt"/>
              </a:rPr>
              <a:t>size()</a:t>
            </a:r>
            <a:r>
              <a:rPr lang="en-IN" dirty="0"/>
              <a:t> are used to calculate the number of genres and countries associated with each title. The transformed data is written in an efficient format for further processing.</a:t>
            </a:r>
          </a:p>
          <a:p>
            <a:pPr>
              <a:buNone/>
            </a:pPr>
            <a:r>
              <a:rPr lang="en-IN" b="1" dirty="0"/>
              <a:t>Important functions:</a:t>
            </a:r>
            <a:r>
              <a:rPr lang="en-IN" dirty="0"/>
              <a:t> </a:t>
            </a:r>
            <a:r>
              <a:rPr lang="en-IN" dirty="0">
                <a:latin typeface="+mn-lt"/>
              </a:rPr>
              <a:t>spark.read.csv()</a:t>
            </a:r>
            <a:r>
              <a:rPr lang="en-IN" dirty="0"/>
              <a:t>, </a:t>
            </a:r>
            <a:r>
              <a:rPr lang="en-IN" dirty="0" err="1">
                <a:latin typeface="+mn-lt"/>
              </a:rPr>
              <a:t>withColumn</a:t>
            </a:r>
            <a:r>
              <a:rPr lang="en-IN" dirty="0">
                <a:latin typeface="+mn-lt"/>
              </a:rPr>
              <a:t>()</a:t>
            </a:r>
            <a:r>
              <a:rPr lang="en-IN" dirty="0"/>
              <a:t>, </a:t>
            </a:r>
            <a:r>
              <a:rPr lang="en-IN" dirty="0">
                <a:latin typeface="+mn-lt"/>
              </a:rPr>
              <a:t>split()</a:t>
            </a:r>
            <a:r>
              <a:rPr lang="en-IN" dirty="0"/>
              <a:t>, </a:t>
            </a:r>
            <a:r>
              <a:rPr lang="en-IN" dirty="0">
                <a:latin typeface="+mn-lt"/>
              </a:rPr>
              <a:t>size()</a:t>
            </a:r>
            <a:endParaRPr lang="en-IN" dirty="0"/>
          </a:p>
          <a:p>
            <a:pPr>
              <a:buNone/>
            </a:pPr>
            <a:br>
              <a:rPr lang="en-IN" dirty="0"/>
            </a:br>
            <a:endParaRPr lang="en-IN" dirty="0"/>
          </a:p>
          <a:p>
            <a:pPr>
              <a:buNone/>
            </a:pPr>
            <a:r>
              <a:rPr lang="en-IN" b="1" dirty="0"/>
              <a:t>5. MongoDB Storage</a:t>
            </a:r>
          </a:p>
          <a:p>
            <a:pPr>
              <a:buNone/>
            </a:pPr>
            <a:r>
              <a:rPr lang="en-IN" dirty="0"/>
              <a:t>The processed Netflix records are stored in </a:t>
            </a:r>
            <a:r>
              <a:rPr lang="en-IN" b="1" dirty="0"/>
              <a:t>MongoDB</a:t>
            </a:r>
            <a:r>
              <a:rPr lang="en-IN" dirty="0"/>
              <a:t> using </a:t>
            </a:r>
            <a:r>
              <a:rPr lang="en-IN" b="1" dirty="0" err="1"/>
              <a:t>PyMongo</a:t>
            </a:r>
            <a:r>
              <a:rPr lang="en-IN" dirty="0"/>
              <a:t>. Each Netflix title is stored as a document in the </a:t>
            </a:r>
            <a:r>
              <a:rPr lang="en-IN" dirty="0" err="1">
                <a:latin typeface="+mn-lt"/>
              </a:rPr>
              <a:t>netflix_titles</a:t>
            </a:r>
            <a:r>
              <a:rPr lang="en-IN" dirty="0"/>
              <a:t> collection. The processed records are inserted using </a:t>
            </a:r>
            <a:r>
              <a:rPr lang="en-IN" dirty="0" err="1">
                <a:latin typeface="+mn-lt"/>
              </a:rPr>
              <a:t>insert_many</a:t>
            </a:r>
            <a:r>
              <a:rPr lang="en-IN" dirty="0">
                <a:latin typeface="+mn-lt"/>
              </a:rPr>
              <a:t>()</a:t>
            </a:r>
            <a:r>
              <a:rPr lang="en-IN" dirty="0"/>
              <a:t>, allowing the transformed data to be stored and accessed efficiently for analytics.</a:t>
            </a:r>
          </a:p>
          <a:p>
            <a:pPr>
              <a:buNone/>
            </a:pPr>
            <a:r>
              <a:rPr lang="en-IN" b="1" dirty="0"/>
              <a:t>Important functions:</a:t>
            </a:r>
            <a:r>
              <a:rPr lang="en-IN" dirty="0"/>
              <a:t> </a:t>
            </a:r>
            <a:r>
              <a:rPr lang="en-IN" dirty="0" err="1">
                <a:latin typeface="+mn-lt"/>
              </a:rPr>
              <a:t>MongoClient</a:t>
            </a:r>
            <a:r>
              <a:rPr lang="en-IN" dirty="0">
                <a:latin typeface="+mn-lt"/>
              </a:rPr>
              <a:t>()</a:t>
            </a:r>
            <a:r>
              <a:rPr lang="en-IN" dirty="0"/>
              <a:t>, </a:t>
            </a:r>
            <a:r>
              <a:rPr lang="en-IN" dirty="0" err="1">
                <a:latin typeface="+mn-lt"/>
              </a:rPr>
              <a:t>insert_many</a:t>
            </a:r>
            <a:r>
              <a:rPr lang="en-IN" dirty="0">
                <a:latin typeface="+mn-lt"/>
              </a:rPr>
              <a:t>()</a:t>
            </a:r>
            <a:r>
              <a:rPr lang="en-IN" dirty="0"/>
              <a:t>, </a:t>
            </a:r>
            <a:r>
              <a:rPr lang="en-IN" dirty="0">
                <a:latin typeface="+mn-lt"/>
              </a:rPr>
              <a:t>find()</a:t>
            </a:r>
            <a:endParaRPr lang="en-IN" dirty="0"/>
          </a:p>
          <a:p>
            <a:pPr>
              <a:buNone/>
            </a:pPr>
            <a:br>
              <a:rPr lang="en-IN" dirty="0"/>
            </a:br>
            <a:endParaRPr lang="en-IN" dirty="0"/>
          </a:p>
          <a:p>
            <a:pPr>
              <a:buNone/>
            </a:pPr>
            <a:r>
              <a:rPr lang="en-IN" b="1" dirty="0"/>
              <a:t>6. Data Analysis</a:t>
            </a:r>
          </a:p>
          <a:p>
            <a:pPr>
              <a:buNone/>
            </a:pPr>
            <a:r>
              <a:rPr lang="en-IN" dirty="0"/>
              <a:t>The processed Netflix data is </a:t>
            </a:r>
            <a:r>
              <a:rPr lang="en-IN" dirty="0" err="1"/>
              <a:t>analyzed</a:t>
            </a:r>
            <a:r>
              <a:rPr lang="en-IN" dirty="0"/>
              <a:t> using </a:t>
            </a:r>
            <a:r>
              <a:rPr lang="en-IN" b="1" dirty="0"/>
              <a:t>Pandas</a:t>
            </a:r>
            <a:r>
              <a:rPr lang="en-IN" dirty="0"/>
              <a:t>. </a:t>
            </a:r>
            <a:r>
              <a:rPr lang="en-IN" dirty="0" err="1">
                <a:latin typeface="+mn-lt"/>
              </a:rPr>
              <a:t>groupby</a:t>
            </a:r>
            <a:r>
              <a:rPr lang="en-IN" dirty="0">
                <a:latin typeface="+mn-lt"/>
              </a:rPr>
              <a:t>()</a:t>
            </a:r>
            <a:r>
              <a:rPr lang="en-IN" dirty="0"/>
              <a:t> and </a:t>
            </a:r>
            <a:r>
              <a:rPr lang="en-IN" dirty="0">
                <a:latin typeface="+mn-lt"/>
              </a:rPr>
              <a:t>count()</a:t>
            </a:r>
            <a:r>
              <a:rPr lang="en-IN" dirty="0"/>
              <a:t> are used to </a:t>
            </a:r>
            <a:r>
              <a:rPr lang="en-IN" dirty="0" err="1"/>
              <a:t>analyze</a:t>
            </a:r>
            <a:r>
              <a:rPr lang="en-IN" dirty="0"/>
              <a:t> the number of Movies and TV Shows. </a:t>
            </a:r>
            <a:r>
              <a:rPr lang="en-IN" dirty="0" err="1">
                <a:latin typeface="+mn-lt"/>
              </a:rPr>
              <a:t>groupby</a:t>
            </a:r>
            <a:r>
              <a:rPr lang="en-IN" dirty="0">
                <a:latin typeface="+mn-lt"/>
              </a:rPr>
              <a:t>()</a:t>
            </a:r>
            <a:r>
              <a:rPr lang="en-IN" dirty="0"/>
              <a:t> and </a:t>
            </a:r>
            <a:r>
              <a:rPr lang="en-IN" dirty="0">
                <a:latin typeface="+mn-lt"/>
              </a:rPr>
              <a:t>size()</a:t>
            </a:r>
            <a:r>
              <a:rPr lang="en-IN" dirty="0"/>
              <a:t> are used to identify title counts by country and genre. </a:t>
            </a:r>
            <a:r>
              <a:rPr lang="en-IN" dirty="0" err="1">
                <a:latin typeface="+mn-lt"/>
              </a:rPr>
              <a:t>value_counts</a:t>
            </a:r>
            <a:r>
              <a:rPr lang="en-IN" dirty="0">
                <a:latin typeface="+mn-lt"/>
              </a:rPr>
              <a:t>()</a:t>
            </a:r>
            <a:r>
              <a:rPr lang="en-IN" dirty="0"/>
              <a:t> is used to </a:t>
            </a:r>
            <a:r>
              <a:rPr lang="en-IN" dirty="0" err="1"/>
              <a:t>analyze</a:t>
            </a:r>
            <a:r>
              <a:rPr lang="en-IN" dirty="0"/>
              <a:t> ratings and content types. </a:t>
            </a:r>
            <a:r>
              <a:rPr lang="en-IN" dirty="0" err="1">
                <a:latin typeface="+mn-lt"/>
              </a:rPr>
              <a:t>sort_values</a:t>
            </a:r>
            <a:r>
              <a:rPr lang="en-IN" dirty="0">
                <a:latin typeface="+mn-lt"/>
              </a:rPr>
              <a:t>()</a:t>
            </a:r>
            <a:r>
              <a:rPr lang="en-IN" dirty="0"/>
              <a:t> is used to identify the most common or highest-count categories. The analytical results are exported using </a:t>
            </a:r>
            <a:r>
              <a:rPr lang="en-IN" dirty="0" err="1">
                <a:latin typeface="+mn-lt"/>
              </a:rPr>
              <a:t>to_csv</a:t>
            </a:r>
            <a:r>
              <a:rPr lang="en-IN" dirty="0">
                <a:latin typeface="+mn-lt"/>
              </a:rPr>
              <a:t>()</a:t>
            </a:r>
            <a:r>
              <a:rPr lang="en-IN" dirty="0"/>
              <a:t> for visualization.</a:t>
            </a:r>
          </a:p>
          <a:p>
            <a:pPr>
              <a:buNone/>
            </a:pPr>
            <a:r>
              <a:rPr lang="en-IN" b="1" dirty="0"/>
              <a:t>Important functions:</a:t>
            </a:r>
            <a:r>
              <a:rPr lang="en-IN" dirty="0"/>
              <a:t> </a:t>
            </a:r>
            <a:r>
              <a:rPr lang="en-IN" dirty="0" err="1">
                <a:latin typeface="+mn-lt"/>
              </a:rPr>
              <a:t>groupby</a:t>
            </a:r>
            <a:r>
              <a:rPr lang="en-IN" dirty="0">
                <a:latin typeface="+mn-lt"/>
              </a:rPr>
              <a:t>()</a:t>
            </a:r>
            <a:r>
              <a:rPr lang="en-IN" dirty="0"/>
              <a:t>, </a:t>
            </a:r>
            <a:r>
              <a:rPr lang="en-IN" dirty="0">
                <a:latin typeface="+mn-lt"/>
              </a:rPr>
              <a:t>count()</a:t>
            </a:r>
            <a:r>
              <a:rPr lang="en-IN" dirty="0"/>
              <a:t>, </a:t>
            </a:r>
            <a:r>
              <a:rPr lang="en-IN" dirty="0">
                <a:latin typeface="+mn-lt"/>
              </a:rPr>
              <a:t>size()</a:t>
            </a:r>
            <a:r>
              <a:rPr lang="en-IN" dirty="0"/>
              <a:t>, </a:t>
            </a:r>
            <a:r>
              <a:rPr lang="en-IN" dirty="0" err="1">
                <a:latin typeface="+mn-lt"/>
              </a:rPr>
              <a:t>value_counts</a:t>
            </a:r>
            <a:r>
              <a:rPr lang="en-IN" dirty="0">
                <a:latin typeface="+mn-lt"/>
              </a:rPr>
              <a:t>()</a:t>
            </a:r>
            <a:r>
              <a:rPr lang="en-IN" dirty="0"/>
              <a:t>, </a:t>
            </a:r>
            <a:r>
              <a:rPr lang="en-IN" dirty="0" err="1">
                <a:latin typeface="+mn-lt"/>
              </a:rPr>
              <a:t>sort_values</a:t>
            </a:r>
            <a:r>
              <a:rPr lang="en-IN" dirty="0">
                <a:latin typeface="+mn-lt"/>
              </a:rPr>
              <a:t>()</a:t>
            </a:r>
            <a:r>
              <a:rPr lang="en-IN" dirty="0"/>
              <a:t>, </a:t>
            </a:r>
            <a:r>
              <a:rPr lang="en-IN" dirty="0" err="1">
                <a:latin typeface="+mn-lt"/>
              </a:rPr>
              <a:t>to_csv</a:t>
            </a:r>
            <a:r>
              <a:rPr lang="en-IN" dirty="0">
                <a:latin typeface="+mn-lt"/>
              </a:rPr>
              <a:t>()</a:t>
            </a:r>
            <a:endParaRPr lang="en-IN" dirty="0"/>
          </a:p>
        </p:txBody>
      </p:sp>
    </p:spTree>
    <p:extLst>
      <p:ext uri="{BB962C8B-B14F-4D97-AF65-F5344CB8AC3E}">
        <p14:creationId xmlns:p14="http://schemas.microsoft.com/office/powerpoint/2010/main" val="3677947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2CA13E-807E-C661-45AF-16B32E99A63C}"/>
              </a:ext>
            </a:extLst>
          </p:cNvPr>
          <p:cNvSpPr txBox="1"/>
          <p:nvPr/>
        </p:nvSpPr>
        <p:spPr>
          <a:xfrm>
            <a:off x="462116" y="0"/>
            <a:ext cx="11267768" cy="6186309"/>
          </a:xfrm>
          <a:prstGeom prst="rect">
            <a:avLst/>
          </a:prstGeom>
          <a:noFill/>
        </p:spPr>
        <p:txBody>
          <a:bodyPr wrap="square">
            <a:spAutoFit/>
          </a:bodyPr>
          <a:lstStyle/>
          <a:p>
            <a:pPr>
              <a:buNone/>
            </a:pPr>
            <a:r>
              <a:rPr lang="en-IN" b="1" dirty="0"/>
              <a:t>7. Recommendation Analysis</a:t>
            </a:r>
          </a:p>
          <a:p>
            <a:pPr>
              <a:buNone/>
            </a:pPr>
            <a:r>
              <a:rPr lang="en-IN" dirty="0"/>
              <a:t>A </a:t>
            </a:r>
            <a:r>
              <a:rPr lang="en-IN" b="1" dirty="0"/>
              <a:t>content-based recommendation system</a:t>
            </a:r>
            <a:r>
              <a:rPr lang="en-IN" dirty="0"/>
              <a:t> is created using </a:t>
            </a:r>
            <a:r>
              <a:rPr lang="en-IN" b="1" dirty="0"/>
              <a:t>Scikit-learn</a:t>
            </a:r>
            <a:r>
              <a:rPr lang="en-IN" dirty="0"/>
              <a:t>. Netflix title information such as genre, type, rating, and other relevant features is converted into numerical feature vectors. </a:t>
            </a:r>
            <a:r>
              <a:rPr lang="en-IN" dirty="0" err="1">
                <a:latin typeface="+mn-lt"/>
              </a:rPr>
              <a:t>TfidfVectorizer</a:t>
            </a:r>
            <a:r>
              <a:rPr lang="en-IN" dirty="0">
                <a:latin typeface="+mn-lt"/>
              </a:rPr>
              <a:t>()</a:t>
            </a:r>
            <a:r>
              <a:rPr lang="en-IN" dirty="0"/>
              <a:t> is used to represent text-based features, and </a:t>
            </a:r>
            <a:r>
              <a:rPr lang="en-IN" dirty="0" err="1">
                <a:latin typeface="+mn-lt"/>
              </a:rPr>
              <a:t>cosine_similarity</a:t>
            </a:r>
            <a:r>
              <a:rPr lang="en-IN" dirty="0">
                <a:latin typeface="+mn-lt"/>
              </a:rPr>
              <a:t>()</a:t>
            </a:r>
            <a:r>
              <a:rPr lang="en-IN" dirty="0"/>
              <a:t> is used to calculate similarity between titles. The most similar Netflix titles are selected as recommendations.</a:t>
            </a:r>
          </a:p>
          <a:p>
            <a:pPr>
              <a:buNone/>
            </a:pPr>
            <a:r>
              <a:rPr lang="en-IN" b="1" dirty="0"/>
              <a:t>Important functions:</a:t>
            </a:r>
            <a:r>
              <a:rPr lang="en-IN" dirty="0"/>
              <a:t> </a:t>
            </a:r>
            <a:r>
              <a:rPr lang="en-IN" dirty="0" err="1">
                <a:latin typeface="+mn-lt"/>
              </a:rPr>
              <a:t>TfidfVectorizer</a:t>
            </a:r>
            <a:r>
              <a:rPr lang="en-IN" dirty="0">
                <a:latin typeface="+mn-lt"/>
              </a:rPr>
              <a:t>()</a:t>
            </a:r>
            <a:r>
              <a:rPr lang="en-IN" dirty="0"/>
              <a:t>, </a:t>
            </a:r>
            <a:r>
              <a:rPr lang="en-IN" dirty="0" err="1">
                <a:latin typeface="+mn-lt"/>
              </a:rPr>
              <a:t>fit_transform</a:t>
            </a:r>
            <a:r>
              <a:rPr lang="en-IN" dirty="0">
                <a:latin typeface="+mn-lt"/>
              </a:rPr>
              <a:t>()</a:t>
            </a:r>
            <a:r>
              <a:rPr lang="en-IN" dirty="0"/>
              <a:t>, </a:t>
            </a:r>
            <a:r>
              <a:rPr lang="en-IN" dirty="0" err="1">
                <a:latin typeface="+mn-lt"/>
              </a:rPr>
              <a:t>cosine_similarity</a:t>
            </a:r>
            <a:r>
              <a:rPr lang="en-IN" dirty="0">
                <a:latin typeface="+mn-lt"/>
              </a:rPr>
              <a:t>()</a:t>
            </a:r>
            <a:endParaRPr lang="en-IN" dirty="0"/>
          </a:p>
          <a:p>
            <a:pPr>
              <a:buNone/>
            </a:pPr>
            <a:br>
              <a:rPr lang="en-IN" dirty="0"/>
            </a:br>
            <a:endParaRPr lang="en-IN" dirty="0"/>
          </a:p>
          <a:p>
            <a:pPr>
              <a:buNone/>
            </a:pPr>
            <a:r>
              <a:rPr lang="en-IN" b="1" dirty="0"/>
              <a:t>8. Pipeline Automation</a:t>
            </a:r>
          </a:p>
          <a:p>
            <a:pPr>
              <a:buNone/>
            </a:pPr>
            <a:r>
              <a:rPr lang="en-IN" b="1" dirty="0"/>
              <a:t>Apache Airflow</a:t>
            </a:r>
            <a:r>
              <a:rPr lang="en-IN" dirty="0"/>
              <a:t> is used to automate the complete Netflix data pipeline. The pipeline contains separate tasks for </a:t>
            </a:r>
            <a:r>
              <a:rPr lang="en-IN" b="1" dirty="0"/>
              <a:t>ingestion, cleaning, validation, transformation, MongoDB storage, analytics, and recommendation</a:t>
            </a:r>
            <a:r>
              <a:rPr lang="en-IN" dirty="0"/>
              <a:t>. Airflow manages the task dependencies and execution order.</a:t>
            </a:r>
          </a:p>
          <a:p>
            <a:pPr>
              <a:buNone/>
            </a:pPr>
            <a:r>
              <a:rPr lang="en-IN" b="1" dirty="0"/>
              <a:t>Pipeline flow:</a:t>
            </a:r>
            <a:endParaRPr lang="en-IN" dirty="0"/>
          </a:p>
          <a:p>
            <a:pPr>
              <a:buNone/>
            </a:pPr>
            <a:r>
              <a:rPr lang="en-IN" b="1" dirty="0"/>
              <a:t>Ingestion → Cleaning → Validation → Transformation → MongoDB → Analytics → Recommendation</a:t>
            </a:r>
            <a:endParaRPr lang="en-IN" dirty="0"/>
          </a:p>
          <a:p>
            <a:pPr>
              <a:buNone/>
            </a:pPr>
            <a:r>
              <a:rPr lang="en-IN" dirty="0"/>
              <a:t>Airflow also provides task status, execution history, scheduling, and logs for monitoring the pipeline.</a:t>
            </a:r>
          </a:p>
          <a:p>
            <a:pPr>
              <a:buNone/>
            </a:pPr>
            <a:br>
              <a:rPr lang="en-IN" dirty="0"/>
            </a:br>
            <a:endParaRPr lang="en-IN" dirty="0"/>
          </a:p>
          <a:p>
            <a:pPr>
              <a:buNone/>
            </a:pPr>
            <a:r>
              <a:rPr lang="en-IN" b="1" dirty="0"/>
              <a:t>9. Data Visualization</a:t>
            </a:r>
          </a:p>
          <a:p>
            <a:pPr>
              <a:buNone/>
            </a:pPr>
            <a:r>
              <a:rPr lang="en-IN" dirty="0"/>
              <a:t>The generated analytical CSV files are imported into </a:t>
            </a:r>
            <a:r>
              <a:rPr lang="en-IN" b="1" dirty="0"/>
              <a:t>Power BI</a:t>
            </a:r>
            <a:r>
              <a:rPr lang="en-IN" dirty="0"/>
              <a:t>. Power BI is used to create </a:t>
            </a:r>
            <a:r>
              <a:rPr lang="en-IN" b="1" dirty="0"/>
              <a:t>cards, charts, tables, and slicers</a:t>
            </a:r>
            <a:r>
              <a:rPr lang="en-IN" dirty="0"/>
              <a:t> for </a:t>
            </a:r>
            <a:r>
              <a:rPr lang="en-IN" dirty="0" err="1"/>
              <a:t>analyzing</a:t>
            </a:r>
            <a:r>
              <a:rPr lang="en-IN" dirty="0"/>
              <a:t> Netflix content. Visualizations are created for content type, ratings, countries, genres, release years, and other analytical results. This converts the processed Netflix data into an interactive dashboard.</a:t>
            </a:r>
          </a:p>
          <a:p>
            <a:pPr>
              <a:buNone/>
            </a:pPr>
            <a:r>
              <a:rPr lang="en-IN" b="1" dirty="0"/>
              <a:t>Important Power BI operations:</a:t>
            </a:r>
            <a:r>
              <a:rPr lang="en-IN" dirty="0"/>
              <a:t> </a:t>
            </a:r>
            <a:r>
              <a:rPr lang="en-IN" dirty="0">
                <a:latin typeface="+mn-lt"/>
              </a:rPr>
              <a:t>Get Data</a:t>
            </a:r>
            <a:r>
              <a:rPr lang="en-IN" dirty="0"/>
              <a:t>, </a:t>
            </a:r>
            <a:r>
              <a:rPr lang="en-IN" dirty="0">
                <a:latin typeface="+mn-lt"/>
              </a:rPr>
              <a:t>Transform Data</a:t>
            </a:r>
            <a:r>
              <a:rPr lang="en-IN" dirty="0"/>
              <a:t>, </a:t>
            </a:r>
            <a:r>
              <a:rPr lang="en-IN" dirty="0">
                <a:latin typeface="+mn-lt"/>
              </a:rPr>
              <a:t>Visualizations</a:t>
            </a:r>
            <a:r>
              <a:rPr lang="en-IN" dirty="0"/>
              <a:t>, </a:t>
            </a:r>
            <a:r>
              <a:rPr lang="en-IN" dirty="0">
                <a:latin typeface="+mn-lt"/>
              </a:rPr>
              <a:t>Slicers</a:t>
            </a:r>
            <a:r>
              <a:rPr lang="en-IN" dirty="0"/>
              <a:t>, </a:t>
            </a:r>
            <a:r>
              <a:rPr lang="en-IN" dirty="0">
                <a:latin typeface="+mn-lt"/>
              </a:rPr>
              <a:t>Cards</a:t>
            </a:r>
            <a:r>
              <a:rPr lang="en-IN" dirty="0"/>
              <a:t>, </a:t>
            </a:r>
            <a:r>
              <a:rPr lang="en-IN" dirty="0">
                <a:latin typeface="+mn-lt"/>
              </a:rPr>
              <a:t>Charts</a:t>
            </a:r>
            <a:endParaRPr lang="en-IN" dirty="0"/>
          </a:p>
        </p:txBody>
      </p:sp>
    </p:spTree>
    <p:extLst>
      <p:ext uri="{BB962C8B-B14F-4D97-AF65-F5344CB8AC3E}">
        <p14:creationId xmlns:p14="http://schemas.microsoft.com/office/powerpoint/2010/main" val="3009459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26B68-FD90-2332-EFBB-29BF7444A1A6}"/>
              </a:ext>
            </a:extLst>
          </p:cNvPr>
          <p:cNvSpPr>
            <a:spLocks noGrp="1"/>
          </p:cNvSpPr>
          <p:nvPr>
            <p:ph type="title"/>
          </p:nvPr>
        </p:nvSpPr>
        <p:spPr>
          <a:xfrm>
            <a:off x="838200" y="365126"/>
            <a:ext cx="10515600" cy="755752"/>
          </a:xfrm>
        </p:spPr>
        <p:txBody>
          <a:bodyPr/>
          <a:lstStyle/>
          <a:p>
            <a:r>
              <a:rPr lang="en-IN" dirty="0">
                <a:solidFill>
                  <a:schemeClr val="accent1"/>
                </a:solidFill>
              </a:rPr>
              <a:t>System Design</a:t>
            </a:r>
            <a:endParaRPr lang="en-IN" dirty="0"/>
          </a:p>
        </p:txBody>
      </p:sp>
      <p:pic>
        <p:nvPicPr>
          <p:cNvPr id="3" name="Picture 2">
            <a:extLst>
              <a:ext uri="{FF2B5EF4-FFF2-40B4-BE49-F238E27FC236}">
                <a16:creationId xmlns:a16="http://schemas.microsoft.com/office/drawing/2014/main" id="{D427AA4E-4717-61C3-81E7-814B376E949D}"/>
              </a:ext>
            </a:extLst>
          </p:cNvPr>
          <p:cNvPicPr>
            <a:picLocks noChangeAspect="1"/>
          </p:cNvPicPr>
          <p:nvPr/>
        </p:nvPicPr>
        <p:blipFill>
          <a:blip r:embed="rId2"/>
          <a:stretch>
            <a:fillRect/>
          </a:stretch>
        </p:blipFill>
        <p:spPr>
          <a:xfrm>
            <a:off x="3577986" y="1347019"/>
            <a:ext cx="5036029" cy="5093110"/>
          </a:xfrm>
          <a:prstGeom prst="rect">
            <a:avLst/>
          </a:prstGeom>
        </p:spPr>
      </p:pic>
    </p:spTree>
    <p:extLst>
      <p:ext uri="{BB962C8B-B14F-4D97-AF65-F5344CB8AC3E}">
        <p14:creationId xmlns:p14="http://schemas.microsoft.com/office/powerpoint/2010/main" val="997040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E5FFD-7ECD-57A7-121C-30EB349E1855}"/>
              </a:ext>
            </a:extLst>
          </p:cNvPr>
          <p:cNvSpPr>
            <a:spLocks noGrp="1"/>
          </p:cNvSpPr>
          <p:nvPr>
            <p:ph type="title"/>
          </p:nvPr>
        </p:nvSpPr>
        <p:spPr>
          <a:xfrm>
            <a:off x="838200" y="-88489"/>
            <a:ext cx="10515600" cy="1130708"/>
          </a:xfrm>
        </p:spPr>
        <p:txBody>
          <a:bodyPr/>
          <a:lstStyle/>
          <a:p>
            <a:r>
              <a:rPr lang="en-IN" b="1" dirty="0">
                <a:solidFill>
                  <a:schemeClr val="accent1"/>
                </a:solidFill>
              </a:rPr>
              <a:t>SYSTEM ARCHITECTURE</a:t>
            </a:r>
          </a:p>
        </p:txBody>
      </p:sp>
      <p:pic>
        <p:nvPicPr>
          <p:cNvPr id="5" name="Picture 4" descr="MAPS &amp; DIRECTIONS - Best Private University in Telangana ...">
            <a:extLst>
              <a:ext uri="{FF2B5EF4-FFF2-40B4-BE49-F238E27FC236}">
                <a16:creationId xmlns:a16="http://schemas.microsoft.com/office/drawing/2014/main" id="{68EBE0CB-F2C8-00C6-B6FF-1123BF547D9C}"/>
              </a:ext>
            </a:extLst>
          </p:cNvPr>
          <p:cNvPicPr>
            <a:picLocks noChangeAspect="1"/>
          </p:cNvPicPr>
          <p:nvPr/>
        </p:nvPicPr>
        <p:blipFill>
          <a:blip r:embed="rId2"/>
          <a:stretch>
            <a:fillRect/>
          </a:stretch>
        </p:blipFill>
        <p:spPr>
          <a:xfrm>
            <a:off x="9159998" y="-936826"/>
            <a:ext cx="3140157" cy="2334027"/>
          </a:xfrm>
          <a:prstGeom prst="rect">
            <a:avLst/>
          </a:prstGeom>
        </p:spPr>
      </p:pic>
      <p:sp>
        <p:nvSpPr>
          <p:cNvPr id="4" name="Content Placeholder 3">
            <a:extLst>
              <a:ext uri="{FF2B5EF4-FFF2-40B4-BE49-F238E27FC236}">
                <a16:creationId xmlns:a16="http://schemas.microsoft.com/office/drawing/2014/main" id="{2B16C87B-D4ED-8757-DD97-8D5EEFD060BF}"/>
              </a:ext>
            </a:extLst>
          </p:cNvPr>
          <p:cNvSpPr>
            <a:spLocks noGrp="1"/>
          </p:cNvSpPr>
          <p:nvPr>
            <p:ph idx="1"/>
          </p:nvPr>
        </p:nvSpPr>
        <p:spPr/>
        <p:txBody>
          <a:bodyPr/>
          <a:lstStyle/>
          <a:p>
            <a:endParaRPr lang="en-IN" dirty="0"/>
          </a:p>
        </p:txBody>
      </p:sp>
      <p:pic>
        <p:nvPicPr>
          <p:cNvPr id="12" name="Picture 11">
            <a:extLst>
              <a:ext uri="{FF2B5EF4-FFF2-40B4-BE49-F238E27FC236}">
                <a16:creationId xmlns:a16="http://schemas.microsoft.com/office/drawing/2014/main" id="{610BE335-80FE-AA0C-DE72-D98FAF7D349E}"/>
              </a:ext>
            </a:extLst>
          </p:cNvPr>
          <p:cNvPicPr>
            <a:picLocks noChangeAspect="1"/>
          </p:cNvPicPr>
          <p:nvPr/>
        </p:nvPicPr>
        <p:blipFill>
          <a:blip r:embed="rId3"/>
          <a:stretch>
            <a:fillRect/>
          </a:stretch>
        </p:blipFill>
        <p:spPr>
          <a:xfrm>
            <a:off x="272241" y="1066800"/>
            <a:ext cx="10457835" cy="4444181"/>
          </a:xfrm>
          <a:prstGeom prst="rect">
            <a:avLst/>
          </a:prstGeom>
        </p:spPr>
      </p:pic>
    </p:spTree>
    <p:extLst>
      <p:ext uri="{BB962C8B-B14F-4D97-AF65-F5344CB8AC3E}">
        <p14:creationId xmlns:p14="http://schemas.microsoft.com/office/powerpoint/2010/main" val="833109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E9F42-0CFB-C750-D422-A68DD324915A}"/>
              </a:ext>
            </a:extLst>
          </p:cNvPr>
          <p:cNvSpPr>
            <a:spLocks noGrp="1"/>
          </p:cNvSpPr>
          <p:nvPr>
            <p:ph type="title"/>
          </p:nvPr>
        </p:nvSpPr>
        <p:spPr>
          <a:xfrm>
            <a:off x="444909" y="253981"/>
            <a:ext cx="10515600" cy="1325563"/>
          </a:xfrm>
        </p:spPr>
        <p:txBody>
          <a:bodyPr/>
          <a:lstStyle/>
          <a:p>
            <a:r>
              <a:rPr lang="en-IN" dirty="0">
                <a:solidFill>
                  <a:schemeClr val="accent1"/>
                </a:solidFill>
              </a:rPr>
              <a:t>Use of Modern Tools and Technologies</a:t>
            </a:r>
          </a:p>
        </p:txBody>
      </p:sp>
      <p:graphicFrame>
        <p:nvGraphicFramePr>
          <p:cNvPr id="4" name="Content Placeholder 3">
            <a:extLst>
              <a:ext uri="{FF2B5EF4-FFF2-40B4-BE49-F238E27FC236}">
                <a16:creationId xmlns:a16="http://schemas.microsoft.com/office/drawing/2014/main" id="{809E7EBC-3A04-070B-FF66-59E51077D011}"/>
              </a:ext>
            </a:extLst>
          </p:cNvPr>
          <p:cNvGraphicFramePr>
            <a:graphicFrameLocks noGrp="1"/>
          </p:cNvGraphicFramePr>
          <p:nvPr>
            <p:ph idx="1"/>
            <p:extLst>
              <p:ext uri="{D42A27DB-BD31-4B8C-83A1-F6EECF244321}">
                <p14:modId xmlns:p14="http://schemas.microsoft.com/office/powerpoint/2010/main" val="3475021702"/>
              </p:ext>
            </p:extLst>
          </p:nvPr>
        </p:nvGraphicFramePr>
        <p:xfrm>
          <a:off x="845572" y="1305286"/>
          <a:ext cx="10205886" cy="3886144"/>
        </p:xfrm>
        <a:graphic>
          <a:graphicData uri="http://schemas.openxmlformats.org/drawingml/2006/table">
            <a:tbl>
              <a:tblPr>
                <a:tableStyleId>{5C22544A-7EE6-4342-B048-85BDC9FD1C3A}</a:tableStyleId>
              </a:tblPr>
              <a:tblGrid>
                <a:gridCol w="5102943">
                  <a:extLst>
                    <a:ext uri="{9D8B030D-6E8A-4147-A177-3AD203B41FA5}">
                      <a16:colId xmlns:a16="http://schemas.microsoft.com/office/drawing/2014/main" val="3760570551"/>
                    </a:ext>
                  </a:extLst>
                </a:gridCol>
                <a:gridCol w="5102943">
                  <a:extLst>
                    <a:ext uri="{9D8B030D-6E8A-4147-A177-3AD203B41FA5}">
                      <a16:colId xmlns:a16="http://schemas.microsoft.com/office/drawing/2014/main" val="868785298"/>
                    </a:ext>
                  </a:extLst>
                </a:gridCol>
              </a:tblGrid>
              <a:tr h="364326">
                <a:tc>
                  <a:txBody>
                    <a:bodyPr/>
                    <a:lstStyle/>
                    <a:p>
                      <a:pPr>
                        <a:buNone/>
                      </a:pPr>
                      <a:r>
                        <a:rPr lang="en-IN" b="1" dirty="0"/>
                        <a:t>Technology</a:t>
                      </a:r>
                    </a:p>
                  </a:txBody>
                  <a:tcPr anchor="ctr"/>
                </a:tc>
                <a:tc>
                  <a:txBody>
                    <a:bodyPr/>
                    <a:lstStyle/>
                    <a:p>
                      <a:pPr>
                        <a:buNone/>
                      </a:pPr>
                      <a:r>
                        <a:rPr lang="en-IN" b="1" dirty="0"/>
                        <a:t>Purpose</a:t>
                      </a:r>
                    </a:p>
                  </a:txBody>
                  <a:tcPr anchor="ctr"/>
                </a:tc>
                <a:extLst>
                  <a:ext uri="{0D108BD9-81ED-4DB2-BD59-A6C34878D82A}">
                    <a16:rowId xmlns:a16="http://schemas.microsoft.com/office/drawing/2014/main" val="1024039015"/>
                  </a:ext>
                </a:extLst>
              </a:tr>
              <a:tr h="364326">
                <a:tc>
                  <a:txBody>
                    <a:bodyPr/>
                    <a:lstStyle/>
                    <a:p>
                      <a:pPr>
                        <a:buNone/>
                      </a:pPr>
                      <a:r>
                        <a:rPr lang="en-IN" b="1"/>
                        <a:t>Python</a:t>
                      </a:r>
                      <a:endParaRPr lang="en-IN"/>
                    </a:p>
                  </a:txBody>
                  <a:tcPr anchor="ctr"/>
                </a:tc>
                <a:tc>
                  <a:txBody>
                    <a:bodyPr/>
                    <a:lstStyle/>
                    <a:p>
                      <a:pPr>
                        <a:buNone/>
                      </a:pPr>
                      <a:r>
                        <a:rPr lang="en-IN"/>
                        <a:t>Pipeline implementation</a:t>
                      </a:r>
                    </a:p>
                  </a:txBody>
                  <a:tcPr anchor="ctr"/>
                </a:tc>
                <a:extLst>
                  <a:ext uri="{0D108BD9-81ED-4DB2-BD59-A6C34878D82A}">
                    <a16:rowId xmlns:a16="http://schemas.microsoft.com/office/drawing/2014/main" val="2391909935"/>
                  </a:ext>
                </a:extLst>
              </a:tr>
              <a:tr h="364326">
                <a:tc>
                  <a:txBody>
                    <a:bodyPr/>
                    <a:lstStyle/>
                    <a:p>
                      <a:pPr>
                        <a:buNone/>
                      </a:pPr>
                      <a:r>
                        <a:rPr lang="en-IN" b="1"/>
                        <a:t>Pandas</a:t>
                      </a:r>
                      <a:endParaRPr lang="en-IN"/>
                    </a:p>
                  </a:txBody>
                  <a:tcPr anchor="ctr"/>
                </a:tc>
                <a:tc>
                  <a:txBody>
                    <a:bodyPr/>
                    <a:lstStyle/>
                    <a:p>
                      <a:pPr>
                        <a:buNone/>
                      </a:pPr>
                      <a:r>
                        <a:rPr lang="en-IN"/>
                        <a:t>Data ingestion and cleaning</a:t>
                      </a:r>
                    </a:p>
                  </a:txBody>
                  <a:tcPr anchor="ctr"/>
                </a:tc>
                <a:extLst>
                  <a:ext uri="{0D108BD9-81ED-4DB2-BD59-A6C34878D82A}">
                    <a16:rowId xmlns:a16="http://schemas.microsoft.com/office/drawing/2014/main" val="870309436"/>
                  </a:ext>
                </a:extLst>
              </a:tr>
              <a:tr h="607210">
                <a:tc>
                  <a:txBody>
                    <a:bodyPr/>
                    <a:lstStyle/>
                    <a:p>
                      <a:pPr>
                        <a:buNone/>
                      </a:pPr>
                      <a:r>
                        <a:rPr lang="en-IN" b="1"/>
                        <a:t>PySpark</a:t>
                      </a:r>
                      <a:endParaRPr lang="en-IN"/>
                    </a:p>
                  </a:txBody>
                  <a:tcPr anchor="ctr"/>
                </a:tc>
                <a:tc>
                  <a:txBody>
                    <a:bodyPr/>
                    <a:lstStyle/>
                    <a:p>
                      <a:pPr>
                        <a:buNone/>
                      </a:pPr>
                      <a:r>
                        <a:rPr lang="en-IN"/>
                        <a:t>Distributed transformation and feature engineering</a:t>
                      </a:r>
                    </a:p>
                  </a:txBody>
                  <a:tcPr anchor="ctr"/>
                </a:tc>
                <a:extLst>
                  <a:ext uri="{0D108BD9-81ED-4DB2-BD59-A6C34878D82A}">
                    <a16:rowId xmlns:a16="http://schemas.microsoft.com/office/drawing/2014/main" val="435772930"/>
                  </a:ext>
                </a:extLst>
              </a:tr>
              <a:tr h="364326">
                <a:tc>
                  <a:txBody>
                    <a:bodyPr/>
                    <a:lstStyle/>
                    <a:p>
                      <a:pPr>
                        <a:buNone/>
                      </a:pPr>
                      <a:r>
                        <a:rPr lang="en-IN" b="1"/>
                        <a:t>MongoDB</a:t>
                      </a:r>
                      <a:endParaRPr lang="en-IN"/>
                    </a:p>
                  </a:txBody>
                  <a:tcPr anchor="ctr"/>
                </a:tc>
                <a:tc>
                  <a:txBody>
                    <a:bodyPr/>
                    <a:lstStyle/>
                    <a:p>
                      <a:pPr>
                        <a:buNone/>
                      </a:pPr>
                      <a:r>
                        <a:rPr lang="en-IN" dirty="0"/>
                        <a:t>Processed data storage</a:t>
                      </a:r>
                    </a:p>
                  </a:txBody>
                  <a:tcPr anchor="ctr"/>
                </a:tc>
                <a:extLst>
                  <a:ext uri="{0D108BD9-81ED-4DB2-BD59-A6C34878D82A}">
                    <a16:rowId xmlns:a16="http://schemas.microsoft.com/office/drawing/2014/main" val="53534965"/>
                  </a:ext>
                </a:extLst>
              </a:tr>
              <a:tr h="364326">
                <a:tc>
                  <a:txBody>
                    <a:bodyPr/>
                    <a:lstStyle/>
                    <a:p>
                      <a:pPr>
                        <a:buNone/>
                      </a:pPr>
                      <a:r>
                        <a:rPr lang="en-IN" b="1"/>
                        <a:t>Scikit-learn</a:t>
                      </a:r>
                      <a:endParaRPr lang="en-IN"/>
                    </a:p>
                  </a:txBody>
                  <a:tcPr anchor="ctr"/>
                </a:tc>
                <a:tc>
                  <a:txBody>
                    <a:bodyPr/>
                    <a:lstStyle/>
                    <a:p>
                      <a:pPr>
                        <a:buNone/>
                      </a:pPr>
                      <a:r>
                        <a:rPr lang="en-IN"/>
                        <a:t>Content-based recommendation</a:t>
                      </a:r>
                    </a:p>
                  </a:txBody>
                  <a:tcPr anchor="ctr"/>
                </a:tc>
                <a:extLst>
                  <a:ext uri="{0D108BD9-81ED-4DB2-BD59-A6C34878D82A}">
                    <a16:rowId xmlns:a16="http://schemas.microsoft.com/office/drawing/2014/main" val="1963120877"/>
                  </a:ext>
                </a:extLst>
              </a:tr>
              <a:tr h="364326">
                <a:tc>
                  <a:txBody>
                    <a:bodyPr/>
                    <a:lstStyle/>
                    <a:p>
                      <a:pPr>
                        <a:buNone/>
                      </a:pPr>
                      <a:r>
                        <a:rPr lang="en-IN" b="1"/>
                        <a:t>Apache Airflow</a:t>
                      </a:r>
                      <a:endParaRPr lang="en-IN"/>
                    </a:p>
                  </a:txBody>
                  <a:tcPr anchor="ctr"/>
                </a:tc>
                <a:tc>
                  <a:txBody>
                    <a:bodyPr/>
                    <a:lstStyle/>
                    <a:p>
                      <a:pPr>
                        <a:buNone/>
                      </a:pPr>
                      <a:r>
                        <a:rPr lang="en-IN"/>
                        <a:t>Pipeline orchestration</a:t>
                      </a:r>
                    </a:p>
                  </a:txBody>
                  <a:tcPr anchor="ctr"/>
                </a:tc>
                <a:extLst>
                  <a:ext uri="{0D108BD9-81ED-4DB2-BD59-A6C34878D82A}">
                    <a16:rowId xmlns:a16="http://schemas.microsoft.com/office/drawing/2014/main" val="786258763"/>
                  </a:ext>
                </a:extLst>
              </a:tr>
              <a:tr h="364326">
                <a:tc>
                  <a:txBody>
                    <a:bodyPr/>
                    <a:lstStyle/>
                    <a:p>
                      <a:pPr>
                        <a:buNone/>
                      </a:pPr>
                      <a:r>
                        <a:rPr lang="en-IN" b="1"/>
                        <a:t>Docker</a:t>
                      </a:r>
                      <a:endParaRPr lang="en-IN"/>
                    </a:p>
                  </a:txBody>
                  <a:tcPr anchor="ctr"/>
                </a:tc>
                <a:tc>
                  <a:txBody>
                    <a:bodyPr/>
                    <a:lstStyle/>
                    <a:p>
                      <a:pPr>
                        <a:buNone/>
                      </a:pPr>
                      <a:r>
                        <a:rPr lang="en-IN"/>
                        <a:t>Containerized Airflow environment</a:t>
                      </a:r>
                    </a:p>
                  </a:txBody>
                  <a:tcPr anchor="ctr"/>
                </a:tc>
                <a:extLst>
                  <a:ext uri="{0D108BD9-81ED-4DB2-BD59-A6C34878D82A}">
                    <a16:rowId xmlns:a16="http://schemas.microsoft.com/office/drawing/2014/main" val="4166632567"/>
                  </a:ext>
                </a:extLst>
              </a:tr>
              <a:tr h="364326">
                <a:tc>
                  <a:txBody>
                    <a:bodyPr/>
                    <a:lstStyle/>
                    <a:p>
                      <a:pPr>
                        <a:buNone/>
                      </a:pPr>
                      <a:r>
                        <a:rPr lang="en-IN" b="1"/>
                        <a:t>Power BI</a:t>
                      </a:r>
                      <a:endParaRPr lang="en-IN"/>
                    </a:p>
                  </a:txBody>
                  <a:tcPr anchor="ctr"/>
                </a:tc>
                <a:tc>
                  <a:txBody>
                    <a:bodyPr/>
                    <a:lstStyle/>
                    <a:p>
                      <a:pPr>
                        <a:buNone/>
                      </a:pPr>
                      <a:r>
                        <a:rPr lang="en-IN"/>
                        <a:t>Interactive analytics dashboard</a:t>
                      </a:r>
                    </a:p>
                  </a:txBody>
                  <a:tcPr anchor="ctr"/>
                </a:tc>
                <a:extLst>
                  <a:ext uri="{0D108BD9-81ED-4DB2-BD59-A6C34878D82A}">
                    <a16:rowId xmlns:a16="http://schemas.microsoft.com/office/drawing/2014/main" val="3908256241"/>
                  </a:ext>
                </a:extLst>
              </a:tr>
              <a:tr h="364326">
                <a:tc>
                  <a:txBody>
                    <a:bodyPr/>
                    <a:lstStyle/>
                    <a:p>
                      <a:pPr>
                        <a:buNone/>
                      </a:pPr>
                      <a:r>
                        <a:rPr lang="en-IN" b="1" dirty="0"/>
                        <a:t>Git/GitHub</a:t>
                      </a:r>
                      <a:endParaRPr lang="en-IN" dirty="0"/>
                    </a:p>
                  </a:txBody>
                  <a:tcPr anchor="ctr"/>
                </a:tc>
                <a:tc>
                  <a:txBody>
                    <a:bodyPr/>
                    <a:lstStyle/>
                    <a:p>
                      <a:pPr>
                        <a:buNone/>
                      </a:pPr>
                      <a:r>
                        <a:rPr lang="en-IN" dirty="0"/>
                        <a:t>Project version control</a:t>
                      </a:r>
                    </a:p>
                  </a:txBody>
                  <a:tcPr anchor="ctr"/>
                </a:tc>
                <a:extLst>
                  <a:ext uri="{0D108BD9-81ED-4DB2-BD59-A6C34878D82A}">
                    <a16:rowId xmlns:a16="http://schemas.microsoft.com/office/drawing/2014/main" val="2133726636"/>
                  </a:ext>
                </a:extLst>
              </a:tr>
            </a:tbl>
          </a:graphicData>
        </a:graphic>
      </p:graphicFrame>
      <p:pic>
        <p:nvPicPr>
          <p:cNvPr id="5" name="Picture 4" descr="MAPS &amp; DIRECTIONS - Best Private University in Telangana ...">
            <a:extLst>
              <a:ext uri="{FF2B5EF4-FFF2-40B4-BE49-F238E27FC236}">
                <a16:creationId xmlns:a16="http://schemas.microsoft.com/office/drawing/2014/main" id="{73573347-39C0-54D7-FBB0-4EAF77056A45}"/>
              </a:ext>
            </a:extLst>
          </p:cNvPr>
          <p:cNvPicPr>
            <a:picLocks noChangeAspect="1"/>
          </p:cNvPicPr>
          <p:nvPr/>
        </p:nvPicPr>
        <p:blipFill>
          <a:blip r:embed="rId2"/>
          <a:stretch>
            <a:fillRect/>
          </a:stretch>
        </p:blipFill>
        <p:spPr>
          <a:xfrm>
            <a:off x="9199327" y="-946658"/>
            <a:ext cx="3140157" cy="2334027"/>
          </a:xfrm>
          <a:prstGeom prst="rect">
            <a:avLst/>
          </a:prstGeom>
        </p:spPr>
      </p:pic>
    </p:spTree>
    <p:extLst>
      <p:ext uri="{BB962C8B-B14F-4D97-AF65-F5344CB8AC3E}">
        <p14:creationId xmlns:p14="http://schemas.microsoft.com/office/powerpoint/2010/main" val="2239073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3348F-0722-745E-5AC4-21B87516E1C2}"/>
              </a:ext>
            </a:extLst>
          </p:cNvPr>
          <p:cNvSpPr>
            <a:spLocks noGrp="1"/>
          </p:cNvSpPr>
          <p:nvPr>
            <p:ph type="title"/>
          </p:nvPr>
        </p:nvSpPr>
        <p:spPr/>
        <p:txBody>
          <a:bodyPr>
            <a:normAutofit fontScale="90000"/>
          </a:bodyPr>
          <a:lstStyle/>
          <a:p>
            <a:r>
              <a:rPr lang="en-IN" dirty="0">
                <a:solidFill>
                  <a:schemeClr val="accent1"/>
                </a:solidFill>
              </a:rPr>
              <a:t>Implementation, Coding Quality, and Functionality</a:t>
            </a:r>
          </a:p>
        </p:txBody>
      </p:sp>
      <p:sp>
        <p:nvSpPr>
          <p:cNvPr id="3" name="Content Placeholder 2">
            <a:extLst>
              <a:ext uri="{FF2B5EF4-FFF2-40B4-BE49-F238E27FC236}">
                <a16:creationId xmlns:a16="http://schemas.microsoft.com/office/drawing/2014/main" id="{3AF83E07-F695-EFB1-E589-86F94EE2EE11}"/>
              </a:ext>
            </a:extLst>
          </p:cNvPr>
          <p:cNvSpPr>
            <a:spLocks noGrp="1"/>
          </p:cNvSpPr>
          <p:nvPr>
            <p:ph idx="1"/>
          </p:nvPr>
        </p:nvSpPr>
        <p:spPr>
          <a:xfrm>
            <a:off x="462116" y="1391262"/>
            <a:ext cx="4375355" cy="4879975"/>
          </a:xfrm>
        </p:spPr>
        <p:txBody>
          <a:bodyPr>
            <a:normAutofit fontScale="92500" lnSpcReduction="10000"/>
          </a:bodyPr>
          <a:lstStyle/>
          <a:p>
            <a:pPr marL="0" indent="0">
              <a:buNone/>
            </a:pPr>
            <a:r>
              <a:rPr lang="en-IN" b="1" dirty="0"/>
              <a:t>Implementation</a:t>
            </a:r>
          </a:p>
          <a:p>
            <a:pPr marL="0" indent="0">
              <a:buNone/>
            </a:pPr>
            <a:r>
              <a:rPr lang="en-IN" sz="1900" b="1" dirty="0"/>
              <a:t>Stage 1 — Ingestion</a:t>
            </a:r>
            <a:endParaRPr lang="en-IN" sz="1900" dirty="0"/>
          </a:p>
          <a:p>
            <a:pPr lvl="0"/>
            <a:r>
              <a:rPr lang="en-IN" sz="1900" dirty="0"/>
              <a:t>Loaded Netflix dataset. </a:t>
            </a:r>
          </a:p>
          <a:p>
            <a:pPr lvl="0"/>
            <a:r>
              <a:rPr lang="en-IN" sz="1900" dirty="0"/>
              <a:t>Prepared raw data for processing. </a:t>
            </a:r>
          </a:p>
          <a:p>
            <a:pPr marL="0" indent="0">
              <a:buNone/>
            </a:pPr>
            <a:r>
              <a:rPr lang="en-IN" sz="1900" b="1" dirty="0"/>
              <a:t>Stage 2 — Cleaning</a:t>
            </a:r>
            <a:endParaRPr lang="en-IN" sz="1900" dirty="0"/>
          </a:p>
          <a:p>
            <a:pPr lvl="0"/>
            <a:r>
              <a:rPr lang="en-IN" sz="1900" dirty="0"/>
              <a:t>Handled missing values. </a:t>
            </a:r>
          </a:p>
          <a:p>
            <a:pPr lvl="0"/>
            <a:r>
              <a:rPr lang="en-IN" sz="1900" dirty="0"/>
              <a:t>Standardized data fields. </a:t>
            </a:r>
          </a:p>
          <a:p>
            <a:pPr lvl="0"/>
            <a:r>
              <a:rPr lang="en-IN" sz="1900" dirty="0"/>
              <a:t>Removed inconsistencies. </a:t>
            </a:r>
          </a:p>
          <a:p>
            <a:pPr marL="0" indent="0">
              <a:buNone/>
            </a:pPr>
            <a:r>
              <a:rPr lang="en-IN" sz="1900" b="1" dirty="0"/>
              <a:t>Stage 3 — Validation</a:t>
            </a:r>
            <a:endParaRPr lang="en-IN" sz="1900" dirty="0"/>
          </a:p>
          <a:p>
            <a:pPr lvl="0"/>
            <a:r>
              <a:rPr lang="en-IN" sz="1900" dirty="0"/>
              <a:t>Checked data quality. </a:t>
            </a:r>
          </a:p>
          <a:p>
            <a:pPr lvl="0"/>
            <a:r>
              <a:rPr lang="en-IN" sz="1900" dirty="0"/>
              <a:t>Validated processed records.</a:t>
            </a:r>
          </a:p>
          <a:p>
            <a:pPr marL="0" indent="0">
              <a:buNone/>
            </a:pPr>
            <a:r>
              <a:rPr lang="en-IN" sz="1900" b="1" dirty="0"/>
              <a:t>Stage 4 — </a:t>
            </a:r>
            <a:r>
              <a:rPr lang="en-IN" sz="1900" b="1" dirty="0" err="1"/>
              <a:t>PySpark</a:t>
            </a:r>
            <a:r>
              <a:rPr lang="en-IN" sz="1900" b="1" dirty="0"/>
              <a:t> Transformation</a:t>
            </a:r>
            <a:endParaRPr lang="en-IN" sz="1900" dirty="0"/>
          </a:p>
          <a:p>
            <a:pPr lvl="0"/>
            <a:r>
              <a:rPr lang="en-IN" sz="1900" dirty="0"/>
              <a:t>Created derived features. </a:t>
            </a:r>
          </a:p>
          <a:p>
            <a:pPr lvl="0"/>
            <a:r>
              <a:rPr lang="en-IN" sz="1900" dirty="0"/>
              <a:t>Generated genre count. </a:t>
            </a:r>
          </a:p>
          <a:p>
            <a:pPr lvl="0"/>
            <a:r>
              <a:rPr lang="en-IN" sz="1900" dirty="0"/>
              <a:t>Generated country count. </a:t>
            </a:r>
          </a:p>
          <a:p>
            <a:endParaRPr lang="en-IN" dirty="0"/>
          </a:p>
        </p:txBody>
      </p:sp>
      <p:pic>
        <p:nvPicPr>
          <p:cNvPr id="6" name="Picture 5" descr="MAPS &amp; DIRECTIONS - Best Private University in Telangana ...">
            <a:extLst>
              <a:ext uri="{FF2B5EF4-FFF2-40B4-BE49-F238E27FC236}">
                <a16:creationId xmlns:a16="http://schemas.microsoft.com/office/drawing/2014/main" id="{992ACD31-1C46-BC4C-1503-B3EA0EC86FEB}"/>
              </a:ext>
            </a:extLst>
          </p:cNvPr>
          <p:cNvPicPr>
            <a:picLocks noChangeAspect="1"/>
          </p:cNvPicPr>
          <p:nvPr/>
        </p:nvPicPr>
        <p:blipFill>
          <a:blip r:embed="rId2"/>
          <a:stretch>
            <a:fillRect/>
          </a:stretch>
        </p:blipFill>
        <p:spPr>
          <a:xfrm>
            <a:off x="9130502" y="-864104"/>
            <a:ext cx="3140157" cy="2334027"/>
          </a:xfrm>
          <a:prstGeom prst="rect">
            <a:avLst/>
          </a:prstGeom>
        </p:spPr>
      </p:pic>
      <p:sp>
        <p:nvSpPr>
          <p:cNvPr id="7" name="TextBox 6">
            <a:extLst>
              <a:ext uri="{FF2B5EF4-FFF2-40B4-BE49-F238E27FC236}">
                <a16:creationId xmlns:a16="http://schemas.microsoft.com/office/drawing/2014/main" id="{2755E12C-1B74-6035-BCFF-E3739F3E25C0}"/>
              </a:ext>
            </a:extLst>
          </p:cNvPr>
          <p:cNvSpPr txBox="1"/>
          <p:nvPr/>
        </p:nvSpPr>
        <p:spPr>
          <a:xfrm>
            <a:off x="5594556" y="1469923"/>
            <a:ext cx="6135328" cy="4801314"/>
          </a:xfrm>
          <a:prstGeom prst="rect">
            <a:avLst/>
          </a:prstGeom>
          <a:noFill/>
        </p:spPr>
        <p:txBody>
          <a:bodyPr wrap="square">
            <a:spAutoFit/>
          </a:bodyPr>
          <a:lstStyle/>
          <a:p>
            <a:pPr marL="285750" lvl="0" indent="-285750">
              <a:buFont typeface="Arial" panose="020B0604020202020204" pitchFamily="34" charset="0"/>
              <a:buChar char="•"/>
            </a:pPr>
            <a:r>
              <a:rPr lang="en-IN" dirty="0"/>
              <a:t>Calculated content age. </a:t>
            </a:r>
          </a:p>
          <a:p>
            <a:pPr marL="285750" lvl="0" indent="-285750">
              <a:buFont typeface="Arial" panose="020B0604020202020204" pitchFamily="34" charset="0"/>
              <a:buChar char="•"/>
            </a:pPr>
            <a:r>
              <a:rPr lang="en-IN" dirty="0"/>
              <a:t>Categorized release periods. </a:t>
            </a:r>
          </a:p>
          <a:p>
            <a:pPr marL="285750" lvl="0" indent="-285750">
              <a:buFont typeface="Arial" panose="020B0604020202020204" pitchFamily="34" charset="0"/>
              <a:buChar char="•"/>
            </a:pPr>
            <a:r>
              <a:rPr lang="en-IN" dirty="0"/>
              <a:t>Categorized content and duration</a:t>
            </a:r>
          </a:p>
          <a:p>
            <a:r>
              <a:rPr lang="en-IN" b="1" dirty="0"/>
              <a:t>Stage 5 — MongoDB Storage</a:t>
            </a:r>
            <a:endParaRPr lang="en-IN" dirty="0"/>
          </a:p>
          <a:p>
            <a:pPr marL="285750" lvl="0" indent="-285750">
              <a:buFont typeface="Arial" panose="020B0604020202020204" pitchFamily="34" charset="0"/>
              <a:buChar char="•"/>
            </a:pPr>
            <a:r>
              <a:rPr lang="en-IN" dirty="0"/>
              <a:t>Stored processed Netflix records. </a:t>
            </a:r>
          </a:p>
          <a:p>
            <a:pPr marL="285750" lvl="0" indent="-285750">
              <a:buFont typeface="Arial" panose="020B0604020202020204" pitchFamily="34" charset="0"/>
              <a:buChar char="•"/>
            </a:pPr>
            <a:r>
              <a:rPr lang="en-IN" dirty="0"/>
              <a:t>Database: </a:t>
            </a:r>
            <a:r>
              <a:rPr lang="en-IN" dirty="0" err="1"/>
              <a:t>netflix_data</a:t>
            </a:r>
            <a:r>
              <a:rPr lang="en-IN" dirty="0"/>
              <a:t> </a:t>
            </a:r>
          </a:p>
          <a:p>
            <a:pPr marL="285750" lvl="0" indent="-285750">
              <a:buFont typeface="Arial" panose="020B0604020202020204" pitchFamily="34" charset="0"/>
              <a:buChar char="•"/>
            </a:pPr>
            <a:r>
              <a:rPr lang="en-IN" dirty="0"/>
              <a:t>Collection: </a:t>
            </a:r>
            <a:r>
              <a:rPr lang="en-IN" dirty="0" err="1"/>
              <a:t>netflix_titles</a:t>
            </a:r>
            <a:r>
              <a:rPr lang="en-IN" dirty="0"/>
              <a:t> </a:t>
            </a:r>
          </a:p>
          <a:p>
            <a:r>
              <a:rPr lang="en-IN" b="1" dirty="0"/>
              <a:t>Stage 6 — Analytics</a:t>
            </a:r>
            <a:endParaRPr lang="en-IN" dirty="0"/>
          </a:p>
          <a:p>
            <a:pPr marL="285750" lvl="0" indent="-285750">
              <a:buFont typeface="Arial" panose="020B0604020202020204" pitchFamily="34" charset="0"/>
              <a:buChar char="•"/>
            </a:pPr>
            <a:r>
              <a:rPr lang="en-IN" dirty="0"/>
              <a:t>Content type </a:t>
            </a:r>
          </a:p>
          <a:p>
            <a:pPr marL="285750" lvl="0" indent="-285750">
              <a:buFont typeface="Arial" panose="020B0604020202020204" pitchFamily="34" charset="0"/>
              <a:buChar char="•"/>
            </a:pPr>
            <a:r>
              <a:rPr lang="en-IN" dirty="0"/>
              <a:t>Ratings </a:t>
            </a:r>
          </a:p>
          <a:p>
            <a:pPr marL="285750" lvl="0" indent="-285750">
              <a:buFont typeface="Arial" panose="020B0604020202020204" pitchFamily="34" charset="0"/>
              <a:buChar char="•"/>
            </a:pPr>
            <a:r>
              <a:rPr lang="en-IN" dirty="0"/>
              <a:t>Countries </a:t>
            </a:r>
          </a:p>
          <a:p>
            <a:pPr marL="285750" lvl="0" indent="-285750">
              <a:buFont typeface="Arial" panose="020B0604020202020204" pitchFamily="34" charset="0"/>
              <a:buChar char="•"/>
            </a:pPr>
            <a:r>
              <a:rPr lang="en-IN" dirty="0"/>
              <a:t>Genres </a:t>
            </a:r>
          </a:p>
          <a:p>
            <a:pPr marL="285750" lvl="0" indent="-285750">
              <a:buFont typeface="Arial" panose="020B0604020202020204" pitchFamily="34" charset="0"/>
              <a:buChar char="•"/>
            </a:pPr>
            <a:r>
              <a:rPr lang="en-IN" dirty="0"/>
              <a:t>Release years </a:t>
            </a:r>
          </a:p>
          <a:p>
            <a:r>
              <a:rPr lang="en-IN" b="1" dirty="0"/>
              <a:t>Stage 7 — Recommendation</a:t>
            </a:r>
            <a:endParaRPr lang="en-IN" dirty="0"/>
          </a:p>
          <a:p>
            <a:pPr marL="285750" lvl="0" indent="-285750">
              <a:buFont typeface="Arial" panose="020B0604020202020204" pitchFamily="34" charset="0"/>
              <a:buChar char="•"/>
            </a:pPr>
            <a:r>
              <a:rPr lang="en-IN" dirty="0"/>
              <a:t>Content-based similarity using Scikit-learn. </a:t>
            </a:r>
          </a:p>
          <a:p>
            <a:pPr marL="285750" lvl="0" indent="-285750">
              <a:buFont typeface="Arial" panose="020B0604020202020204" pitchFamily="34" charset="0"/>
              <a:buChar char="•"/>
            </a:pPr>
            <a:r>
              <a:rPr lang="en-IN" dirty="0"/>
              <a:t>Generated recommendations for Netflix titles.</a:t>
            </a:r>
          </a:p>
          <a:p>
            <a:pPr lvl="0"/>
            <a:endParaRPr lang="en-IN" dirty="0"/>
          </a:p>
        </p:txBody>
      </p:sp>
    </p:spTree>
    <p:extLst>
      <p:ext uri="{BB962C8B-B14F-4D97-AF65-F5344CB8AC3E}">
        <p14:creationId xmlns:p14="http://schemas.microsoft.com/office/powerpoint/2010/main" val="1511026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FB279F-8FAC-179B-F577-11246CF9FF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764607" cy="3047539"/>
          </a:xfrm>
          <a:prstGeom prst="rect">
            <a:avLst/>
          </a:prstGeom>
        </p:spPr>
      </p:pic>
      <p:pic>
        <p:nvPicPr>
          <p:cNvPr id="7" name="Picture 6">
            <a:extLst>
              <a:ext uri="{FF2B5EF4-FFF2-40B4-BE49-F238E27FC236}">
                <a16:creationId xmlns:a16="http://schemas.microsoft.com/office/drawing/2014/main" id="{C19BAD2B-FA29-7F38-3506-3CA367E2D4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2762" y="0"/>
            <a:ext cx="4006852" cy="3047539"/>
          </a:xfrm>
          <a:prstGeom prst="rect">
            <a:avLst/>
          </a:prstGeom>
        </p:spPr>
      </p:pic>
      <p:pic>
        <p:nvPicPr>
          <p:cNvPr id="9" name="Picture 8">
            <a:extLst>
              <a:ext uri="{FF2B5EF4-FFF2-40B4-BE49-F238E27FC236}">
                <a16:creationId xmlns:a16="http://schemas.microsoft.com/office/drawing/2014/main" id="{B07237E2-DBB4-A208-BCDC-7945E00CCF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7937" y="0"/>
            <a:ext cx="4013266" cy="3047539"/>
          </a:xfrm>
          <a:prstGeom prst="rect">
            <a:avLst/>
          </a:prstGeom>
        </p:spPr>
      </p:pic>
      <p:pic>
        <p:nvPicPr>
          <p:cNvPr id="11" name="Picture 10">
            <a:extLst>
              <a:ext uri="{FF2B5EF4-FFF2-40B4-BE49-F238E27FC236}">
                <a16:creationId xmlns:a16="http://schemas.microsoft.com/office/drawing/2014/main" id="{210453CF-CE06-C272-A820-2335CF3C1E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3316084"/>
            <a:ext cx="3764606" cy="1241982"/>
          </a:xfrm>
          <a:prstGeom prst="rect">
            <a:avLst/>
          </a:prstGeom>
        </p:spPr>
      </p:pic>
      <p:pic>
        <p:nvPicPr>
          <p:cNvPr id="13" name="Picture 12">
            <a:extLst>
              <a:ext uri="{FF2B5EF4-FFF2-40B4-BE49-F238E27FC236}">
                <a16:creationId xmlns:a16="http://schemas.microsoft.com/office/drawing/2014/main" id="{7E067121-684C-63D9-1281-50569573873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4896653"/>
            <a:ext cx="3764606" cy="1241982"/>
          </a:xfrm>
          <a:prstGeom prst="rect">
            <a:avLst/>
          </a:prstGeom>
        </p:spPr>
      </p:pic>
      <p:pic>
        <p:nvPicPr>
          <p:cNvPr id="15" name="Picture 14">
            <a:extLst>
              <a:ext uri="{FF2B5EF4-FFF2-40B4-BE49-F238E27FC236}">
                <a16:creationId xmlns:a16="http://schemas.microsoft.com/office/drawing/2014/main" id="{22100D46-40B3-D100-5C5A-CEA116F59D7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72763" y="3316083"/>
            <a:ext cx="4095903" cy="3439106"/>
          </a:xfrm>
          <a:prstGeom prst="rect">
            <a:avLst/>
          </a:prstGeom>
        </p:spPr>
      </p:pic>
      <p:pic>
        <p:nvPicPr>
          <p:cNvPr id="17" name="Picture 16">
            <a:extLst>
              <a:ext uri="{FF2B5EF4-FFF2-40B4-BE49-F238E27FC236}">
                <a16:creationId xmlns:a16="http://schemas.microsoft.com/office/drawing/2014/main" id="{1B4785DE-D4CA-7672-C95B-91AEB606047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78735" y="3316084"/>
            <a:ext cx="3912467" cy="3439106"/>
          </a:xfrm>
          <a:prstGeom prst="rect">
            <a:avLst/>
          </a:prstGeom>
        </p:spPr>
      </p:pic>
    </p:spTree>
    <p:extLst>
      <p:ext uri="{BB962C8B-B14F-4D97-AF65-F5344CB8AC3E}">
        <p14:creationId xmlns:p14="http://schemas.microsoft.com/office/powerpoint/2010/main" val="4290625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4D2AD2-2401-3703-CFC5-4AF501726DDA}"/>
              </a:ext>
            </a:extLst>
          </p:cNvPr>
          <p:cNvSpPr txBox="1"/>
          <p:nvPr/>
        </p:nvSpPr>
        <p:spPr>
          <a:xfrm>
            <a:off x="78658" y="117987"/>
            <a:ext cx="9085007" cy="6924973"/>
          </a:xfrm>
          <a:prstGeom prst="rect">
            <a:avLst/>
          </a:prstGeom>
          <a:noFill/>
        </p:spPr>
        <p:txBody>
          <a:bodyPr wrap="square">
            <a:spAutoFit/>
          </a:bodyPr>
          <a:lstStyle/>
          <a:p>
            <a:pPr>
              <a:buNone/>
            </a:pPr>
            <a:r>
              <a:rPr lang="en-IN" sz="2400" b="1" dirty="0"/>
              <a:t>Coding Quality</a:t>
            </a:r>
          </a:p>
          <a:p>
            <a:pPr marL="285750" lvl="0" indent="-285750">
              <a:buFont typeface="Arial" panose="020B0604020202020204" pitchFamily="34" charset="0"/>
              <a:buChar char="•"/>
            </a:pPr>
            <a:r>
              <a:rPr lang="en-IN" dirty="0"/>
              <a:t>Modular Python implementation. </a:t>
            </a:r>
          </a:p>
          <a:p>
            <a:pPr marL="285750" lvl="0" indent="-285750">
              <a:buFont typeface="Arial" panose="020B0604020202020204" pitchFamily="34" charset="0"/>
              <a:buChar char="•"/>
            </a:pPr>
            <a:r>
              <a:rPr lang="en-IN" dirty="0"/>
              <a:t>Separate modules for ingestion, cleaning, validation, transformation, storage, analytics, and recommendation. </a:t>
            </a:r>
          </a:p>
          <a:p>
            <a:pPr marL="285750" lvl="0" indent="-285750">
              <a:buFont typeface="Arial" panose="020B0604020202020204" pitchFamily="34" charset="0"/>
              <a:buChar char="•"/>
            </a:pPr>
            <a:r>
              <a:rPr lang="en-IN" dirty="0" err="1"/>
              <a:t>PySpark</a:t>
            </a:r>
            <a:r>
              <a:rPr lang="en-IN" dirty="0"/>
              <a:t> used for scalable transformation. </a:t>
            </a:r>
          </a:p>
          <a:p>
            <a:pPr marL="285750" lvl="0" indent="-285750">
              <a:buFont typeface="Arial" panose="020B0604020202020204" pitchFamily="34" charset="0"/>
              <a:buChar char="•"/>
            </a:pPr>
            <a:r>
              <a:rPr lang="en-IN" dirty="0"/>
              <a:t>MongoDB used for NoSQL storage. </a:t>
            </a:r>
          </a:p>
          <a:p>
            <a:pPr marL="285750" lvl="0" indent="-285750">
              <a:buFont typeface="Arial" panose="020B0604020202020204" pitchFamily="34" charset="0"/>
              <a:buChar char="•"/>
            </a:pPr>
            <a:r>
              <a:rPr lang="en-IN" dirty="0"/>
              <a:t>Scikit-learn used for similarity-based recommendation. </a:t>
            </a:r>
          </a:p>
          <a:p>
            <a:pPr marL="285750" lvl="0" indent="-285750">
              <a:buFont typeface="Arial" panose="020B0604020202020204" pitchFamily="34" charset="0"/>
              <a:buChar char="•"/>
            </a:pPr>
            <a:r>
              <a:rPr lang="en-IN" dirty="0"/>
              <a:t>Airflow DAG used for workflow orchestration. </a:t>
            </a:r>
          </a:p>
          <a:p>
            <a:pPr marL="285750" lvl="0" indent="-285750">
              <a:buFont typeface="Arial" panose="020B0604020202020204" pitchFamily="34" charset="0"/>
              <a:buChar char="•"/>
            </a:pPr>
            <a:r>
              <a:rPr lang="en-IN" dirty="0"/>
              <a:t>Docker used for reproducible Airflow execution. </a:t>
            </a:r>
          </a:p>
          <a:p>
            <a:pPr marL="285750" lvl="0" indent="-285750">
              <a:buFont typeface="Arial" panose="020B0604020202020204" pitchFamily="34" charset="0"/>
              <a:buChar char="•"/>
            </a:pPr>
            <a:r>
              <a:rPr lang="en-IN" dirty="0"/>
              <a:t>Output files and intermediate results organized into separate directories. </a:t>
            </a:r>
          </a:p>
          <a:p>
            <a:pPr marL="285750" lvl="0" indent="-285750">
              <a:buFont typeface="Arial" panose="020B0604020202020204" pitchFamily="34" charset="0"/>
              <a:buChar char="•"/>
            </a:pPr>
            <a:r>
              <a:rPr lang="en-IN" dirty="0"/>
              <a:t>Validation performed at different stages of the pipeline.</a:t>
            </a:r>
          </a:p>
          <a:p>
            <a:pPr marL="285750" lvl="0" indent="-285750">
              <a:buFont typeface="Arial" panose="020B0604020202020204" pitchFamily="34" charset="0"/>
              <a:buChar char="•"/>
            </a:pPr>
            <a:endParaRPr lang="en-IN" sz="2400" dirty="0"/>
          </a:p>
          <a:p>
            <a:pPr>
              <a:buNone/>
            </a:pPr>
            <a:r>
              <a:rPr lang="en-IN" sz="2400" b="1" dirty="0"/>
              <a:t>Functionality</a:t>
            </a:r>
          </a:p>
          <a:p>
            <a:pPr>
              <a:buNone/>
            </a:pPr>
            <a:r>
              <a:rPr lang="en-IN" sz="2400" dirty="0"/>
              <a:t>The system provides analysis of:</a:t>
            </a:r>
          </a:p>
          <a:p>
            <a:pPr marL="285750" lvl="0" indent="-285750">
              <a:buFont typeface="Arial" panose="020B0604020202020204" pitchFamily="34" charset="0"/>
              <a:buChar char="•"/>
            </a:pPr>
            <a:r>
              <a:rPr lang="en-IN" dirty="0"/>
              <a:t>Netflix dataset ingestion </a:t>
            </a:r>
          </a:p>
          <a:p>
            <a:pPr marL="285750" lvl="0" indent="-285750">
              <a:buFont typeface="Arial" panose="020B0604020202020204" pitchFamily="34" charset="0"/>
              <a:buChar char="•"/>
            </a:pPr>
            <a:r>
              <a:rPr lang="en-IN" dirty="0"/>
              <a:t>Data cleaning </a:t>
            </a:r>
          </a:p>
          <a:p>
            <a:pPr marL="285750" lvl="0" indent="-285750">
              <a:buFont typeface="Arial" panose="020B0604020202020204" pitchFamily="34" charset="0"/>
              <a:buChar char="•"/>
            </a:pPr>
            <a:r>
              <a:rPr lang="en-IN" dirty="0"/>
              <a:t>Data validation </a:t>
            </a:r>
          </a:p>
          <a:p>
            <a:pPr marL="285750" lvl="0" indent="-285750">
              <a:buFont typeface="Arial" panose="020B0604020202020204" pitchFamily="34" charset="0"/>
              <a:buChar char="•"/>
            </a:pPr>
            <a:r>
              <a:rPr lang="en-IN" dirty="0" err="1"/>
              <a:t>PySpark</a:t>
            </a:r>
            <a:r>
              <a:rPr lang="en-IN" dirty="0"/>
              <a:t> transformation </a:t>
            </a:r>
          </a:p>
          <a:p>
            <a:pPr marL="285750" lvl="0" indent="-285750">
              <a:buFont typeface="Arial" panose="020B0604020202020204" pitchFamily="34" charset="0"/>
              <a:buChar char="•"/>
            </a:pPr>
            <a:r>
              <a:rPr lang="en-IN" dirty="0"/>
              <a:t>Feature engineering </a:t>
            </a:r>
          </a:p>
          <a:p>
            <a:pPr marL="285750" lvl="0" indent="-285750">
              <a:buFont typeface="Arial" panose="020B0604020202020204" pitchFamily="34" charset="0"/>
              <a:buChar char="•"/>
            </a:pPr>
            <a:r>
              <a:rPr lang="en-IN" dirty="0"/>
              <a:t>MongoDB storage </a:t>
            </a:r>
          </a:p>
          <a:p>
            <a:pPr marL="285750" lvl="0" indent="-285750">
              <a:buFont typeface="Arial" panose="020B0604020202020204" pitchFamily="34" charset="0"/>
              <a:buChar char="•"/>
            </a:pPr>
            <a:r>
              <a:rPr lang="en-IN" dirty="0"/>
              <a:t>Content-type analysis </a:t>
            </a:r>
          </a:p>
          <a:p>
            <a:pPr marL="285750" lvl="0" indent="-285750">
              <a:buFont typeface="Arial" panose="020B0604020202020204" pitchFamily="34" charset="0"/>
              <a:buChar char="•"/>
            </a:pPr>
            <a:r>
              <a:rPr lang="en-IN" dirty="0"/>
              <a:t>Rating analysis</a:t>
            </a:r>
          </a:p>
          <a:p>
            <a:pPr>
              <a:buNone/>
            </a:pPr>
            <a:endParaRPr lang="en-IN" sz="2400" dirty="0"/>
          </a:p>
        </p:txBody>
      </p:sp>
      <p:pic>
        <p:nvPicPr>
          <p:cNvPr id="4" name="Picture 3" descr="MAPS &amp; DIRECTIONS - Best Private University in Telangana ...">
            <a:extLst>
              <a:ext uri="{FF2B5EF4-FFF2-40B4-BE49-F238E27FC236}">
                <a16:creationId xmlns:a16="http://schemas.microsoft.com/office/drawing/2014/main" id="{D0EEAA99-B9FC-D825-2A76-7053249610E7}"/>
              </a:ext>
            </a:extLst>
          </p:cNvPr>
          <p:cNvPicPr>
            <a:picLocks noChangeAspect="1"/>
          </p:cNvPicPr>
          <p:nvPr/>
        </p:nvPicPr>
        <p:blipFill>
          <a:blip r:embed="rId2"/>
          <a:stretch>
            <a:fillRect/>
          </a:stretch>
        </p:blipFill>
        <p:spPr>
          <a:xfrm>
            <a:off x="9051843" y="-897497"/>
            <a:ext cx="3140157" cy="2334027"/>
          </a:xfrm>
          <a:prstGeom prst="rect">
            <a:avLst/>
          </a:prstGeom>
        </p:spPr>
      </p:pic>
      <p:sp>
        <p:nvSpPr>
          <p:cNvPr id="5" name="TextBox 4">
            <a:extLst>
              <a:ext uri="{FF2B5EF4-FFF2-40B4-BE49-F238E27FC236}">
                <a16:creationId xmlns:a16="http://schemas.microsoft.com/office/drawing/2014/main" id="{B29B7EB4-B972-68EE-8151-465C4206E320}"/>
              </a:ext>
            </a:extLst>
          </p:cNvPr>
          <p:cNvSpPr txBox="1"/>
          <p:nvPr/>
        </p:nvSpPr>
        <p:spPr>
          <a:xfrm>
            <a:off x="4753896" y="4447005"/>
            <a:ext cx="6105832" cy="1754326"/>
          </a:xfrm>
          <a:prstGeom prst="rect">
            <a:avLst/>
          </a:prstGeom>
          <a:noFill/>
        </p:spPr>
        <p:txBody>
          <a:bodyPr wrap="square">
            <a:spAutoFit/>
          </a:bodyPr>
          <a:lstStyle/>
          <a:p>
            <a:pPr marL="342900" lvl="0" indent="-342900">
              <a:buFont typeface="Arial" panose="020B0604020202020204" pitchFamily="34" charset="0"/>
              <a:buChar char="•"/>
            </a:pPr>
            <a:r>
              <a:rPr lang="en-IN" dirty="0"/>
              <a:t>Country analysis </a:t>
            </a:r>
          </a:p>
          <a:p>
            <a:pPr marL="342900" lvl="0" indent="-342900">
              <a:buFont typeface="Arial" panose="020B0604020202020204" pitchFamily="34" charset="0"/>
              <a:buChar char="•"/>
            </a:pPr>
            <a:r>
              <a:rPr lang="en-IN" dirty="0"/>
              <a:t>Genre analysis </a:t>
            </a:r>
          </a:p>
          <a:p>
            <a:pPr marL="342900" lvl="0" indent="-342900">
              <a:buFont typeface="Arial" panose="020B0604020202020204" pitchFamily="34" charset="0"/>
              <a:buChar char="•"/>
            </a:pPr>
            <a:r>
              <a:rPr lang="en-IN" dirty="0"/>
              <a:t>Release-year analysis </a:t>
            </a:r>
          </a:p>
          <a:p>
            <a:pPr marL="342900" lvl="0" indent="-342900">
              <a:buFont typeface="Arial" panose="020B0604020202020204" pitchFamily="34" charset="0"/>
              <a:buChar char="•"/>
            </a:pPr>
            <a:r>
              <a:rPr lang="en-IN" dirty="0"/>
              <a:t>Content-based recommendations </a:t>
            </a:r>
          </a:p>
          <a:p>
            <a:pPr marL="342900" lvl="0" indent="-342900">
              <a:buFont typeface="Arial" panose="020B0604020202020204" pitchFamily="34" charset="0"/>
              <a:buChar char="•"/>
            </a:pPr>
            <a:r>
              <a:rPr lang="en-IN" dirty="0"/>
              <a:t>Automated Airflow orchestration </a:t>
            </a:r>
          </a:p>
          <a:p>
            <a:pPr marL="342900" lvl="0" indent="-342900">
              <a:buFont typeface="Arial" panose="020B0604020202020204" pitchFamily="34" charset="0"/>
              <a:buChar char="•"/>
            </a:pPr>
            <a:r>
              <a:rPr lang="en-IN" dirty="0"/>
              <a:t>Power BI visualization</a:t>
            </a:r>
          </a:p>
        </p:txBody>
      </p:sp>
    </p:spTree>
    <p:extLst>
      <p:ext uri="{BB962C8B-B14F-4D97-AF65-F5344CB8AC3E}">
        <p14:creationId xmlns:p14="http://schemas.microsoft.com/office/powerpoint/2010/main" val="732149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5C079-B342-58DE-1BFD-B368B2B314A6}"/>
              </a:ext>
            </a:extLst>
          </p:cNvPr>
          <p:cNvSpPr>
            <a:spLocks noGrp="1"/>
          </p:cNvSpPr>
          <p:nvPr>
            <p:ph type="title"/>
          </p:nvPr>
        </p:nvSpPr>
        <p:spPr/>
        <p:txBody>
          <a:bodyPr/>
          <a:lstStyle/>
          <a:p>
            <a:r>
              <a:rPr lang="en-US" dirty="0">
                <a:solidFill>
                  <a:schemeClr val="accent1"/>
                </a:solidFill>
              </a:rPr>
              <a:t>EXISTING SYSTEMS</a:t>
            </a:r>
            <a:endParaRPr lang="en-IN" dirty="0">
              <a:solidFill>
                <a:schemeClr val="accent1"/>
              </a:solidFill>
            </a:endParaRPr>
          </a:p>
        </p:txBody>
      </p:sp>
      <p:sp>
        <p:nvSpPr>
          <p:cNvPr id="3" name="Content Placeholder 2">
            <a:extLst>
              <a:ext uri="{FF2B5EF4-FFF2-40B4-BE49-F238E27FC236}">
                <a16:creationId xmlns:a16="http://schemas.microsoft.com/office/drawing/2014/main" id="{1898F74A-8E89-31B9-86B7-EB9A9C04CF25}"/>
              </a:ext>
            </a:extLst>
          </p:cNvPr>
          <p:cNvSpPr>
            <a:spLocks noGrp="1"/>
          </p:cNvSpPr>
          <p:nvPr>
            <p:ph idx="1"/>
          </p:nvPr>
        </p:nvSpPr>
        <p:spPr>
          <a:xfrm>
            <a:off x="304800" y="1066800"/>
            <a:ext cx="10825316" cy="4901381"/>
          </a:xfrm>
        </p:spPr>
        <p:txBody>
          <a:bodyPr>
            <a:normAutofit/>
          </a:bodyPr>
          <a:lstStyle/>
          <a:p>
            <a:pPr lvl="0"/>
            <a:r>
              <a:rPr lang="en-IN" dirty="0"/>
              <a:t>Netflix generates and stores a large amount of content-related data. </a:t>
            </a:r>
          </a:p>
          <a:p>
            <a:pPr lvl="0"/>
            <a:r>
              <a:rPr lang="en-IN" dirty="0"/>
              <a:t>Existing platforms mainly focus on </a:t>
            </a:r>
            <a:r>
              <a:rPr lang="en-IN" b="1" dirty="0"/>
              <a:t>content delivery and recommendation</a:t>
            </a:r>
            <a:r>
              <a:rPr lang="en-IN" dirty="0"/>
              <a:t>. </a:t>
            </a:r>
          </a:p>
          <a:p>
            <a:pPr lvl="0"/>
            <a:r>
              <a:rPr lang="en-IN" dirty="0"/>
              <a:t>Data is collected from different attributes such as: </a:t>
            </a:r>
          </a:p>
          <a:p>
            <a:pPr lvl="1"/>
            <a:r>
              <a:rPr lang="en-IN" dirty="0"/>
              <a:t>Movies and TV Shows 								</a:t>
            </a:r>
          </a:p>
          <a:p>
            <a:pPr lvl="1"/>
            <a:r>
              <a:rPr lang="en-IN" dirty="0"/>
              <a:t>Country </a:t>
            </a:r>
          </a:p>
          <a:p>
            <a:pPr lvl="1"/>
            <a:r>
              <a:rPr lang="en-IN" dirty="0"/>
              <a:t>Rating </a:t>
            </a:r>
          </a:p>
          <a:p>
            <a:pPr lvl="1"/>
            <a:r>
              <a:rPr lang="en-IN" dirty="0"/>
              <a:t>Release year </a:t>
            </a:r>
          </a:p>
          <a:p>
            <a:pPr lvl="1"/>
            <a:r>
              <a:rPr lang="en-IN" dirty="0"/>
              <a:t>Genre </a:t>
            </a:r>
          </a:p>
          <a:p>
            <a:pPr lvl="0"/>
            <a:r>
              <a:rPr lang="en-IN" dirty="0"/>
              <a:t>Traditional analysis of raw datasets can be difficult. </a:t>
            </a:r>
          </a:p>
          <a:p>
            <a:pPr lvl="0"/>
            <a:r>
              <a:rPr lang="en-IN" dirty="0"/>
              <a:t>Business users need dashboards to understand the data easily.</a:t>
            </a:r>
          </a:p>
          <a:p>
            <a:endParaRPr lang="en-IN" dirty="0"/>
          </a:p>
        </p:txBody>
      </p:sp>
      <p:pic>
        <p:nvPicPr>
          <p:cNvPr id="5" name="Picture 4" descr="MAPS &amp; DIRECTIONS - Best Private University in Telangana ...">
            <a:extLst>
              <a:ext uri="{FF2B5EF4-FFF2-40B4-BE49-F238E27FC236}">
                <a16:creationId xmlns:a16="http://schemas.microsoft.com/office/drawing/2014/main" id="{C8C7A672-8B13-1B31-7350-1647148AEA04}"/>
              </a:ext>
            </a:extLst>
          </p:cNvPr>
          <p:cNvPicPr>
            <a:picLocks noChangeAspect="1"/>
          </p:cNvPicPr>
          <p:nvPr/>
        </p:nvPicPr>
        <p:blipFill>
          <a:blip r:embed="rId2"/>
          <a:stretch>
            <a:fillRect/>
          </a:stretch>
        </p:blipFill>
        <p:spPr>
          <a:xfrm>
            <a:off x="9051843" y="-869357"/>
            <a:ext cx="3140157" cy="2334027"/>
          </a:xfrm>
          <a:prstGeom prst="rect">
            <a:avLst/>
          </a:prstGeom>
        </p:spPr>
      </p:pic>
    </p:spTree>
    <p:extLst>
      <p:ext uri="{BB962C8B-B14F-4D97-AF65-F5344CB8AC3E}">
        <p14:creationId xmlns:p14="http://schemas.microsoft.com/office/powerpoint/2010/main" val="3215910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26B1C-C37A-F405-A972-3CF78FF0DC43}"/>
              </a:ext>
            </a:extLst>
          </p:cNvPr>
          <p:cNvSpPr>
            <a:spLocks noGrp="1"/>
          </p:cNvSpPr>
          <p:nvPr>
            <p:ph type="title"/>
          </p:nvPr>
        </p:nvSpPr>
        <p:spPr/>
        <p:txBody>
          <a:bodyPr>
            <a:normAutofit fontScale="90000"/>
          </a:bodyPr>
          <a:lstStyle/>
          <a:p>
            <a:r>
              <a:rPr lang="en-US" dirty="0">
                <a:solidFill>
                  <a:srgbClr val="0070C0"/>
                </a:solidFill>
              </a:rPr>
              <a:t>LIMITATIONS OF EXISTING SYSTEMS</a:t>
            </a:r>
            <a:endParaRPr lang="en-IN" dirty="0">
              <a:solidFill>
                <a:srgbClr val="0070C0"/>
              </a:solidFill>
            </a:endParaRPr>
          </a:p>
        </p:txBody>
      </p:sp>
      <p:sp>
        <p:nvSpPr>
          <p:cNvPr id="3" name="Content Placeholder 2">
            <a:extLst>
              <a:ext uri="{FF2B5EF4-FFF2-40B4-BE49-F238E27FC236}">
                <a16:creationId xmlns:a16="http://schemas.microsoft.com/office/drawing/2014/main" id="{49E94246-D813-B999-C709-F5D229100D86}"/>
              </a:ext>
            </a:extLst>
          </p:cNvPr>
          <p:cNvSpPr>
            <a:spLocks noGrp="1"/>
          </p:cNvSpPr>
          <p:nvPr>
            <p:ph idx="1"/>
          </p:nvPr>
        </p:nvSpPr>
        <p:spPr>
          <a:xfrm>
            <a:off x="838200" y="1690688"/>
            <a:ext cx="10515600" cy="4351338"/>
          </a:xfrm>
        </p:spPr>
        <p:txBody>
          <a:bodyPr>
            <a:normAutofit/>
          </a:bodyPr>
          <a:lstStyle/>
          <a:p>
            <a:pPr lvl="0"/>
            <a:r>
              <a:rPr lang="en-IN" dirty="0"/>
              <a:t>Raw data may contain missing or inconsistent values. </a:t>
            </a:r>
          </a:p>
          <a:p>
            <a:pPr lvl="0"/>
            <a:r>
              <a:rPr lang="en-IN" dirty="0"/>
              <a:t>Large datasets are difficult to </a:t>
            </a:r>
            <a:r>
              <a:rPr lang="en-IN" dirty="0" err="1"/>
              <a:t>analyze</a:t>
            </a:r>
            <a:r>
              <a:rPr lang="en-IN" dirty="0"/>
              <a:t> manually. </a:t>
            </a:r>
          </a:p>
          <a:p>
            <a:pPr lvl="0"/>
            <a:r>
              <a:rPr lang="en-IN" dirty="0"/>
              <a:t>Data requires preprocessing before meaningful analysis. </a:t>
            </a:r>
          </a:p>
          <a:p>
            <a:pPr lvl="0"/>
            <a:r>
              <a:rPr lang="en-IN" dirty="0"/>
              <a:t>Static analysis makes trend exploration difficult. </a:t>
            </a:r>
          </a:p>
          <a:p>
            <a:pPr lvl="0"/>
            <a:r>
              <a:rPr lang="en-IN" dirty="0"/>
              <a:t>Manual execution of multiple processing steps can be time-consuming. </a:t>
            </a:r>
          </a:p>
          <a:p>
            <a:pPr lvl="0"/>
            <a:r>
              <a:rPr lang="en-IN" dirty="0"/>
              <a:t>Lack of automated orchestration can make pipeline management difficult. </a:t>
            </a:r>
          </a:p>
          <a:p>
            <a:pPr lvl="0"/>
            <a:r>
              <a:rPr lang="en-IN" dirty="0"/>
              <a:t>Recommendation and visualization may require separate processing workflows.</a:t>
            </a:r>
          </a:p>
          <a:p>
            <a:endParaRPr lang="en-IN" dirty="0"/>
          </a:p>
        </p:txBody>
      </p:sp>
      <p:pic>
        <p:nvPicPr>
          <p:cNvPr id="5" name="Picture 4" descr="MAPS &amp; DIRECTIONS - Best Private University in Telangana ...">
            <a:extLst>
              <a:ext uri="{FF2B5EF4-FFF2-40B4-BE49-F238E27FC236}">
                <a16:creationId xmlns:a16="http://schemas.microsoft.com/office/drawing/2014/main" id="{6A694444-B70E-1ACB-ACFA-7AAD01328E3B}"/>
              </a:ext>
            </a:extLst>
          </p:cNvPr>
          <p:cNvPicPr>
            <a:picLocks noChangeAspect="1"/>
          </p:cNvPicPr>
          <p:nvPr/>
        </p:nvPicPr>
        <p:blipFill>
          <a:blip r:embed="rId2"/>
          <a:stretch>
            <a:fillRect/>
          </a:stretch>
        </p:blipFill>
        <p:spPr>
          <a:xfrm>
            <a:off x="9051843" y="-801889"/>
            <a:ext cx="3140157" cy="2334027"/>
          </a:xfrm>
          <a:prstGeom prst="rect">
            <a:avLst/>
          </a:prstGeom>
        </p:spPr>
      </p:pic>
    </p:spTree>
    <p:extLst>
      <p:ext uri="{BB962C8B-B14F-4D97-AF65-F5344CB8AC3E}">
        <p14:creationId xmlns:p14="http://schemas.microsoft.com/office/powerpoint/2010/main" val="4054181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9106E-9DF6-06E0-71AE-DDDFB602CCAB}"/>
              </a:ext>
            </a:extLst>
          </p:cNvPr>
          <p:cNvSpPr>
            <a:spLocks noGrp="1"/>
          </p:cNvSpPr>
          <p:nvPr>
            <p:ph type="title"/>
          </p:nvPr>
        </p:nvSpPr>
        <p:spPr/>
        <p:txBody>
          <a:bodyPr/>
          <a:lstStyle/>
          <a:p>
            <a:r>
              <a:rPr lang="en-IN" dirty="0">
                <a:solidFill>
                  <a:srgbClr val="0070C0"/>
                </a:solidFill>
              </a:rPr>
              <a:t>IMPLEMENTED SYSTEM</a:t>
            </a:r>
          </a:p>
        </p:txBody>
      </p:sp>
      <p:sp>
        <p:nvSpPr>
          <p:cNvPr id="3" name="Content Placeholder 2">
            <a:extLst>
              <a:ext uri="{FF2B5EF4-FFF2-40B4-BE49-F238E27FC236}">
                <a16:creationId xmlns:a16="http://schemas.microsoft.com/office/drawing/2014/main" id="{DB3041F2-A1D8-72FF-D22F-8AF026B42173}"/>
              </a:ext>
            </a:extLst>
          </p:cNvPr>
          <p:cNvSpPr>
            <a:spLocks noGrp="1"/>
          </p:cNvSpPr>
          <p:nvPr>
            <p:ph idx="1"/>
          </p:nvPr>
        </p:nvSpPr>
        <p:spPr>
          <a:xfrm>
            <a:off x="838200" y="1825625"/>
            <a:ext cx="5483942" cy="4351338"/>
          </a:xfrm>
        </p:spPr>
        <p:txBody>
          <a:bodyPr>
            <a:normAutofit/>
          </a:bodyPr>
          <a:lstStyle/>
          <a:p>
            <a:pPr lvl="0"/>
            <a:r>
              <a:rPr lang="en-IN" dirty="0"/>
              <a:t>Automated Netflix data ingestion. </a:t>
            </a:r>
          </a:p>
          <a:p>
            <a:pPr lvl="0"/>
            <a:r>
              <a:rPr lang="en-IN" dirty="0"/>
              <a:t>Data cleaning and validation. </a:t>
            </a:r>
          </a:p>
          <a:p>
            <a:pPr lvl="0"/>
            <a:r>
              <a:rPr lang="en-IN" dirty="0" err="1"/>
              <a:t>PySpark</a:t>
            </a:r>
            <a:r>
              <a:rPr lang="en-IN" dirty="0"/>
              <a:t>-based transformation. </a:t>
            </a:r>
          </a:p>
          <a:p>
            <a:pPr lvl="0"/>
            <a:r>
              <a:rPr lang="en-IN" dirty="0"/>
              <a:t>Feature engineering. </a:t>
            </a:r>
          </a:p>
          <a:p>
            <a:pPr lvl="0"/>
            <a:r>
              <a:rPr lang="en-IN" dirty="0"/>
              <a:t>MongoDB-based storage. </a:t>
            </a:r>
          </a:p>
          <a:p>
            <a:pPr lvl="0"/>
            <a:r>
              <a:rPr lang="en-IN" dirty="0"/>
              <a:t>Automated analytics generation. </a:t>
            </a:r>
          </a:p>
          <a:p>
            <a:pPr lvl="0"/>
            <a:r>
              <a:rPr lang="en-IN" dirty="0"/>
              <a:t>Content-based recommendation system. </a:t>
            </a:r>
          </a:p>
          <a:p>
            <a:pPr lvl="0"/>
            <a:r>
              <a:rPr lang="en-IN" dirty="0"/>
              <a:t>Airflow workflow orchestration. </a:t>
            </a:r>
          </a:p>
          <a:p>
            <a:pPr lvl="0"/>
            <a:r>
              <a:rPr lang="en-IN" dirty="0"/>
              <a:t>Docker-based execution environment. </a:t>
            </a:r>
          </a:p>
          <a:p>
            <a:pPr lvl="0"/>
            <a:r>
              <a:rPr lang="en-IN" dirty="0"/>
              <a:t>Power BI dashboard for visualization.</a:t>
            </a:r>
          </a:p>
          <a:p>
            <a:endParaRPr lang="en-IN" dirty="0"/>
          </a:p>
        </p:txBody>
      </p:sp>
      <p:pic>
        <p:nvPicPr>
          <p:cNvPr id="6" name="Picture 5" descr="MAPS &amp; DIRECTIONS - Best Private University in Telangana ...">
            <a:extLst>
              <a:ext uri="{FF2B5EF4-FFF2-40B4-BE49-F238E27FC236}">
                <a16:creationId xmlns:a16="http://schemas.microsoft.com/office/drawing/2014/main" id="{ED60F7A2-5792-2C72-AFAB-932C8F558C3A}"/>
              </a:ext>
            </a:extLst>
          </p:cNvPr>
          <p:cNvPicPr>
            <a:picLocks noChangeAspect="1"/>
          </p:cNvPicPr>
          <p:nvPr/>
        </p:nvPicPr>
        <p:blipFill>
          <a:blip r:embed="rId2"/>
          <a:stretch>
            <a:fillRect/>
          </a:stretch>
        </p:blipFill>
        <p:spPr>
          <a:xfrm>
            <a:off x="9051843" y="-801889"/>
            <a:ext cx="3140157" cy="2334027"/>
          </a:xfrm>
          <a:prstGeom prst="rect">
            <a:avLst/>
          </a:prstGeom>
        </p:spPr>
      </p:pic>
    </p:spTree>
    <p:extLst>
      <p:ext uri="{BB962C8B-B14F-4D97-AF65-F5344CB8AC3E}">
        <p14:creationId xmlns:p14="http://schemas.microsoft.com/office/powerpoint/2010/main" val="1726099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49CEEB-BB28-D2ED-B507-86DB0E1E129B}"/>
              </a:ext>
            </a:extLst>
          </p:cNvPr>
          <p:cNvPicPr>
            <a:picLocks noChangeAspect="1"/>
          </p:cNvPicPr>
          <p:nvPr/>
        </p:nvPicPr>
        <p:blipFill>
          <a:blip r:embed="rId2"/>
          <a:stretch>
            <a:fillRect/>
          </a:stretch>
        </p:blipFill>
        <p:spPr>
          <a:xfrm>
            <a:off x="952500" y="98322"/>
            <a:ext cx="10287000" cy="6759678"/>
          </a:xfrm>
          <a:prstGeom prst="rect">
            <a:avLst/>
          </a:prstGeom>
        </p:spPr>
      </p:pic>
    </p:spTree>
    <p:extLst>
      <p:ext uri="{BB962C8B-B14F-4D97-AF65-F5344CB8AC3E}">
        <p14:creationId xmlns:p14="http://schemas.microsoft.com/office/powerpoint/2010/main" val="819452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15300-EAA0-F506-EDE0-61671331DC88}"/>
              </a:ext>
            </a:extLst>
          </p:cNvPr>
          <p:cNvSpPr>
            <a:spLocks noGrp="1"/>
          </p:cNvSpPr>
          <p:nvPr>
            <p:ph type="title"/>
          </p:nvPr>
        </p:nvSpPr>
        <p:spPr>
          <a:xfrm>
            <a:off x="0" y="0"/>
            <a:ext cx="9733935" cy="1325563"/>
          </a:xfrm>
        </p:spPr>
        <p:txBody>
          <a:bodyPr/>
          <a:lstStyle/>
          <a:p>
            <a:r>
              <a:rPr lang="en-US" dirty="0">
                <a:solidFill>
                  <a:srgbClr val="0070C0"/>
                </a:solidFill>
              </a:rPr>
              <a:t>SOFTWARE AND HARDWARE REQUIREMENTS</a:t>
            </a:r>
            <a:endParaRPr lang="en-IN" dirty="0">
              <a:solidFill>
                <a:srgbClr val="0070C0"/>
              </a:solidFill>
            </a:endParaRPr>
          </a:p>
        </p:txBody>
      </p:sp>
      <p:sp>
        <p:nvSpPr>
          <p:cNvPr id="3" name="Content Placeholder 2">
            <a:extLst>
              <a:ext uri="{FF2B5EF4-FFF2-40B4-BE49-F238E27FC236}">
                <a16:creationId xmlns:a16="http://schemas.microsoft.com/office/drawing/2014/main" id="{F7CD644A-C8D3-C509-62D9-CD6139E90E34}"/>
              </a:ext>
            </a:extLst>
          </p:cNvPr>
          <p:cNvSpPr>
            <a:spLocks noGrp="1"/>
          </p:cNvSpPr>
          <p:nvPr>
            <p:ph idx="1"/>
          </p:nvPr>
        </p:nvSpPr>
        <p:spPr>
          <a:xfrm>
            <a:off x="120445" y="1579819"/>
            <a:ext cx="10515600" cy="4351338"/>
          </a:xfrm>
        </p:spPr>
        <p:txBody>
          <a:bodyPr>
            <a:normAutofit/>
          </a:bodyPr>
          <a:lstStyle/>
          <a:p>
            <a:pPr marL="0" indent="0">
              <a:buNone/>
            </a:pPr>
            <a:r>
              <a:rPr lang="en-IN" b="1" dirty="0"/>
              <a:t>Software Requirements</a:t>
            </a:r>
          </a:p>
          <a:p>
            <a:r>
              <a:rPr lang="en-IN" dirty="0"/>
              <a:t>Python </a:t>
            </a:r>
          </a:p>
          <a:p>
            <a:r>
              <a:rPr lang="en-IN" dirty="0"/>
              <a:t>Pandas </a:t>
            </a:r>
          </a:p>
          <a:p>
            <a:r>
              <a:rPr lang="en-IN" dirty="0" err="1"/>
              <a:t>PySpark</a:t>
            </a:r>
            <a:endParaRPr lang="en-IN" dirty="0"/>
          </a:p>
          <a:p>
            <a:r>
              <a:rPr lang="en-IN" dirty="0"/>
              <a:t>MongoDB</a:t>
            </a:r>
          </a:p>
          <a:p>
            <a:r>
              <a:rPr lang="en-IN" dirty="0"/>
              <a:t>Scikit-learn</a:t>
            </a:r>
          </a:p>
          <a:p>
            <a:r>
              <a:rPr lang="en-IN" dirty="0"/>
              <a:t>Apache Airflow</a:t>
            </a:r>
          </a:p>
          <a:p>
            <a:r>
              <a:rPr lang="en-IN" dirty="0"/>
              <a:t>Docker Desktop</a:t>
            </a:r>
          </a:p>
          <a:p>
            <a:r>
              <a:rPr lang="en-IN" dirty="0"/>
              <a:t>Power BI Desktop</a:t>
            </a:r>
          </a:p>
          <a:p>
            <a:r>
              <a:rPr lang="en-IN" dirty="0"/>
              <a:t>VS Code</a:t>
            </a:r>
          </a:p>
          <a:p>
            <a:r>
              <a:rPr lang="en-IN" dirty="0"/>
              <a:t>Windows Operating System</a:t>
            </a:r>
          </a:p>
          <a:p>
            <a:endParaRPr lang="en-IN" b="1" dirty="0"/>
          </a:p>
          <a:p>
            <a:endParaRPr lang="en-IN" dirty="0"/>
          </a:p>
        </p:txBody>
      </p:sp>
      <p:pic>
        <p:nvPicPr>
          <p:cNvPr id="5" name="Picture 4" descr="MAPS &amp; DIRECTIONS - Best Private University in Telangana ...">
            <a:extLst>
              <a:ext uri="{FF2B5EF4-FFF2-40B4-BE49-F238E27FC236}">
                <a16:creationId xmlns:a16="http://schemas.microsoft.com/office/drawing/2014/main" id="{FC536703-C930-5906-9D6A-EFD71FBAEC1C}"/>
              </a:ext>
            </a:extLst>
          </p:cNvPr>
          <p:cNvPicPr>
            <a:picLocks noChangeAspect="1"/>
          </p:cNvPicPr>
          <p:nvPr/>
        </p:nvPicPr>
        <p:blipFill>
          <a:blip r:embed="rId2"/>
          <a:stretch>
            <a:fillRect/>
          </a:stretch>
        </p:blipFill>
        <p:spPr>
          <a:xfrm>
            <a:off x="9159998" y="-936826"/>
            <a:ext cx="3140157" cy="2334027"/>
          </a:xfrm>
          <a:prstGeom prst="rect">
            <a:avLst/>
          </a:prstGeom>
        </p:spPr>
      </p:pic>
      <p:sp>
        <p:nvSpPr>
          <p:cNvPr id="21" name="TextBox 20">
            <a:extLst>
              <a:ext uri="{FF2B5EF4-FFF2-40B4-BE49-F238E27FC236}">
                <a16:creationId xmlns:a16="http://schemas.microsoft.com/office/drawing/2014/main" id="{20820C6F-21C1-8362-DA41-7915190A0E47}"/>
              </a:ext>
            </a:extLst>
          </p:cNvPr>
          <p:cNvSpPr txBox="1"/>
          <p:nvPr/>
        </p:nvSpPr>
        <p:spPr>
          <a:xfrm>
            <a:off x="5299587" y="1811959"/>
            <a:ext cx="6272980" cy="1938992"/>
          </a:xfrm>
          <a:prstGeom prst="rect">
            <a:avLst/>
          </a:prstGeom>
          <a:noFill/>
        </p:spPr>
        <p:txBody>
          <a:bodyPr wrap="square">
            <a:spAutoFit/>
          </a:bodyPr>
          <a:lstStyle/>
          <a:p>
            <a:pPr>
              <a:buNone/>
            </a:pPr>
            <a:r>
              <a:rPr lang="en-IN" sz="2400" b="1" dirty="0"/>
              <a:t>HARDWARE</a:t>
            </a:r>
            <a:endParaRPr lang="en-IN" sz="2400" dirty="0"/>
          </a:p>
          <a:p>
            <a:pPr marL="342900" lvl="0" indent="-342900">
              <a:buFont typeface="Arial" panose="020B0604020202020204" pitchFamily="34" charset="0"/>
              <a:buChar char="•"/>
            </a:pPr>
            <a:r>
              <a:rPr lang="en-IN" sz="2400" dirty="0"/>
              <a:t>Intel i3/i5 or equivalent </a:t>
            </a:r>
          </a:p>
          <a:p>
            <a:pPr marL="342900" lvl="0" indent="-342900">
              <a:buFont typeface="Arial" panose="020B0604020202020204" pitchFamily="34" charset="0"/>
              <a:buChar char="•"/>
            </a:pPr>
            <a:r>
              <a:rPr lang="en-IN" sz="2400" dirty="0"/>
              <a:t>8 GB RAM or above </a:t>
            </a:r>
          </a:p>
          <a:p>
            <a:pPr marL="342900" lvl="0" indent="-342900">
              <a:buFont typeface="Arial" panose="020B0604020202020204" pitchFamily="34" charset="0"/>
              <a:buChar char="•"/>
            </a:pPr>
            <a:r>
              <a:rPr lang="en-IN" sz="2400" dirty="0"/>
              <a:t>256 GB storage or above </a:t>
            </a:r>
          </a:p>
          <a:p>
            <a:pPr marL="342900" lvl="0" indent="-342900">
              <a:buFont typeface="Arial" panose="020B0604020202020204" pitchFamily="34" charset="0"/>
              <a:buChar char="•"/>
            </a:pPr>
            <a:r>
              <a:rPr lang="en-IN" sz="2400" dirty="0"/>
              <a:t>Internet connection</a:t>
            </a:r>
          </a:p>
        </p:txBody>
      </p:sp>
    </p:spTree>
    <p:extLst>
      <p:ext uri="{BB962C8B-B14F-4D97-AF65-F5344CB8AC3E}">
        <p14:creationId xmlns:p14="http://schemas.microsoft.com/office/powerpoint/2010/main" val="979299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8D1EA-D8F5-0D86-9898-49D22C0A1020}"/>
              </a:ext>
            </a:extLst>
          </p:cNvPr>
          <p:cNvSpPr>
            <a:spLocks noGrp="1"/>
          </p:cNvSpPr>
          <p:nvPr>
            <p:ph type="title"/>
          </p:nvPr>
        </p:nvSpPr>
        <p:spPr/>
        <p:txBody>
          <a:bodyPr/>
          <a:lstStyle/>
          <a:p>
            <a:r>
              <a:rPr lang="en-US" dirty="0">
                <a:solidFill>
                  <a:schemeClr val="accent1"/>
                </a:solidFill>
              </a:rPr>
              <a:t>FUNCTIONAL REQUIREMENTS</a:t>
            </a:r>
            <a:endParaRPr lang="en-IN" dirty="0">
              <a:solidFill>
                <a:schemeClr val="accent1"/>
              </a:solidFill>
            </a:endParaRPr>
          </a:p>
        </p:txBody>
      </p:sp>
      <p:sp>
        <p:nvSpPr>
          <p:cNvPr id="3" name="Content Placeholder 2">
            <a:extLst>
              <a:ext uri="{FF2B5EF4-FFF2-40B4-BE49-F238E27FC236}">
                <a16:creationId xmlns:a16="http://schemas.microsoft.com/office/drawing/2014/main" id="{B30F447D-780C-EDA5-BAB9-42C2C55A0270}"/>
              </a:ext>
            </a:extLst>
          </p:cNvPr>
          <p:cNvSpPr>
            <a:spLocks noGrp="1"/>
          </p:cNvSpPr>
          <p:nvPr>
            <p:ph idx="1"/>
          </p:nvPr>
        </p:nvSpPr>
        <p:spPr>
          <a:xfrm>
            <a:off x="838200" y="1532138"/>
            <a:ext cx="10515600" cy="5458597"/>
          </a:xfrm>
        </p:spPr>
        <p:txBody>
          <a:bodyPr>
            <a:normAutofit/>
          </a:bodyPr>
          <a:lstStyle/>
          <a:p>
            <a:pPr marL="0" indent="0">
              <a:buNone/>
            </a:pPr>
            <a:r>
              <a:rPr lang="en-IN" b="1" dirty="0"/>
              <a:t>The system should:</a:t>
            </a:r>
          </a:p>
          <a:p>
            <a:pPr lvl="0"/>
            <a:r>
              <a:rPr lang="en-IN" dirty="0"/>
              <a:t>Import Netflix dataset. </a:t>
            </a:r>
          </a:p>
          <a:p>
            <a:pPr lvl="0"/>
            <a:r>
              <a:rPr lang="en-IN" dirty="0"/>
              <a:t>Clean raw data. </a:t>
            </a:r>
          </a:p>
          <a:p>
            <a:pPr lvl="0"/>
            <a:r>
              <a:rPr lang="en-IN" dirty="0"/>
              <a:t>Handle missing values. </a:t>
            </a:r>
          </a:p>
          <a:p>
            <a:pPr lvl="0"/>
            <a:r>
              <a:rPr lang="en-IN" dirty="0"/>
              <a:t>Validate data quality. </a:t>
            </a:r>
          </a:p>
          <a:p>
            <a:pPr lvl="0"/>
            <a:r>
              <a:rPr lang="en-IN" dirty="0"/>
              <a:t>Transform data using </a:t>
            </a:r>
            <a:r>
              <a:rPr lang="en-IN" dirty="0" err="1"/>
              <a:t>PySpark</a:t>
            </a:r>
            <a:r>
              <a:rPr lang="en-IN" dirty="0"/>
              <a:t>. </a:t>
            </a:r>
          </a:p>
          <a:p>
            <a:pPr lvl="0"/>
            <a:r>
              <a:rPr lang="en-IN" dirty="0"/>
              <a:t>Generate engineered features. </a:t>
            </a:r>
          </a:p>
          <a:p>
            <a:pPr lvl="0"/>
            <a:r>
              <a:rPr lang="en-IN" dirty="0"/>
              <a:t>Store processed records in MongoDB. </a:t>
            </a:r>
          </a:p>
          <a:p>
            <a:pPr lvl="0"/>
            <a:r>
              <a:rPr lang="en-IN" dirty="0"/>
              <a:t>Generate analytical results. </a:t>
            </a:r>
          </a:p>
          <a:p>
            <a:pPr lvl="0"/>
            <a:r>
              <a:rPr lang="en-IN" dirty="0"/>
              <a:t>Generate content-based recommendations. </a:t>
            </a:r>
          </a:p>
          <a:p>
            <a:pPr lvl="0"/>
            <a:r>
              <a:rPr lang="en-IN" dirty="0"/>
              <a:t>Execute the workflow using Airflow. </a:t>
            </a:r>
          </a:p>
          <a:p>
            <a:pPr lvl="0"/>
            <a:r>
              <a:rPr lang="en-IN" dirty="0"/>
              <a:t>Generate Power BI visualizations. </a:t>
            </a:r>
          </a:p>
          <a:p>
            <a:pPr lvl="0"/>
            <a:r>
              <a:rPr lang="en-IN" dirty="0"/>
              <a:t>Display analytical insights. </a:t>
            </a:r>
          </a:p>
          <a:p>
            <a:endParaRPr lang="en-IN" dirty="0"/>
          </a:p>
        </p:txBody>
      </p:sp>
      <p:pic>
        <p:nvPicPr>
          <p:cNvPr id="5" name="Picture 4" descr="MAPS &amp; DIRECTIONS - Best Private University in Telangana ...">
            <a:extLst>
              <a:ext uri="{FF2B5EF4-FFF2-40B4-BE49-F238E27FC236}">
                <a16:creationId xmlns:a16="http://schemas.microsoft.com/office/drawing/2014/main" id="{40FC8BB5-A54E-CBBF-86DF-42FB5B2A8FA9}"/>
              </a:ext>
            </a:extLst>
          </p:cNvPr>
          <p:cNvPicPr>
            <a:picLocks noChangeAspect="1"/>
          </p:cNvPicPr>
          <p:nvPr/>
        </p:nvPicPr>
        <p:blipFill>
          <a:blip r:embed="rId2"/>
          <a:stretch>
            <a:fillRect/>
          </a:stretch>
        </p:blipFill>
        <p:spPr>
          <a:xfrm>
            <a:off x="9051843" y="-801889"/>
            <a:ext cx="3140157" cy="2334027"/>
          </a:xfrm>
          <a:prstGeom prst="rect">
            <a:avLst/>
          </a:prstGeom>
        </p:spPr>
      </p:pic>
    </p:spTree>
    <p:extLst>
      <p:ext uri="{BB962C8B-B14F-4D97-AF65-F5344CB8AC3E}">
        <p14:creationId xmlns:p14="http://schemas.microsoft.com/office/powerpoint/2010/main" val="2000636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B7CB-7BE6-DA00-7D99-54676579C8F4}"/>
              </a:ext>
            </a:extLst>
          </p:cNvPr>
          <p:cNvSpPr>
            <a:spLocks noGrp="1"/>
          </p:cNvSpPr>
          <p:nvPr>
            <p:ph type="title"/>
          </p:nvPr>
        </p:nvSpPr>
        <p:spPr>
          <a:xfrm>
            <a:off x="297426" y="18255"/>
            <a:ext cx="10515600" cy="1325563"/>
          </a:xfrm>
        </p:spPr>
        <p:txBody>
          <a:bodyPr/>
          <a:lstStyle/>
          <a:p>
            <a:r>
              <a:rPr lang="en-US" dirty="0">
                <a:solidFill>
                  <a:schemeClr val="accent1"/>
                </a:solidFill>
              </a:rPr>
              <a:t>NON-FUNCTIONAL REQUIREMENTS</a:t>
            </a:r>
            <a:endParaRPr lang="en-IN" dirty="0">
              <a:solidFill>
                <a:schemeClr val="accent1"/>
              </a:solidFill>
            </a:endParaRPr>
          </a:p>
        </p:txBody>
      </p:sp>
      <p:sp>
        <p:nvSpPr>
          <p:cNvPr id="3" name="Content Placeholder 2">
            <a:extLst>
              <a:ext uri="{FF2B5EF4-FFF2-40B4-BE49-F238E27FC236}">
                <a16:creationId xmlns:a16="http://schemas.microsoft.com/office/drawing/2014/main" id="{3DCFEC33-F9D9-A0CE-050B-2702E870DAB8}"/>
              </a:ext>
            </a:extLst>
          </p:cNvPr>
          <p:cNvSpPr>
            <a:spLocks noGrp="1"/>
          </p:cNvSpPr>
          <p:nvPr>
            <p:ph idx="1"/>
          </p:nvPr>
        </p:nvSpPr>
        <p:spPr>
          <a:xfrm>
            <a:off x="560439" y="1532138"/>
            <a:ext cx="10793361" cy="4644825"/>
          </a:xfrm>
        </p:spPr>
        <p:txBody>
          <a:bodyPr>
            <a:normAutofit fontScale="92500" lnSpcReduction="10000"/>
          </a:bodyPr>
          <a:lstStyle/>
          <a:p>
            <a:r>
              <a:rPr lang="en-IN" b="1" dirty="0"/>
              <a:t>Performance</a:t>
            </a:r>
            <a:br>
              <a:rPr lang="en-IN" dirty="0"/>
            </a:br>
            <a:r>
              <a:rPr lang="en-IN" dirty="0"/>
              <a:t>Process the dataset efficiently.</a:t>
            </a:r>
          </a:p>
          <a:p>
            <a:r>
              <a:rPr lang="en-IN" b="1" dirty="0"/>
              <a:t>Reliability</a:t>
            </a:r>
            <a:br>
              <a:rPr lang="en-IN" dirty="0"/>
            </a:br>
            <a:r>
              <a:rPr lang="en-IN" dirty="0"/>
              <a:t>Produce consistent analytical results.</a:t>
            </a:r>
          </a:p>
          <a:p>
            <a:r>
              <a:rPr lang="en-IN" b="1" dirty="0"/>
              <a:t>Usability</a:t>
            </a:r>
            <a:br>
              <a:rPr lang="en-IN" dirty="0"/>
            </a:br>
            <a:r>
              <a:rPr lang="en-IN" dirty="0"/>
              <a:t>Dashboard should be easy to understand.</a:t>
            </a:r>
          </a:p>
          <a:p>
            <a:r>
              <a:rPr lang="en-IN" b="1" dirty="0"/>
              <a:t>Scalability</a:t>
            </a:r>
            <a:br>
              <a:rPr lang="en-IN" dirty="0"/>
            </a:br>
            <a:r>
              <a:rPr lang="en-IN" dirty="0"/>
              <a:t>Pipeline should support larger datasets.</a:t>
            </a:r>
          </a:p>
          <a:p>
            <a:r>
              <a:rPr lang="en-IN" b="1" dirty="0"/>
              <a:t>Maintainability</a:t>
            </a:r>
            <a:br>
              <a:rPr lang="en-IN" dirty="0"/>
            </a:br>
            <a:r>
              <a:rPr lang="en-IN" dirty="0"/>
              <a:t>Modular Python and Airflow components should be easy to modify.</a:t>
            </a:r>
          </a:p>
          <a:p>
            <a:r>
              <a:rPr lang="en-IN" b="1" dirty="0"/>
              <a:t>Security</a:t>
            </a:r>
            <a:br>
              <a:rPr lang="en-IN" dirty="0"/>
            </a:br>
            <a:r>
              <a:rPr lang="en-IN" dirty="0"/>
              <a:t>Database credentials and project files should be protected.</a:t>
            </a:r>
          </a:p>
          <a:p>
            <a:r>
              <a:rPr lang="en-IN" b="1" dirty="0"/>
              <a:t>Reproducibility</a:t>
            </a:r>
            <a:br>
              <a:rPr lang="en-IN" dirty="0"/>
            </a:br>
            <a:r>
              <a:rPr lang="en-IN" dirty="0"/>
              <a:t>Docker provides a consistent environment for Airflow execution.</a:t>
            </a:r>
          </a:p>
          <a:p>
            <a:pPr marL="0" indent="0">
              <a:buNone/>
            </a:pPr>
            <a:endParaRPr lang="en-IN" dirty="0"/>
          </a:p>
        </p:txBody>
      </p:sp>
      <p:pic>
        <p:nvPicPr>
          <p:cNvPr id="5" name="Picture 4" descr="MAPS &amp; DIRECTIONS - Best Private University in Telangana ...">
            <a:extLst>
              <a:ext uri="{FF2B5EF4-FFF2-40B4-BE49-F238E27FC236}">
                <a16:creationId xmlns:a16="http://schemas.microsoft.com/office/drawing/2014/main" id="{82C1C9FE-B8BB-830B-7E9D-0DAD4C088254}"/>
              </a:ext>
            </a:extLst>
          </p:cNvPr>
          <p:cNvPicPr>
            <a:picLocks noChangeAspect="1"/>
          </p:cNvPicPr>
          <p:nvPr/>
        </p:nvPicPr>
        <p:blipFill>
          <a:blip r:embed="rId2"/>
          <a:stretch>
            <a:fillRect/>
          </a:stretch>
        </p:blipFill>
        <p:spPr>
          <a:xfrm>
            <a:off x="9051843" y="-801889"/>
            <a:ext cx="3140157" cy="2334027"/>
          </a:xfrm>
          <a:prstGeom prst="rect">
            <a:avLst/>
          </a:prstGeom>
        </p:spPr>
      </p:pic>
    </p:spTree>
    <p:extLst>
      <p:ext uri="{BB962C8B-B14F-4D97-AF65-F5344CB8AC3E}">
        <p14:creationId xmlns:p14="http://schemas.microsoft.com/office/powerpoint/2010/main" val="3422263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8B046C-E44E-5901-C811-63965AB38A10}"/>
              </a:ext>
            </a:extLst>
          </p:cNvPr>
          <p:cNvSpPr txBox="1"/>
          <p:nvPr/>
        </p:nvSpPr>
        <p:spPr>
          <a:xfrm>
            <a:off x="112644" y="202960"/>
            <a:ext cx="6097656" cy="369332"/>
          </a:xfrm>
          <a:prstGeom prst="rect">
            <a:avLst/>
          </a:prstGeom>
          <a:noFill/>
        </p:spPr>
        <p:txBody>
          <a:bodyPr wrap="square">
            <a:spAutoFit/>
          </a:bodyPr>
          <a:lstStyle/>
          <a:p>
            <a:r>
              <a:rPr lang="en-IN" b="1" dirty="0">
                <a:solidFill>
                  <a:srgbClr val="0070C0"/>
                </a:solidFill>
              </a:rPr>
              <a:t>Traditional vs Modern Data Engineering Approach</a:t>
            </a:r>
          </a:p>
        </p:txBody>
      </p:sp>
      <p:graphicFrame>
        <p:nvGraphicFramePr>
          <p:cNvPr id="3" name="Table 2">
            <a:extLst>
              <a:ext uri="{FF2B5EF4-FFF2-40B4-BE49-F238E27FC236}">
                <a16:creationId xmlns:a16="http://schemas.microsoft.com/office/drawing/2014/main" id="{C8AE4DE5-048A-5680-2BD4-5FAB310C5D89}"/>
              </a:ext>
            </a:extLst>
          </p:cNvPr>
          <p:cNvGraphicFramePr>
            <a:graphicFrameLocks noGrp="1"/>
          </p:cNvGraphicFramePr>
          <p:nvPr>
            <p:extLst>
              <p:ext uri="{D42A27DB-BD31-4B8C-83A1-F6EECF244321}">
                <p14:modId xmlns:p14="http://schemas.microsoft.com/office/powerpoint/2010/main" val="418183244"/>
              </p:ext>
            </p:extLst>
          </p:nvPr>
        </p:nvGraphicFramePr>
        <p:xfrm>
          <a:off x="89453" y="572292"/>
          <a:ext cx="12079356" cy="6173370"/>
        </p:xfrm>
        <a:graphic>
          <a:graphicData uri="http://schemas.openxmlformats.org/drawingml/2006/table">
            <a:tbl>
              <a:tblPr>
                <a:tableStyleId>{5C22544A-7EE6-4342-B048-85BDC9FD1C3A}</a:tableStyleId>
              </a:tblPr>
              <a:tblGrid>
                <a:gridCol w="4026452">
                  <a:extLst>
                    <a:ext uri="{9D8B030D-6E8A-4147-A177-3AD203B41FA5}">
                      <a16:colId xmlns:a16="http://schemas.microsoft.com/office/drawing/2014/main" val="2853018662"/>
                    </a:ext>
                  </a:extLst>
                </a:gridCol>
                <a:gridCol w="4026452">
                  <a:extLst>
                    <a:ext uri="{9D8B030D-6E8A-4147-A177-3AD203B41FA5}">
                      <a16:colId xmlns:a16="http://schemas.microsoft.com/office/drawing/2014/main" val="3337452091"/>
                    </a:ext>
                  </a:extLst>
                </a:gridCol>
                <a:gridCol w="4026452">
                  <a:extLst>
                    <a:ext uri="{9D8B030D-6E8A-4147-A177-3AD203B41FA5}">
                      <a16:colId xmlns:a16="http://schemas.microsoft.com/office/drawing/2014/main" val="1959054405"/>
                    </a:ext>
                  </a:extLst>
                </a:gridCol>
              </a:tblGrid>
              <a:tr h="193445">
                <a:tc>
                  <a:txBody>
                    <a:bodyPr/>
                    <a:lstStyle/>
                    <a:p>
                      <a:pPr>
                        <a:buNone/>
                      </a:pPr>
                      <a:r>
                        <a:rPr lang="en-IN" sz="1200" b="1" dirty="0"/>
                        <a:t>Parameter</a:t>
                      </a:r>
                    </a:p>
                  </a:txBody>
                  <a:tcPr marL="19100" marR="19100" marT="9550" marB="9550" anchor="ctr"/>
                </a:tc>
                <a:tc>
                  <a:txBody>
                    <a:bodyPr/>
                    <a:lstStyle/>
                    <a:p>
                      <a:pPr>
                        <a:buNone/>
                      </a:pPr>
                      <a:r>
                        <a:rPr lang="en-IN" sz="1200" b="1" dirty="0"/>
                        <a:t>Traditional Approach</a:t>
                      </a:r>
                    </a:p>
                  </a:txBody>
                  <a:tcPr marL="19100" marR="19100" marT="9550" marB="9550" anchor="ctr"/>
                </a:tc>
                <a:tc>
                  <a:txBody>
                    <a:bodyPr/>
                    <a:lstStyle/>
                    <a:p>
                      <a:pPr>
                        <a:buNone/>
                      </a:pPr>
                      <a:r>
                        <a:rPr lang="en-IN" sz="1200" b="1" dirty="0"/>
                        <a:t>Our Project – Actual Implementation</a:t>
                      </a:r>
                    </a:p>
                  </a:txBody>
                  <a:tcPr marL="19100" marR="19100" marT="9550" marB="9550" anchor="ctr"/>
                </a:tc>
                <a:extLst>
                  <a:ext uri="{0D108BD9-81ED-4DB2-BD59-A6C34878D82A}">
                    <a16:rowId xmlns:a16="http://schemas.microsoft.com/office/drawing/2014/main" val="1731723198"/>
                  </a:ext>
                </a:extLst>
              </a:tr>
              <a:tr h="543750">
                <a:tc>
                  <a:txBody>
                    <a:bodyPr/>
                    <a:lstStyle/>
                    <a:p>
                      <a:pPr>
                        <a:buNone/>
                      </a:pPr>
                      <a:r>
                        <a:rPr lang="en-IN" sz="1200"/>
                        <a:t>Data Collection</a:t>
                      </a:r>
                    </a:p>
                  </a:txBody>
                  <a:tcPr marL="19100" marR="19100" marT="9550" marB="9550" anchor="ctr"/>
                </a:tc>
                <a:tc>
                  <a:txBody>
                    <a:bodyPr/>
                    <a:lstStyle/>
                    <a:p>
                      <a:pPr>
                        <a:buNone/>
                      </a:pPr>
                      <a:r>
                        <a:rPr lang="en-IN" sz="1200"/>
                        <a:t>Netflix movie and TV-show information is obtained as a raw dataset and handled manually before analysis.</a:t>
                      </a:r>
                    </a:p>
                  </a:txBody>
                  <a:tcPr marL="19100" marR="19100" marT="9550" marB="9550" anchor="ctr"/>
                </a:tc>
                <a:tc>
                  <a:txBody>
                    <a:bodyPr/>
                    <a:lstStyle/>
                    <a:p>
                      <a:pPr>
                        <a:buNone/>
                      </a:pPr>
                      <a:r>
                        <a:rPr lang="en-IN" sz="1200"/>
                        <a:t>The Netflix titles dataset is used as the raw input, containing fields such as title, type, country, release year, rating, duration and listed-in/genre information.</a:t>
                      </a:r>
                    </a:p>
                  </a:txBody>
                  <a:tcPr marL="19100" marR="19100" marT="9550" marB="9550" anchor="ctr"/>
                </a:tc>
                <a:extLst>
                  <a:ext uri="{0D108BD9-81ED-4DB2-BD59-A6C34878D82A}">
                    <a16:rowId xmlns:a16="http://schemas.microsoft.com/office/drawing/2014/main" val="2154411466"/>
                  </a:ext>
                </a:extLst>
              </a:tr>
              <a:tr h="543750">
                <a:tc>
                  <a:txBody>
                    <a:bodyPr/>
                    <a:lstStyle/>
                    <a:p>
                      <a:pPr>
                        <a:buNone/>
                      </a:pPr>
                      <a:r>
                        <a:rPr lang="en-IN" sz="1200"/>
                        <a:t>Data Format</a:t>
                      </a:r>
                    </a:p>
                  </a:txBody>
                  <a:tcPr marL="19100" marR="19100" marT="9550" marB="9550" anchor="ctr"/>
                </a:tc>
                <a:tc>
                  <a:txBody>
                    <a:bodyPr/>
                    <a:lstStyle/>
                    <a:p>
                      <a:pPr>
                        <a:buNone/>
                      </a:pPr>
                      <a:r>
                        <a:rPr lang="en-IN" sz="1200" dirty="0"/>
                        <a:t>The raw dataset is in tabular/CSV form and can contain missing values, inconsistent formats and duplicate records.</a:t>
                      </a:r>
                    </a:p>
                  </a:txBody>
                  <a:tcPr marL="19100" marR="19100" marT="9550" marB="9550" anchor="ctr"/>
                </a:tc>
                <a:tc>
                  <a:txBody>
                    <a:bodyPr/>
                    <a:lstStyle/>
                    <a:p>
                      <a:pPr>
                        <a:buNone/>
                      </a:pPr>
                      <a:r>
                        <a:rPr lang="en-IN" sz="1200" dirty="0"/>
                        <a:t>The raw Netflix records are converted into a clean, structured dataset during the pipeline so they can be processed by the downstream stages.</a:t>
                      </a:r>
                    </a:p>
                  </a:txBody>
                  <a:tcPr marL="19100" marR="19100" marT="9550" marB="9550" anchor="ctr"/>
                </a:tc>
                <a:extLst>
                  <a:ext uri="{0D108BD9-81ED-4DB2-BD59-A6C34878D82A}">
                    <a16:rowId xmlns:a16="http://schemas.microsoft.com/office/drawing/2014/main" val="1425914366"/>
                  </a:ext>
                </a:extLst>
              </a:tr>
              <a:tr h="668130">
                <a:tc>
                  <a:txBody>
                    <a:bodyPr/>
                    <a:lstStyle/>
                    <a:p>
                      <a:pPr>
                        <a:buNone/>
                      </a:pPr>
                      <a:r>
                        <a:rPr lang="en-IN" sz="1200"/>
                        <a:t>Data Ingestion</a:t>
                      </a:r>
                    </a:p>
                  </a:txBody>
                  <a:tcPr marL="19100" marR="19100" marT="9550" marB="9550" anchor="ctr"/>
                </a:tc>
                <a:tc>
                  <a:txBody>
                    <a:bodyPr/>
                    <a:lstStyle/>
                    <a:p>
                      <a:pPr>
                        <a:buNone/>
                      </a:pPr>
                      <a:r>
                        <a:rPr lang="en-IN" sz="1200" dirty="0"/>
                        <a:t>The dataset is manually opened, loaded and passed between different processing steps.</a:t>
                      </a:r>
                    </a:p>
                  </a:txBody>
                  <a:tcPr marL="19100" marR="19100" marT="9550" marB="9550" anchor="ctr"/>
                </a:tc>
                <a:tc>
                  <a:txBody>
                    <a:bodyPr/>
                    <a:lstStyle/>
                    <a:p>
                      <a:pPr>
                        <a:buNone/>
                      </a:pPr>
                      <a:r>
                        <a:rPr lang="en-IN" sz="1200"/>
                        <a:t>Apache Airflow orchestrates the ingestion as part of the automated pipeline, so the dataset moves through the defined processing stages without manually executing every stage.</a:t>
                      </a:r>
                    </a:p>
                  </a:txBody>
                  <a:tcPr marL="19100" marR="19100" marT="9550" marB="9550" anchor="ctr"/>
                </a:tc>
                <a:extLst>
                  <a:ext uri="{0D108BD9-81ED-4DB2-BD59-A6C34878D82A}">
                    <a16:rowId xmlns:a16="http://schemas.microsoft.com/office/drawing/2014/main" val="2224058907"/>
                  </a:ext>
                </a:extLst>
              </a:tr>
              <a:tr h="475728">
                <a:tc>
                  <a:txBody>
                    <a:bodyPr/>
                    <a:lstStyle/>
                    <a:p>
                      <a:pPr>
                        <a:buNone/>
                      </a:pPr>
                      <a:r>
                        <a:rPr lang="en-IN" sz="1200"/>
                        <a:t>Validation</a:t>
                      </a:r>
                    </a:p>
                  </a:txBody>
                  <a:tcPr marL="19100" marR="19100" marT="9550" marB="9550" anchor="ctr"/>
                </a:tc>
                <a:tc>
                  <a:txBody>
                    <a:bodyPr/>
                    <a:lstStyle/>
                    <a:p>
                      <a:pPr>
                        <a:buNone/>
                      </a:pPr>
                      <a:r>
                        <a:rPr lang="en-IN" sz="1200" dirty="0"/>
                        <a:t>Records are normally checked manually to identify invalid or incomplete data.</a:t>
                      </a:r>
                    </a:p>
                  </a:txBody>
                  <a:tcPr marL="19100" marR="19100" marT="9550" marB="9550" anchor="ctr"/>
                </a:tc>
                <a:tc>
                  <a:txBody>
                    <a:bodyPr/>
                    <a:lstStyle/>
                    <a:p>
                      <a:pPr>
                        <a:buNone/>
                      </a:pPr>
                      <a:r>
                        <a:rPr lang="en-IN" sz="1200"/>
                        <a:t>A dedicated Data Validation stage checks the processed records for data-quality issues before transformation and storage.</a:t>
                      </a:r>
                    </a:p>
                  </a:txBody>
                  <a:tcPr marL="19100" marR="19100" marT="9550" marB="9550" anchor="ctr"/>
                </a:tc>
                <a:extLst>
                  <a:ext uri="{0D108BD9-81ED-4DB2-BD59-A6C34878D82A}">
                    <a16:rowId xmlns:a16="http://schemas.microsoft.com/office/drawing/2014/main" val="2973292239"/>
                  </a:ext>
                </a:extLst>
              </a:tr>
              <a:tr h="668130">
                <a:tc>
                  <a:txBody>
                    <a:bodyPr/>
                    <a:lstStyle/>
                    <a:p>
                      <a:pPr>
                        <a:buNone/>
                      </a:pPr>
                      <a:r>
                        <a:rPr lang="en-IN" sz="1200"/>
                        <a:t>Cleaning</a:t>
                      </a:r>
                    </a:p>
                  </a:txBody>
                  <a:tcPr marL="19100" marR="19100" marT="9550" marB="9550" anchor="ctr"/>
                </a:tc>
                <a:tc>
                  <a:txBody>
                    <a:bodyPr/>
                    <a:lstStyle/>
                    <a:p>
                      <a:pPr>
                        <a:buNone/>
                      </a:pPr>
                      <a:r>
                        <a:rPr lang="en-IN" sz="1200" dirty="0"/>
                        <a:t>Missing values, duplicate records and inconsistent formats are identified and corrected manually.</a:t>
                      </a:r>
                    </a:p>
                  </a:txBody>
                  <a:tcPr marL="19100" marR="19100" marT="9550" marB="9550" anchor="ctr"/>
                </a:tc>
                <a:tc>
                  <a:txBody>
                    <a:bodyPr/>
                    <a:lstStyle/>
                    <a:p>
                      <a:pPr>
                        <a:buNone/>
                      </a:pPr>
                      <a:r>
                        <a:rPr lang="en-IN" sz="1200"/>
                        <a:t>Data Cleaning is a separate pipeline stage that handles missing values, duplicate/inconsistent records and formatting issues before the data continues through the pipeline.</a:t>
                      </a:r>
                    </a:p>
                  </a:txBody>
                  <a:tcPr marL="19100" marR="19100" marT="9550" marB="9550" anchor="ctr"/>
                </a:tc>
                <a:extLst>
                  <a:ext uri="{0D108BD9-81ED-4DB2-BD59-A6C34878D82A}">
                    <a16:rowId xmlns:a16="http://schemas.microsoft.com/office/drawing/2014/main" val="793878391"/>
                  </a:ext>
                </a:extLst>
              </a:tr>
              <a:tr h="475728">
                <a:tc>
                  <a:txBody>
                    <a:bodyPr/>
                    <a:lstStyle/>
                    <a:p>
                      <a:pPr>
                        <a:buNone/>
                      </a:pPr>
                      <a:r>
                        <a:rPr lang="en-IN" sz="1200"/>
                        <a:t>Data Quality</a:t>
                      </a:r>
                    </a:p>
                  </a:txBody>
                  <a:tcPr marL="19100" marR="19100" marT="9550" marB="9550" anchor="ctr"/>
                </a:tc>
                <a:tc>
                  <a:txBody>
                    <a:bodyPr/>
                    <a:lstStyle/>
                    <a:p>
                      <a:pPr>
                        <a:buNone/>
                      </a:pPr>
                      <a:r>
                        <a:rPr lang="en-IN" sz="1200"/>
                        <a:t>Quality depends heavily on repeated manual inspection, so the process can be inconsistent.</a:t>
                      </a:r>
                    </a:p>
                  </a:txBody>
                  <a:tcPr marL="19100" marR="19100" marT="9550" marB="9550" anchor="ctr"/>
                </a:tc>
                <a:tc>
                  <a:txBody>
                    <a:bodyPr/>
                    <a:lstStyle/>
                    <a:p>
                      <a:pPr>
                        <a:buNone/>
                      </a:pPr>
                      <a:r>
                        <a:rPr lang="en-IN" sz="1200"/>
                        <a:t>Cleaning + validation are integrated into the pipeline, making the data-quality process repeatable for every pipeline run.</a:t>
                      </a:r>
                    </a:p>
                  </a:txBody>
                  <a:tcPr marL="19100" marR="19100" marT="9550" marB="9550" anchor="ctr"/>
                </a:tc>
                <a:extLst>
                  <a:ext uri="{0D108BD9-81ED-4DB2-BD59-A6C34878D82A}">
                    <a16:rowId xmlns:a16="http://schemas.microsoft.com/office/drawing/2014/main" val="896534535"/>
                  </a:ext>
                </a:extLst>
              </a:tr>
              <a:tr h="603995">
                <a:tc>
                  <a:txBody>
                    <a:bodyPr/>
                    <a:lstStyle/>
                    <a:p>
                      <a:pPr>
                        <a:buNone/>
                      </a:pPr>
                      <a:r>
                        <a:rPr lang="en-IN" sz="1200"/>
                        <a:t>Architecture</a:t>
                      </a:r>
                    </a:p>
                  </a:txBody>
                  <a:tcPr marL="19100" marR="19100" marT="9550" marB="9550" anchor="ctr"/>
                </a:tc>
                <a:tc>
                  <a:txBody>
                    <a:bodyPr/>
                    <a:lstStyle/>
                    <a:p>
                      <a:pPr>
                        <a:buNone/>
                      </a:pPr>
                      <a:r>
                        <a:rPr lang="en-IN" sz="1200"/>
                        <a:t>Data collection, cleaning, analysis and reporting are generally handled as separate activities.</a:t>
                      </a:r>
                    </a:p>
                  </a:txBody>
                  <a:tcPr marL="19100" marR="19100" marT="9550" marB="9550" anchor="ctr"/>
                </a:tc>
                <a:tc>
                  <a:txBody>
                    <a:bodyPr/>
                    <a:lstStyle/>
                    <a:p>
                      <a:pPr>
                        <a:buNone/>
                      </a:pPr>
                      <a:r>
                        <a:rPr lang="en-IN" sz="1200"/>
                        <a:t>The implemented system connects Ingestion → Cleaning → Validation → PySpark Transformation → MongoDB → Analytics/Recommendation → Power BI.</a:t>
                      </a:r>
                    </a:p>
                  </a:txBody>
                  <a:tcPr marL="19100" marR="19100" marT="9550" marB="9550" anchor="ctr"/>
                </a:tc>
                <a:extLst>
                  <a:ext uri="{0D108BD9-81ED-4DB2-BD59-A6C34878D82A}">
                    <a16:rowId xmlns:a16="http://schemas.microsoft.com/office/drawing/2014/main" val="2539347544"/>
                  </a:ext>
                </a:extLst>
              </a:tr>
              <a:tr h="543750">
                <a:tc>
                  <a:txBody>
                    <a:bodyPr/>
                    <a:lstStyle/>
                    <a:p>
                      <a:pPr>
                        <a:buNone/>
                      </a:pPr>
                      <a:r>
                        <a:rPr lang="en-IN" sz="1200"/>
                        <a:t>Storage</a:t>
                      </a:r>
                    </a:p>
                  </a:txBody>
                  <a:tcPr marL="19100" marR="19100" marT="9550" marB="9550" anchor="ctr"/>
                </a:tc>
                <a:tc>
                  <a:txBody>
                    <a:bodyPr/>
                    <a:lstStyle/>
                    <a:p>
                      <a:pPr>
                        <a:buNone/>
                      </a:pPr>
                      <a:r>
                        <a:rPr lang="en-IN" sz="1200"/>
                        <a:t>Data may remain in raw/local files, making downstream access less organized.</a:t>
                      </a:r>
                    </a:p>
                  </a:txBody>
                  <a:tcPr marL="19100" marR="19100" marT="9550" marB="9550" anchor="ctr"/>
                </a:tc>
                <a:tc>
                  <a:txBody>
                    <a:bodyPr/>
                    <a:lstStyle/>
                    <a:p>
                      <a:pPr>
                        <a:buNone/>
                      </a:pPr>
                      <a:r>
                        <a:rPr lang="en-IN" sz="1200"/>
                        <a:t>The processed data is stored in MongoDB, with the architecture using the netflix_data database and netflix_titles collection.</a:t>
                      </a:r>
                    </a:p>
                  </a:txBody>
                  <a:tcPr marL="19100" marR="19100" marT="9550" marB="9550" anchor="ctr"/>
                </a:tc>
                <a:extLst>
                  <a:ext uri="{0D108BD9-81ED-4DB2-BD59-A6C34878D82A}">
                    <a16:rowId xmlns:a16="http://schemas.microsoft.com/office/drawing/2014/main" val="3201572142"/>
                  </a:ext>
                </a:extLst>
              </a:tr>
              <a:tr h="411594">
                <a:tc>
                  <a:txBody>
                    <a:bodyPr/>
                    <a:lstStyle/>
                    <a:p>
                      <a:pPr>
                        <a:buNone/>
                      </a:pPr>
                      <a:r>
                        <a:rPr lang="en-IN" sz="1200"/>
                        <a:t>Visualization</a:t>
                      </a:r>
                    </a:p>
                  </a:txBody>
                  <a:tcPr marL="19100" marR="19100" marT="9550" marB="9550" anchor="ctr"/>
                </a:tc>
                <a:tc>
                  <a:txBody>
                    <a:bodyPr/>
                    <a:lstStyle/>
                    <a:p>
                      <a:pPr>
                        <a:buNone/>
                      </a:pPr>
                      <a:r>
                        <a:rPr lang="en-IN" sz="1200"/>
                        <a:t>Analysis may be presented through static tables or manually created reports.</a:t>
                      </a:r>
                    </a:p>
                  </a:txBody>
                  <a:tcPr marL="19100" marR="19100" marT="9550" marB="9550" anchor="ctr"/>
                </a:tc>
                <a:tc>
                  <a:txBody>
                    <a:bodyPr/>
                    <a:lstStyle/>
                    <a:p>
                      <a:pPr>
                        <a:buNone/>
                      </a:pPr>
                      <a:r>
                        <a:rPr lang="en-IN" sz="1200"/>
                        <a:t>Power BI Dashboard provides interactive visualization of Netflix content, analytics and recommendation results.</a:t>
                      </a:r>
                    </a:p>
                  </a:txBody>
                  <a:tcPr marL="19100" marR="19100" marT="9550" marB="9550" anchor="ctr"/>
                </a:tc>
                <a:extLst>
                  <a:ext uri="{0D108BD9-81ED-4DB2-BD59-A6C34878D82A}">
                    <a16:rowId xmlns:a16="http://schemas.microsoft.com/office/drawing/2014/main" val="3714201830"/>
                  </a:ext>
                </a:extLst>
              </a:tr>
              <a:tr h="603995">
                <a:tc>
                  <a:txBody>
                    <a:bodyPr/>
                    <a:lstStyle/>
                    <a:p>
                      <a:pPr>
                        <a:buNone/>
                      </a:pPr>
                      <a:r>
                        <a:rPr lang="en-IN" sz="1200"/>
                        <a:t>Scalability</a:t>
                      </a:r>
                    </a:p>
                  </a:txBody>
                  <a:tcPr marL="19100" marR="19100" marT="9550" marB="9550" anchor="ctr"/>
                </a:tc>
                <a:tc>
                  <a:txBody>
                    <a:bodyPr/>
                    <a:lstStyle/>
                    <a:p>
                      <a:pPr>
                        <a:buNone/>
                      </a:pPr>
                      <a:r>
                        <a:rPr lang="en-IN" sz="1200"/>
                        <a:t>As the number of records increases, manual processing requires more time and effort.</a:t>
                      </a:r>
                    </a:p>
                  </a:txBody>
                  <a:tcPr marL="19100" marR="19100" marT="9550" marB="9550" anchor="ctr"/>
                </a:tc>
                <a:tc>
                  <a:txBody>
                    <a:bodyPr/>
                    <a:lstStyle/>
                    <a:p>
                      <a:pPr>
                        <a:buNone/>
                      </a:pPr>
                      <a:r>
                        <a:rPr lang="en-IN" sz="1200"/>
                        <a:t>The pipeline is automated and modular, so additional datasets or processing stages can be incorporated without redesigning the complete workflow.</a:t>
                      </a:r>
                    </a:p>
                  </a:txBody>
                  <a:tcPr marL="19100" marR="19100" marT="9550" marB="9550" anchor="ctr"/>
                </a:tc>
                <a:extLst>
                  <a:ext uri="{0D108BD9-81ED-4DB2-BD59-A6C34878D82A}">
                    <a16:rowId xmlns:a16="http://schemas.microsoft.com/office/drawing/2014/main" val="178756193"/>
                  </a:ext>
                </a:extLst>
              </a:tr>
              <a:tr h="368597">
                <a:tc>
                  <a:txBody>
                    <a:bodyPr/>
                    <a:lstStyle/>
                    <a:p>
                      <a:pPr>
                        <a:buNone/>
                      </a:pPr>
                      <a:r>
                        <a:rPr lang="en-IN" sz="1200"/>
                        <a:t>Volume</a:t>
                      </a:r>
                    </a:p>
                  </a:txBody>
                  <a:tcPr marL="19100" marR="19100" marT="9550" marB="9550" anchor="ctr"/>
                </a:tc>
                <a:tc>
                  <a:txBody>
                    <a:bodyPr/>
                    <a:lstStyle/>
                    <a:p>
                      <a:pPr>
                        <a:buNone/>
                      </a:pPr>
                      <a:r>
                        <a:rPr lang="en-IN" sz="1200"/>
                        <a:t>Processing thousands of records manually becomes increasingly time-consuming.</a:t>
                      </a:r>
                    </a:p>
                  </a:txBody>
                  <a:tcPr marL="19100" marR="19100" marT="9550" marB="9550" anchor="ctr"/>
                </a:tc>
                <a:tc>
                  <a:txBody>
                    <a:bodyPr/>
                    <a:lstStyle/>
                    <a:p>
                      <a:pPr>
                        <a:buNone/>
                      </a:pPr>
                      <a:r>
                        <a:rPr lang="en-IN" sz="1200" dirty="0"/>
                        <a:t>The implemented pipeline successfully processed 7,787 Netflix records in the reported run.</a:t>
                      </a:r>
                    </a:p>
                  </a:txBody>
                  <a:tcPr marL="19100" marR="19100" marT="9550" marB="9550" anchor="ctr"/>
                </a:tc>
                <a:extLst>
                  <a:ext uri="{0D108BD9-81ED-4DB2-BD59-A6C34878D82A}">
                    <a16:rowId xmlns:a16="http://schemas.microsoft.com/office/drawing/2014/main" val="3884999669"/>
                  </a:ext>
                </a:extLst>
              </a:tr>
            </a:tbl>
          </a:graphicData>
        </a:graphic>
      </p:graphicFrame>
    </p:spTree>
    <p:extLst>
      <p:ext uri="{BB962C8B-B14F-4D97-AF65-F5344CB8AC3E}">
        <p14:creationId xmlns:p14="http://schemas.microsoft.com/office/powerpoint/2010/main" val="4114165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F57D12B-31C4-B1FE-0800-B4A83C502DA3}"/>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361588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4328F-F499-E8A6-F423-C94311E588A0}"/>
              </a:ext>
            </a:extLst>
          </p:cNvPr>
          <p:cNvSpPr>
            <a:spLocks noGrp="1"/>
          </p:cNvSpPr>
          <p:nvPr>
            <p:ph type="title"/>
          </p:nvPr>
        </p:nvSpPr>
        <p:spPr>
          <a:xfrm>
            <a:off x="304800" y="183092"/>
            <a:ext cx="10210800" cy="762000"/>
          </a:xfrm>
        </p:spPr>
        <p:txBody>
          <a:bodyPr/>
          <a:lstStyle/>
          <a:p>
            <a:r>
              <a:rPr lang="en-US" dirty="0"/>
              <a:t> </a:t>
            </a:r>
            <a:endParaRPr lang="en-IN" dirty="0"/>
          </a:p>
        </p:txBody>
      </p:sp>
      <p:pic>
        <p:nvPicPr>
          <p:cNvPr id="5" name="Picture 4" descr="MAPS &amp; DIRECTIONS - Best Private University in Telangana ...">
            <a:extLst>
              <a:ext uri="{FF2B5EF4-FFF2-40B4-BE49-F238E27FC236}">
                <a16:creationId xmlns:a16="http://schemas.microsoft.com/office/drawing/2014/main" id="{ABBF284C-58A2-96C8-A660-7930F2C690FB}"/>
              </a:ext>
            </a:extLst>
          </p:cNvPr>
          <p:cNvPicPr>
            <a:picLocks noChangeAspect="1"/>
          </p:cNvPicPr>
          <p:nvPr/>
        </p:nvPicPr>
        <p:blipFill>
          <a:blip r:embed="rId2"/>
          <a:stretch>
            <a:fillRect/>
          </a:stretch>
        </p:blipFill>
        <p:spPr>
          <a:xfrm>
            <a:off x="9051843" y="-801889"/>
            <a:ext cx="3140157" cy="2334027"/>
          </a:xfrm>
          <a:prstGeom prst="rect">
            <a:avLst/>
          </a:prstGeom>
        </p:spPr>
      </p:pic>
      <p:pic>
        <p:nvPicPr>
          <p:cNvPr id="7" name="Picture 6">
            <a:extLst>
              <a:ext uri="{FF2B5EF4-FFF2-40B4-BE49-F238E27FC236}">
                <a16:creationId xmlns:a16="http://schemas.microsoft.com/office/drawing/2014/main" id="{84C486D4-34D2-81CF-26CD-94E8E997B2C7}"/>
              </a:ext>
            </a:extLst>
          </p:cNvPr>
          <p:cNvPicPr>
            <a:picLocks noChangeAspect="1"/>
          </p:cNvPicPr>
          <p:nvPr/>
        </p:nvPicPr>
        <p:blipFill>
          <a:blip r:embed="rId3"/>
          <a:stretch>
            <a:fillRect/>
          </a:stretch>
        </p:blipFill>
        <p:spPr>
          <a:xfrm>
            <a:off x="6478" y="1292087"/>
            <a:ext cx="12185522" cy="5565913"/>
          </a:xfrm>
          <a:prstGeom prst="rect">
            <a:avLst/>
          </a:prstGeom>
        </p:spPr>
      </p:pic>
    </p:spTree>
    <p:extLst>
      <p:ext uri="{BB962C8B-B14F-4D97-AF65-F5344CB8AC3E}">
        <p14:creationId xmlns:p14="http://schemas.microsoft.com/office/powerpoint/2010/main" val="1441540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06743-F193-07BF-FC91-F4BE6B7468DB}"/>
              </a:ext>
            </a:extLst>
          </p:cNvPr>
          <p:cNvSpPr>
            <a:spLocks noGrp="1"/>
          </p:cNvSpPr>
          <p:nvPr>
            <p:ph type="title"/>
          </p:nvPr>
        </p:nvSpPr>
        <p:spPr>
          <a:xfrm>
            <a:off x="304800" y="183092"/>
            <a:ext cx="10777330" cy="762000"/>
          </a:xfrm>
        </p:spPr>
        <p:txBody>
          <a:bodyPr>
            <a:noAutofit/>
          </a:bodyPr>
          <a:lstStyle/>
          <a:p>
            <a:r>
              <a:rPr lang="en-US" sz="4800" dirty="0">
                <a:solidFill>
                  <a:srgbClr val="0070C0"/>
                </a:solidFill>
              </a:rPr>
              <a:t>REFERENCE</a:t>
            </a:r>
            <a:endParaRPr lang="en-IN" sz="4800" dirty="0">
              <a:solidFill>
                <a:srgbClr val="0070C0"/>
              </a:solidFill>
            </a:endParaRPr>
          </a:p>
        </p:txBody>
      </p:sp>
      <p:sp>
        <p:nvSpPr>
          <p:cNvPr id="4" name="TextBox 3">
            <a:extLst>
              <a:ext uri="{FF2B5EF4-FFF2-40B4-BE49-F238E27FC236}">
                <a16:creationId xmlns:a16="http://schemas.microsoft.com/office/drawing/2014/main" id="{9D9E6C0E-0B97-AFF4-9AE4-F1DC4D182358}"/>
              </a:ext>
            </a:extLst>
          </p:cNvPr>
          <p:cNvSpPr txBox="1"/>
          <p:nvPr/>
        </p:nvSpPr>
        <p:spPr>
          <a:xfrm>
            <a:off x="109330" y="945092"/>
            <a:ext cx="6480313" cy="4524315"/>
          </a:xfrm>
          <a:prstGeom prst="rect">
            <a:avLst/>
          </a:prstGeom>
          <a:noFill/>
        </p:spPr>
        <p:txBody>
          <a:bodyPr wrap="square">
            <a:spAutoFit/>
          </a:bodyPr>
          <a:lstStyle/>
          <a:p>
            <a:pPr marL="342900" lvl="0" indent="-342900">
              <a:buFont typeface="Arial" panose="020B0604020202020204" pitchFamily="34" charset="0"/>
              <a:buChar char="•"/>
            </a:pPr>
            <a:r>
              <a:rPr lang="en-IN" b="1" dirty="0"/>
              <a:t>Bansal, S. — Netflix Movies and TV Shows Dataset.</a:t>
            </a:r>
            <a:r>
              <a:rPr lang="en-IN" dirty="0"/>
              <a:t> Kaggle.</a:t>
            </a:r>
            <a:br>
              <a:rPr lang="en-IN" dirty="0"/>
            </a:br>
            <a:r>
              <a:rPr lang="en-IN" dirty="0"/>
              <a:t>This is the source of the </a:t>
            </a:r>
            <a:r>
              <a:rPr lang="en-IN" dirty="0">
                <a:latin typeface="+mn-lt"/>
              </a:rPr>
              <a:t>netflix_titles.csv</a:t>
            </a:r>
            <a:r>
              <a:rPr lang="en-IN" dirty="0"/>
              <a:t> dataset used in your project, containing Netflix movie/TV-show metadata such as title, type, country, release year, rating, duration and genre. </a:t>
            </a:r>
            <a:r>
              <a:rPr lang="en-IN" dirty="0">
                <a:hlinkClick r:id="rId2"/>
              </a:rPr>
              <a:t>Kaggle</a:t>
            </a:r>
            <a:br>
              <a:rPr lang="en-IN" dirty="0"/>
            </a:br>
            <a:r>
              <a:rPr lang="en-IN" dirty="0">
                <a:hlinkClick r:id="rId3"/>
              </a:rPr>
              <a:t>Netflix Movies and TV Shows Dataset – Kaggle</a:t>
            </a:r>
            <a:endParaRPr lang="en-IN" dirty="0"/>
          </a:p>
          <a:p>
            <a:pPr marL="342900" lvl="0" indent="-342900">
              <a:buFont typeface="Arial" panose="020B0604020202020204" pitchFamily="34" charset="0"/>
              <a:buChar char="•"/>
            </a:pPr>
            <a:r>
              <a:rPr lang="en-IN" b="1" dirty="0"/>
              <a:t>Apache Airflow Documentation.</a:t>
            </a:r>
            <a:br>
              <a:rPr lang="en-IN" dirty="0"/>
            </a:br>
            <a:r>
              <a:rPr lang="en-IN" dirty="0"/>
              <a:t>Used as the reference for workflow orchestration, DAGs, task dependencies, scheduling, monitoring and pipeline execution. Airflow defines DAGs as workflows composed of tasks and dependencies. </a:t>
            </a:r>
            <a:r>
              <a:rPr lang="en-IN" dirty="0">
                <a:hlinkClick r:id="rId4"/>
              </a:rPr>
              <a:t>Apache Airflow</a:t>
            </a:r>
            <a:br>
              <a:rPr lang="en-IN" dirty="0"/>
            </a:br>
            <a:r>
              <a:rPr lang="en-IN" dirty="0">
                <a:hlinkClick r:id="rId5"/>
              </a:rPr>
              <a:t>Apache Airflow Documentation</a:t>
            </a:r>
            <a:endParaRPr lang="en-IN" dirty="0"/>
          </a:p>
          <a:p>
            <a:pPr marL="342900" lvl="0" indent="-342900">
              <a:buFont typeface="Arial" panose="020B0604020202020204" pitchFamily="34" charset="0"/>
              <a:buChar char="•"/>
            </a:pPr>
            <a:r>
              <a:rPr lang="en-IN" b="1" dirty="0"/>
              <a:t>Apache Spark Documentation.</a:t>
            </a:r>
            <a:br>
              <a:rPr lang="en-IN" dirty="0"/>
            </a:br>
            <a:r>
              <a:rPr lang="en-IN" dirty="0"/>
              <a:t>Used as the reference for distributed data processing and Spark-based analytics in the proposed pipeline.</a:t>
            </a:r>
            <a:br>
              <a:rPr lang="en-IN" dirty="0"/>
            </a:br>
            <a:r>
              <a:rPr lang="en-IN" dirty="0">
                <a:hlinkClick r:id="rId6"/>
              </a:rPr>
              <a:t>Apache Spark Documentation</a:t>
            </a:r>
            <a:endParaRPr lang="en-IN" dirty="0"/>
          </a:p>
        </p:txBody>
      </p:sp>
      <p:sp>
        <p:nvSpPr>
          <p:cNvPr id="6" name="TextBox 5">
            <a:extLst>
              <a:ext uri="{FF2B5EF4-FFF2-40B4-BE49-F238E27FC236}">
                <a16:creationId xmlns:a16="http://schemas.microsoft.com/office/drawing/2014/main" id="{0DF46F6A-D0E2-A657-2AC6-65F0FFA7B0DE}"/>
              </a:ext>
            </a:extLst>
          </p:cNvPr>
          <p:cNvSpPr txBox="1"/>
          <p:nvPr/>
        </p:nvSpPr>
        <p:spPr>
          <a:xfrm>
            <a:off x="6179654" y="926088"/>
            <a:ext cx="6097656" cy="5078313"/>
          </a:xfrm>
          <a:prstGeom prst="rect">
            <a:avLst/>
          </a:prstGeom>
          <a:noFill/>
        </p:spPr>
        <p:txBody>
          <a:bodyPr wrap="square">
            <a:spAutoFit/>
          </a:bodyPr>
          <a:lstStyle/>
          <a:p>
            <a:pPr marL="342900" lvl="0" indent="-342900">
              <a:buFont typeface="Arial" panose="020B0604020202020204" pitchFamily="34" charset="0"/>
              <a:buChar char="•"/>
            </a:pPr>
            <a:r>
              <a:rPr lang="en-IN" b="1" dirty="0"/>
              <a:t>Apache Parquet Documentation.</a:t>
            </a:r>
            <a:br>
              <a:rPr lang="en-IN" dirty="0"/>
            </a:br>
            <a:r>
              <a:rPr lang="en-IN" dirty="0"/>
              <a:t>Used as the reference for the Parquet storage layer. Parquet is an open-source, column-oriented format designed for efficient storage and retrieval, with compression and encoding support. </a:t>
            </a:r>
            <a:r>
              <a:rPr lang="en-IN" dirty="0">
                <a:hlinkClick r:id="rId7"/>
              </a:rPr>
              <a:t>Parquet</a:t>
            </a:r>
            <a:br>
              <a:rPr lang="en-IN" dirty="0"/>
            </a:br>
            <a:r>
              <a:rPr lang="en-IN" dirty="0">
                <a:hlinkClick r:id="rId8"/>
              </a:rPr>
              <a:t>Apache Parquet Documentation</a:t>
            </a:r>
            <a:endParaRPr lang="en-IN" dirty="0"/>
          </a:p>
          <a:p>
            <a:pPr marL="342900" lvl="0" indent="-342900">
              <a:buFont typeface="Arial" panose="020B0604020202020204" pitchFamily="34" charset="0"/>
              <a:buChar char="•"/>
            </a:pPr>
            <a:r>
              <a:rPr lang="en-IN" b="1" dirty="0"/>
              <a:t>MongoDB Documentation.</a:t>
            </a:r>
            <a:br>
              <a:rPr lang="en-IN" dirty="0"/>
            </a:br>
            <a:r>
              <a:rPr lang="en-IN" dirty="0"/>
              <a:t>Used as the reference for the MongoDB database component. MongoDB stores records as BSON documents organized into collections. </a:t>
            </a:r>
            <a:r>
              <a:rPr lang="en-IN" dirty="0">
                <a:hlinkClick r:id="rId9"/>
              </a:rPr>
              <a:t>MongoDB</a:t>
            </a:r>
            <a:br>
              <a:rPr lang="en-IN" dirty="0"/>
            </a:br>
            <a:r>
              <a:rPr lang="en-IN" dirty="0" err="1">
                <a:hlinkClick r:id="rId9"/>
              </a:rPr>
              <a:t>MongoDB</a:t>
            </a:r>
            <a:r>
              <a:rPr lang="en-IN" dirty="0">
                <a:hlinkClick r:id="rId9"/>
              </a:rPr>
              <a:t> Documentation</a:t>
            </a:r>
            <a:endParaRPr lang="en-IN" dirty="0"/>
          </a:p>
          <a:p>
            <a:pPr marL="342900" lvl="0" indent="-342900">
              <a:buFont typeface="Arial" panose="020B0604020202020204" pitchFamily="34" charset="0"/>
              <a:buChar char="•"/>
            </a:pPr>
            <a:r>
              <a:rPr lang="en-IN" b="1" dirty="0"/>
              <a:t>R for Data Science — </a:t>
            </a:r>
            <a:r>
              <a:rPr lang="en-IN" b="1" dirty="0" err="1"/>
              <a:t>TidyTuesday</a:t>
            </a:r>
            <a:r>
              <a:rPr lang="en-IN" b="1" dirty="0"/>
              <a:t> Netflix Dataset.</a:t>
            </a:r>
            <a:br>
              <a:rPr lang="en-IN" dirty="0"/>
            </a:br>
            <a:r>
              <a:rPr lang="en-IN" dirty="0"/>
              <a:t>Provides documentation and a data dictionary for the Netflix titles dataset, including fields such as </a:t>
            </a:r>
            <a:r>
              <a:rPr lang="en-IN" dirty="0" err="1">
                <a:latin typeface="+mn-lt"/>
              </a:rPr>
              <a:t>show_id</a:t>
            </a:r>
            <a:r>
              <a:rPr lang="en-IN" dirty="0"/>
              <a:t>, </a:t>
            </a:r>
            <a:r>
              <a:rPr lang="en-IN" dirty="0">
                <a:latin typeface="+mn-lt"/>
              </a:rPr>
              <a:t>type</a:t>
            </a:r>
            <a:r>
              <a:rPr lang="en-IN" dirty="0"/>
              <a:t>, </a:t>
            </a:r>
            <a:r>
              <a:rPr lang="en-IN" dirty="0">
                <a:latin typeface="+mn-lt"/>
              </a:rPr>
              <a:t>title</a:t>
            </a:r>
            <a:r>
              <a:rPr lang="en-IN" dirty="0"/>
              <a:t>, </a:t>
            </a:r>
            <a:r>
              <a:rPr lang="en-IN" dirty="0">
                <a:latin typeface="+mn-lt"/>
              </a:rPr>
              <a:t>country</a:t>
            </a:r>
            <a:r>
              <a:rPr lang="en-IN" dirty="0"/>
              <a:t>, </a:t>
            </a:r>
            <a:r>
              <a:rPr lang="en-IN" dirty="0" err="1">
                <a:latin typeface="+mn-lt"/>
              </a:rPr>
              <a:t>date_added</a:t>
            </a:r>
            <a:r>
              <a:rPr lang="en-IN" dirty="0"/>
              <a:t>, </a:t>
            </a:r>
            <a:r>
              <a:rPr lang="en-IN" dirty="0" err="1">
                <a:latin typeface="+mn-lt"/>
              </a:rPr>
              <a:t>release_year</a:t>
            </a:r>
            <a:r>
              <a:rPr lang="en-IN" dirty="0"/>
              <a:t>, </a:t>
            </a:r>
            <a:r>
              <a:rPr lang="en-IN" dirty="0">
                <a:latin typeface="+mn-lt"/>
              </a:rPr>
              <a:t>rating</a:t>
            </a:r>
            <a:r>
              <a:rPr lang="en-IN" dirty="0"/>
              <a:t>, </a:t>
            </a:r>
            <a:r>
              <a:rPr lang="en-IN" dirty="0">
                <a:latin typeface="+mn-lt"/>
              </a:rPr>
              <a:t>duration</a:t>
            </a:r>
            <a:r>
              <a:rPr lang="en-IN" dirty="0"/>
              <a:t>, and </a:t>
            </a:r>
            <a:r>
              <a:rPr lang="en-IN" dirty="0" err="1">
                <a:latin typeface="+mn-lt"/>
              </a:rPr>
              <a:t>listed_in</a:t>
            </a:r>
            <a:r>
              <a:rPr lang="en-IN" dirty="0"/>
              <a:t>. </a:t>
            </a:r>
            <a:r>
              <a:rPr lang="en-IN" dirty="0">
                <a:hlinkClick r:id="rId10"/>
              </a:rPr>
              <a:t>GitHub</a:t>
            </a:r>
            <a:br>
              <a:rPr lang="en-IN" dirty="0"/>
            </a:br>
            <a:r>
              <a:rPr lang="en-IN" dirty="0" err="1">
                <a:hlinkClick r:id="rId10"/>
              </a:rPr>
              <a:t>TidyTuesday</a:t>
            </a:r>
            <a:r>
              <a:rPr lang="en-IN" dirty="0">
                <a:hlinkClick r:id="rId10"/>
              </a:rPr>
              <a:t> Netflix Dataset Documentation</a:t>
            </a:r>
            <a:endParaRPr lang="en-IN" dirty="0"/>
          </a:p>
        </p:txBody>
      </p:sp>
    </p:spTree>
    <p:extLst>
      <p:ext uri="{BB962C8B-B14F-4D97-AF65-F5344CB8AC3E}">
        <p14:creationId xmlns:p14="http://schemas.microsoft.com/office/powerpoint/2010/main" val="1658477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4CBF1-4A8C-6FB5-85C3-E23623FA975B}"/>
              </a:ext>
            </a:extLst>
          </p:cNvPr>
          <p:cNvSpPr>
            <a:spLocks noGrp="1"/>
          </p:cNvSpPr>
          <p:nvPr>
            <p:ph type="title"/>
          </p:nvPr>
        </p:nvSpPr>
        <p:spPr>
          <a:xfrm>
            <a:off x="304800" y="183092"/>
            <a:ext cx="10807148" cy="762000"/>
          </a:xfrm>
        </p:spPr>
        <p:txBody>
          <a:bodyPr>
            <a:normAutofit/>
          </a:bodyPr>
          <a:lstStyle/>
          <a:p>
            <a:r>
              <a:rPr lang="en-US" sz="4400" dirty="0">
                <a:solidFill>
                  <a:srgbClr val="0070C0"/>
                </a:solidFill>
              </a:rPr>
              <a:t>CONCLUSION</a:t>
            </a:r>
            <a:endParaRPr lang="en-IN" sz="4400" dirty="0">
              <a:solidFill>
                <a:srgbClr val="0070C0"/>
              </a:solidFill>
            </a:endParaRPr>
          </a:p>
        </p:txBody>
      </p:sp>
      <p:sp>
        <p:nvSpPr>
          <p:cNvPr id="4" name="TextBox 3">
            <a:extLst>
              <a:ext uri="{FF2B5EF4-FFF2-40B4-BE49-F238E27FC236}">
                <a16:creationId xmlns:a16="http://schemas.microsoft.com/office/drawing/2014/main" id="{0F160291-32C6-DF93-14B7-96B949800B43}"/>
              </a:ext>
            </a:extLst>
          </p:cNvPr>
          <p:cNvSpPr txBox="1"/>
          <p:nvPr/>
        </p:nvSpPr>
        <p:spPr>
          <a:xfrm>
            <a:off x="715617" y="1689652"/>
            <a:ext cx="9909313" cy="3416320"/>
          </a:xfrm>
          <a:prstGeom prst="rect">
            <a:avLst/>
          </a:prstGeom>
          <a:noFill/>
        </p:spPr>
        <p:txBody>
          <a:bodyPr wrap="square">
            <a:spAutoFit/>
          </a:bodyPr>
          <a:lstStyle/>
          <a:p>
            <a:pPr>
              <a:buNone/>
            </a:pPr>
            <a:r>
              <a:rPr lang="en-IN" dirty="0"/>
              <a:t>The </a:t>
            </a:r>
            <a:r>
              <a:rPr lang="en-IN" b="1" dirty="0"/>
              <a:t>Netflix Data Engineering Pipeline</a:t>
            </a:r>
            <a:r>
              <a:rPr lang="en-IN" dirty="0"/>
              <a:t> successfully demonstrates how a modern data engineering architecture can be used to efficiently process, transform, store, and </a:t>
            </a:r>
            <a:r>
              <a:rPr lang="en-IN" dirty="0" err="1"/>
              <a:t>analyze</a:t>
            </a:r>
            <a:r>
              <a:rPr lang="en-IN" dirty="0"/>
              <a:t> large-scale entertainment data. The project integrates </a:t>
            </a:r>
            <a:r>
              <a:rPr lang="en-IN" b="1" dirty="0"/>
              <a:t>Apache Airflow</a:t>
            </a:r>
            <a:r>
              <a:rPr lang="en-IN" dirty="0"/>
              <a:t> for workflow orchestration, </a:t>
            </a:r>
            <a:r>
              <a:rPr lang="en-IN" b="1" dirty="0"/>
              <a:t>Apache Spark</a:t>
            </a:r>
            <a:r>
              <a:rPr lang="en-IN" dirty="0"/>
              <a:t> for distributed data processing, </a:t>
            </a:r>
            <a:r>
              <a:rPr lang="en-IN" b="1" dirty="0"/>
              <a:t>Parquet</a:t>
            </a:r>
            <a:r>
              <a:rPr lang="en-IN" dirty="0"/>
              <a:t> for efficient data storage, and </a:t>
            </a:r>
            <a:r>
              <a:rPr lang="en-IN" b="1" dirty="0"/>
              <a:t>MongoDB</a:t>
            </a:r>
            <a:r>
              <a:rPr lang="en-IN" dirty="0"/>
              <a:t> for flexible data management.</a:t>
            </a:r>
          </a:p>
          <a:p>
            <a:pPr>
              <a:buNone/>
            </a:pPr>
            <a:r>
              <a:rPr lang="en-IN" dirty="0"/>
              <a:t>Compared with a traditional CSV-based processing approach, the proposed pipeline provides a more </a:t>
            </a:r>
            <a:r>
              <a:rPr lang="en-IN" b="1" dirty="0"/>
              <a:t>automated, scalable, reliable, and maintainable</a:t>
            </a:r>
            <a:r>
              <a:rPr lang="en-IN" dirty="0"/>
              <a:t> solution. The generated analytics provide useful insights into Netflix content based on </a:t>
            </a:r>
            <a:r>
              <a:rPr lang="en-IN" b="1" dirty="0"/>
              <a:t>content type, release year, ratings, countries, genres, and content-added year</a:t>
            </a:r>
            <a:r>
              <a:rPr lang="en-IN" dirty="0"/>
              <a:t>.</a:t>
            </a:r>
          </a:p>
          <a:p>
            <a:pPr>
              <a:buNone/>
            </a:pPr>
            <a:r>
              <a:rPr lang="en-IN" dirty="0"/>
              <a:t>Overall, the project demonstrates that combining automated orchestration with distributed processing and optimized storage can create a robust data pipeline capable of supporting efficient analytics and future expansion. The architecture can also be extended to larger datasets and additional analytics, making it suitable as a foundation for </a:t>
            </a:r>
            <a:r>
              <a:rPr lang="en-IN" b="1" dirty="0"/>
              <a:t>scalable data engineering and analytics applications</a:t>
            </a:r>
            <a:r>
              <a:rPr lang="en-IN" dirty="0"/>
              <a:t>.</a:t>
            </a:r>
          </a:p>
        </p:txBody>
      </p:sp>
    </p:spTree>
    <p:extLst>
      <p:ext uri="{BB962C8B-B14F-4D97-AF65-F5344CB8AC3E}">
        <p14:creationId xmlns:p14="http://schemas.microsoft.com/office/powerpoint/2010/main" val="1804301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umbs up crying cat Memes - Imgflip">
            <a:extLst>
              <a:ext uri="{FF2B5EF4-FFF2-40B4-BE49-F238E27FC236}">
                <a16:creationId xmlns:a16="http://schemas.microsoft.com/office/drawing/2014/main" id="{B68FEDBF-FD77-80B0-1416-69EF13701A53}"/>
              </a:ext>
            </a:extLst>
          </p:cNvPr>
          <p:cNvPicPr>
            <a:picLocks noChangeAspect="1"/>
          </p:cNvPicPr>
          <p:nvPr/>
        </p:nvPicPr>
        <p:blipFill>
          <a:blip r:embed="rId2"/>
          <a:stretch>
            <a:fillRect/>
          </a:stretch>
        </p:blipFill>
        <p:spPr>
          <a:xfrm>
            <a:off x="378441" y="208722"/>
            <a:ext cx="11727419" cy="6603276"/>
          </a:xfrm>
          <a:prstGeom prst="rect">
            <a:avLst/>
          </a:prstGeom>
        </p:spPr>
      </p:pic>
    </p:spTree>
    <p:extLst>
      <p:ext uri="{BB962C8B-B14F-4D97-AF65-F5344CB8AC3E}">
        <p14:creationId xmlns:p14="http://schemas.microsoft.com/office/powerpoint/2010/main" val="2450494258"/>
      </p:ext>
    </p:extLst>
  </p:cSld>
  <p:clrMapOvr>
    <a:masterClrMapping/>
  </p:clrMapOvr>
</p:sld>
</file>

<file path=ppt/theme/theme1.xml><?xml version="1.0" encoding="utf-8"?>
<a:theme xmlns:a="http://schemas.openxmlformats.org/drawingml/2006/main" name="FDE_REVIEW3 final ppt.pptx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FDE_REVIEW3 final ppt.pptx (1)</Template>
  <TotalTime>1716</TotalTime>
  <Words>3163</Words>
  <Application>Microsoft Office PowerPoint</Application>
  <PresentationFormat>Widescreen</PresentationFormat>
  <Paragraphs>318</Paragraphs>
  <Slides>27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FDE_REVIEW3 final ppt.pptx (1)</vt:lpstr>
      <vt:lpstr>Netflix Data Engineering Pipeline: ETL and Analytics System</vt:lpstr>
      <vt:lpstr>ABSTRACT</vt:lpstr>
      <vt:lpstr>INTRODUCTION</vt:lpstr>
      <vt:lpstr>OBJECTIVES</vt:lpstr>
      <vt:lpstr>LITERATURE SURVEY</vt:lpstr>
      <vt:lpstr>Methodology</vt:lpstr>
      <vt:lpstr>PowerPoint Presentation</vt:lpstr>
      <vt:lpstr>PowerPoint Presentation</vt:lpstr>
      <vt:lpstr>System Design</vt:lpstr>
      <vt:lpstr>SYSTEM ARCHITECTURE</vt:lpstr>
      <vt:lpstr>Use of Modern Tools and Technologies</vt:lpstr>
      <vt:lpstr>Implementation, Coding Quality, and Functionality</vt:lpstr>
      <vt:lpstr>PowerPoint Presentation</vt:lpstr>
      <vt:lpstr>PowerPoint Presentation</vt:lpstr>
      <vt:lpstr>EXISTING SYSTEMS</vt:lpstr>
      <vt:lpstr>LIMITATIONS OF EXISTING SYSTEMS</vt:lpstr>
      <vt:lpstr>IMPLEMENTED SYSTEM</vt:lpstr>
      <vt:lpstr>PowerPoint Presentation</vt:lpstr>
      <vt:lpstr>SOFTWARE AND HARDWARE REQUIREMENTS</vt:lpstr>
      <vt:lpstr>FUNCTIONAL REQUIREMENTS</vt:lpstr>
      <vt:lpstr>NON-FUNCTIONAL REQUIREMENTS</vt:lpstr>
      <vt:lpstr>PowerPoint Presentation</vt:lpstr>
      <vt:lpstr>PowerPoint Presentation</vt:lpstr>
      <vt:lpstr> </vt:lpstr>
      <vt:lpstr>REFERENCE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akshara reddy</dc:creator>
  <cp:lastModifiedBy>akshara reddy</cp:lastModifiedBy>
  <cp:revision>17</cp:revision>
  <dcterms:created xsi:type="dcterms:W3CDTF">2026-08-14T04:49:03Z</dcterms:created>
  <dcterms:modified xsi:type="dcterms:W3CDTF">2026-10-06T08:20:23Z</dcterms:modified>
</cp:coreProperties>
</file>